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0_0.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F51ECC6-2D4B-BA92-B282-4E3DA8165BC6}" name="RISHIT BISOYI" initials="RB" userId="S::rishit.bisoyi2025@vitstudent.ac.in::cd4f7ff7-75e1-49f2-a276-375c6c14782e"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2C0BEE-8EA0-ABCF-A62F-2B9F40FC6642}" v="1" dt="2026-10-06T20:26:11.604"/>
    <p1510:client id="{8792CA87-CA5F-61F4-2F34-29E534A3DBAA}" v="7" dt="2026-10-07T05:50:44.0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2" d="100"/>
          <a:sy n="72" d="100"/>
        </p:scale>
        <p:origin x="828"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8/10/relationships/authors" Target="authors.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comments/modernComment_100_0.xml><?xml version="1.0" encoding="utf-8"?>
<p188:cmLst xmlns:a="http://schemas.openxmlformats.org/drawingml/2006/main" xmlns:r="http://schemas.openxmlformats.org/officeDocument/2006/relationships" xmlns:p188="http://schemas.microsoft.com/office/powerpoint/2018/8/main">
  <p188:cm id="{3B688531-0810-49A5-A43A-AC37517BACE6}" authorId="{4F51ECC6-2D4B-BA92-B282-4E3DA8165BC6}" created="2026-10-06T20:26:11.604">
    <pc:sldMkLst xmlns:pc="http://schemas.microsoft.com/office/powerpoint/2013/main/command">
      <pc:docMk/>
      <pc:sldMk cId="0" sldId="256"/>
    </pc:sldMkLst>
    <p188:txBody>
      <a:bodyPr/>
      <a:lstStyle/>
      <a:p>
        <a:r>
          <a:rPr lang="en-US"/>
          <a:t>Go to File-&gt;Create a copy-&gt;Download</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microsoft.com/office/2018/10/relationships/comments" Target="../comments/modernComment_100_0.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2194560"/>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2596896"/>
            <a:ext cx="146304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2999232"/>
            <a:ext cx="105156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9601200" y="640080"/>
            <a:ext cx="109728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56005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065733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Arc 19"/>
          <p:cNvSpPr/>
          <p:nvPr/>
        </p:nvSpPr>
        <p:spPr>
          <a:xfrm>
            <a:off x="1463040" y="5303520"/>
            <a:ext cx="1005840" cy="73152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421892" y="56281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427732" y="526237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Isosceles Triangle 22"/>
          <p:cNvSpPr/>
          <p:nvPr/>
        </p:nvSpPr>
        <p:spPr>
          <a:xfrm rot="10800000">
            <a:off x="1645920" y="758952"/>
            <a:ext cx="219456" cy="256032"/>
          </a:xfrm>
          <a:prstGeom prst="triangle">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1673352" y="685800"/>
            <a:ext cx="164592" cy="91440"/>
          </a:xfrm>
          <a:prstGeom prst="roundRect">
            <a:avLst>
              <a:gd name="adj" fmla="val 20000"/>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732788" y="822960"/>
            <a:ext cx="45720" cy="45720"/>
          </a:xfrm>
          <a:prstGeom prst="ellipse">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751076" y="868680"/>
            <a:ext cx="19050" cy="13716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645920" y="1078992"/>
            <a:ext cx="9144000" cy="1554480"/>
          </a:xfrm>
          <a:prstGeom prst="rect">
            <a:avLst/>
          </a:prstGeom>
          <a:noFill/>
        </p:spPr>
        <p:txBody>
          <a:bodyPr wrap="none" lIns="0" tIns="0" rIns="0" bIns="0">
            <a:spAutoFit/>
          </a:bodyPr>
          <a:lstStyle/>
          <a:p>
            <a:pPr>
              <a:defRPr sz="5600" b="1">
                <a:solidFill>
                  <a:srgbClr val="353334"/>
                </a:solidFill>
                <a:latin typeface="Fjalla One"/>
              </a:defRPr>
            </a:pPr>
            <a:r>
              <a:t>DATAQUEST 3.0</a:t>
            </a:r>
          </a:p>
          <a:p>
            <a:pPr>
              <a:spcBef>
                <a:spcPts val="200"/>
              </a:spcBef>
              <a:defRPr sz="3200" b="1">
                <a:solidFill>
                  <a:srgbClr val="FD1485"/>
                </a:solidFill>
                <a:latin typeface="Fjalla One"/>
              </a:defRPr>
            </a:pPr>
            <a:r>
              <a:t>ROUND 1</a:t>
            </a:r>
          </a:p>
        </p:txBody>
      </p:sp>
      <p:sp>
        <p:nvSpPr>
          <p:cNvPr id="28" name="Rectangle 27"/>
          <p:cNvSpPr/>
          <p:nvPr/>
        </p:nvSpPr>
        <p:spPr>
          <a:xfrm>
            <a:off x="1645920" y="2578608"/>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1645920" y="3246120"/>
            <a:ext cx="4572000" cy="292608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1965960" y="3118104"/>
            <a:ext cx="1600200" cy="256032"/>
          </a:xfrm>
          <a:prstGeom prst="roundRect">
            <a:avLst>
              <a:gd name="adj" fmla="val 50000"/>
            </a:avLst>
          </a:prstGeom>
          <a:solidFill>
            <a:srgbClr val="079ED2"/>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PROJECT DETAILS</a:t>
            </a:r>
          </a:p>
        </p:txBody>
      </p:sp>
      <p:sp>
        <p:nvSpPr>
          <p:cNvPr id="32" name="TextBox 31"/>
          <p:cNvSpPr txBox="1"/>
          <p:nvPr/>
        </p:nvSpPr>
        <p:spPr>
          <a:xfrm>
            <a:off x="1920240" y="3520440"/>
            <a:ext cx="4023360" cy="2468880"/>
          </a:xfrm>
          <a:prstGeom prst="rect">
            <a:avLst/>
          </a:prstGeom>
          <a:noFill/>
        </p:spPr>
        <p:txBody>
          <a:bodyPr wrap="square">
            <a:spAutoFit/>
          </a:bodyPr>
          <a:lstStyle/>
          <a:p>
            <a:pPr/>
            <a:r>
              <a:rPr lang="en-US" sz="1100" b="1" dirty="0">
                <a:solidFill>
                  <a:srgbClr val="353334"/>
                </a:solidFill>
                <a:latin typeface="Fjalla One"/>
              </a:rPr>
              <a:t>PROJECT TITLE</a:t>
            </a:r>
            <a:endParaRPr lang="en-US" sz="1100" dirty="0"/>
          </a:p>
          <a:p>
            <a:pPr>
              <a:spcBef>
                <a:spcPts val="200"/>
              </a:spcBef>
            </a:pPr>
            <a:r>
              <a:rPr lang="en-US" sz="1400" b="1" dirty="0">
                <a:solidFill>
                  <a:srgbClr val="FD1485"/>
                </a:solidFill>
                <a:latin typeface="Fjalla One"/>
              </a:rPr>
              <a:t>PRISM Engine: Multi-Dimensional STEAM Career Guidance &amp; Hyper-Local Innovation Platform</a:t>
            </a:r>
            <a:endParaRPr lang="en-US" sz="1400" dirty="0"/>
          </a:p>
          <a:p>
            <a:pPr>
              <a:spcBef>
                <a:spcPts val="900"/>
              </a:spcBef>
            </a:pPr>
            <a:r>
              <a:rPr lang="en-US" sz="1100" b="1" dirty="0">
                <a:solidFill>
                  <a:srgbClr val="353334"/>
                </a:solidFill>
                <a:latin typeface="Fjalla One"/>
              </a:rPr>
              <a:t>ONE-LINE PITCH</a:t>
            </a:r>
            <a:endParaRPr lang="en-US" sz="1100" dirty="0"/>
          </a:p>
          <a:p>
            <a:pPr>
              <a:spcBef>
                <a:spcPts val="200"/>
              </a:spcBef>
            </a:pPr>
            <a:r>
              <a:rPr lang="en-US" sz="1050" b="0" dirty="0">
                <a:solidFill>
                  <a:srgbClr val="3C3C41"/>
                </a:solidFill>
                <a:latin typeface="Mulish"/>
              </a:rPr>
              <a:t>PRISM Engine converts student psychometrics, parental financial limits and live job-market signals into one scored, financially viable career roadmap that students and parents can both see.</a:t>
            </a:r>
            <a:endParaRPr lang="en-US" sz="1050" dirty="0"/>
          </a:p>
          <a:p>
            <a:pPr>
              <a:spcBef>
                <a:spcPts val="900"/>
              </a:spcBef>
            </a:pPr>
            <a:r>
              <a:rPr lang="en-US" sz="1100" b="1" dirty="0">
                <a:solidFill>
                  <a:srgbClr val="353334"/>
                </a:solidFill>
                <a:latin typeface="Fjalla One"/>
              </a:rPr>
              <a:t>TRACK</a:t>
            </a:r>
            <a:endParaRPr lang="en-US" sz="1100" dirty="0"/>
          </a:p>
          <a:p>
            <a:pPr>
              <a:spcBef>
                <a:spcPts val="200"/>
              </a:spcBef>
            </a:pPr>
            <a:r>
              <a:rPr lang="en-US" sz="1050" b="1" dirty="0">
                <a:solidFill>
                  <a:srgbClr val="079ED2"/>
                </a:solidFill>
                <a:latin typeface="Mulish"/>
              </a:rPr>
              <a:t>DQNM</a:t>
            </a:r>
            <a:endParaRPr lang="en-US" sz="1050" dirty="0"/>
          </a:p>
        </p:txBody>
      </p:sp>
      <p:sp>
        <p:nvSpPr>
          <p:cNvPr id="33" name="Rounded Rectangle 32"/>
          <p:cNvSpPr/>
          <p:nvPr/>
        </p:nvSpPr>
        <p:spPr>
          <a:xfrm>
            <a:off x="6492240" y="3246120"/>
            <a:ext cx="4572000" cy="292608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6812280" y="3118104"/>
            <a:ext cx="1600200" cy="256032"/>
          </a:xfrm>
          <a:prstGeom prst="roundRect">
            <a:avLst>
              <a:gd name="adj" fmla="val 50000"/>
            </a:avLst>
          </a:prstGeom>
          <a:solidFill>
            <a:srgbClr val="FFB903"/>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353334"/>
                </a:solidFill>
                <a:latin typeface="Mulish"/>
              </a:defRPr>
            </a:pPr>
            <a:r>
              <a:t>TEAM &amp; MEMBERS</a:t>
            </a:r>
          </a:p>
        </p:txBody>
      </p:sp>
      <p:sp>
        <p:nvSpPr>
          <p:cNvPr id="35" name="TextBox 34"/>
          <p:cNvSpPr txBox="1"/>
          <p:nvPr/>
        </p:nvSpPr>
        <p:spPr>
          <a:xfrm>
            <a:off x="6766560" y="3520440"/>
            <a:ext cx="4023360" cy="2468880"/>
          </a:xfrm>
          <a:prstGeom prst="rect">
            <a:avLst/>
          </a:prstGeom>
          <a:noFill/>
        </p:spPr>
        <p:txBody>
          <a:bodyPr wrap="square">
            <a:spAutoFit/>
          </a:bodyPr>
          <a:lstStyle/>
          <a:p>
            <a:pPr/>
            <a:r>
              <a:rPr lang="en-US" sz="1100" b="1" dirty="0">
                <a:solidFill>
                  <a:srgbClr val="353334"/>
                </a:solidFill>
                <a:latin typeface="Fjalla One"/>
              </a:rPr>
              <a:t>TEAM</a:t>
            </a:r>
            <a:endParaRPr lang="en-US" sz="1100" dirty="0"/>
          </a:p>
          <a:p>
            <a:pPr>
              <a:spcBef>
                <a:spcPts val="200"/>
              </a:spcBef>
            </a:pPr>
            <a:r>
              <a:rPr lang="en-US" sz="1600" b="1" dirty="0">
                <a:solidFill>
                  <a:srgbClr val="353334"/>
                </a:solidFill>
                <a:latin typeface="Fjalla One"/>
              </a:rPr>
              <a:t>[Team Name]</a:t>
            </a:r>
            <a:endParaRPr lang="en-US" sz="1600" dirty="0"/>
          </a:p>
          <a:p>
            <a:pPr>
              <a:spcBef>
                <a:spcPts val="1000"/>
              </a:spcBef>
            </a:pPr>
            <a:r>
              <a:rPr lang="en-US" sz="1100" b="1" dirty="0">
                <a:solidFill>
                  <a:srgbClr val="353334"/>
                </a:solidFill>
                <a:latin typeface="Fjalla One"/>
              </a:rPr>
              <a:t>PARTICIPANTS</a:t>
            </a:r>
            <a:endParaRPr lang="en-US" sz="1100" dirty="0"/>
          </a:p>
          <a:p>
            <a:pPr>
              <a:spcBef>
                <a:spcPts val="200"/>
              </a:spcBef>
            </a:pPr>
            <a:r>
              <a:rPr lang="en-US" sz="1050" b="0" dirty="0">
                <a:solidFill>
                  <a:srgbClr val="3C3C41"/>
                </a:solidFill>
                <a:latin typeface="Mulish"/>
              </a:rPr>
              <a:t>•  [Member 1 Name, Reg. No.]</a:t>
            </a:r>
            <a:endParaRPr lang="en-US" sz="1050" dirty="0"/>
          </a:p>
          <a:p>
            <a:pPr>
              <a:spcBef>
                <a:spcPts val="200"/>
              </a:spcBef>
            </a:pPr>
            <a:r>
              <a:rPr lang="en-US" sz="1050" b="0" dirty="0">
                <a:solidFill>
                  <a:srgbClr val="3C3C41"/>
                </a:solidFill>
                <a:latin typeface="Mulish"/>
              </a:rPr>
              <a:t>•  [Member 2 Name, Reg. No.]</a:t>
            </a:r>
            <a:endParaRPr lang="en-US" sz="1050" dirty="0"/>
          </a:p>
          <a:p>
            <a:pPr>
              <a:spcBef>
                <a:spcPts val="200"/>
              </a:spcBef>
            </a:pPr>
            <a:r>
              <a:rPr lang="en-US" sz="1050" b="0" dirty="0">
                <a:solidFill>
                  <a:srgbClr val="3C3C41"/>
                </a:solidFill>
                <a:latin typeface="Mulish"/>
              </a:rPr>
              <a:t>•  [Member 3 Name, Reg. No.]</a:t>
            </a:r>
            <a:endParaRPr lang="en-US" sz="1050" dirty="0"/>
          </a:p>
          <a:p>
            <a:pPr>
              <a:spcBef>
                <a:spcPts val="200"/>
              </a:spcBef>
            </a:pPr>
            <a:r>
              <a:rPr lang="en-US" sz="1050" b="0" dirty="0">
                <a:solidFill>
                  <a:srgbClr val="3C3C41"/>
                </a:solidFill>
                <a:latin typeface="Mulish"/>
              </a:rPr>
              <a:t>•  [Member 4 Name, Reg. No.]</a:t>
            </a:r>
            <a:endParaRPr lang="en-US" sz="1050" dirty="0"/>
          </a:p>
        </p:txBody>
      </p:sp>
    </p:spTree>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1051560"/>
            <a:ext cx="105156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1453896"/>
            <a:ext cx="146304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1856232"/>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8412480" y="640080"/>
            <a:ext cx="100584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37133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7717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45920" y="384048"/>
            <a:ext cx="8229600" cy="274320"/>
          </a:xfrm>
          <a:prstGeom prst="rect">
            <a:avLst/>
          </a:prstGeom>
          <a:noFill/>
        </p:spPr>
        <p:txBody>
          <a:bodyPr wrap="none" lIns="0" tIns="0" rIns="0" bIns="0">
            <a:spAutoFit/>
          </a:bodyPr>
          <a:lstStyle/>
          <a:p>
            <a:pPr>
              <a:defRPr sz="1050" b="1">
                <a:solidFill>
                  <a:srgbClr val="353334"/>
                </a:solidFill>
                <a:latin typeface="Mulish"/>
              </a:defRPr>
            </a:pPr>
            <a:r>
              <a:t>DATAQUEST 3.0  ·  ROUND 1</a:t>
            </a:r>
          </a:p>
        </p:txBody>
      </p:sp>
      <p:sp>
        <p:nvSpPr>
          <p:cNvPr id="21" name="TextBox 20"/>
          <p:cNvSpPr txBox="1"/>
          <p:nvPr/>
        </p:nvSpPr>
        <p:spPr>
          <a:xfrm>
            <a:off x="1645920" y="621792"/>
            <a:ext cx="9144000" cy="777240"/>
          </a:xfrm>
          <a:prstGeom prst="rect">
            <a:avLst/>
          </a:prstGeom>
          <a:noFill/>
        </p:spPr>
        <p:txBody>
          <a:bodyPr wrap="square" lIns="0" tIns="0" rIns="0" bIns="0">
            <a:spAutoFit/>
          </a:bodyPr>
          <a:lstStyle/>
          <a:p>
            <a:r>
              <a:rPr sz="3600" b="1">
                <a:solidFill>
                  <a:srgbClr val="FD1485"/>
                </a:solidFill>
                <a:latin typeface="Fjalla One"/>
              </a:rPr>
              <a:t>02  </a:t>
            </a:r>
            <a:r>
              <a:rPr sz="3200" b="1">
                <a:solidFill>
                  <a:srgbClr val="353334"/>
                </a:solidFill>
                <a:latin typeface="Fjalla One"/>
              </a:rPr>
              <a:t>Problem Definition</a:t>
            </a:r>
          </a:p>
        </p:txBody>
      </p:sp>
      <p:sp>
        <p:nvSpPr>
          <p:cNvPr id="22" name="Rectangle 21"/>
          <p:cNvSpPr/>
          <p:nvPr/>
        </p:nvSpPr>
        <p:spPr>
          <a:xfrm>
            <a:off x="1645920" y="1444752"/>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1517904"/>
            <a:ext cx="9418320" cy="320040"/>
          </a:xfrm>
          <a:prstGeom prst="rect">
            <a:avLst/>
          </a:prstGeom>
          <a:noFill/>
        </p:spPr>
        <p:txBody>
          <a:bodyPr wrap="none" lIns="0" tIns="0" rIns="0" bIns="0">
            <a:spAutoFit/>
          </a:bodyPr>
          <a:lstStyle/>
          <a:p>
            <a:pPr>
              <a:defRPr sz="1100">
                <a:solidFill>
                  <a:srgbClr val="6E6E73"/>
                </a:solidFill>
                <a:latin typeface="Mulish"/>
              </a:defRPr>
            </a:pPr>
            <a:r>
              <a:t>Who is impacted · Today's workarounds · Why current methods fail · Concrete proof</a:t>
            </a:r>
          </a:p>
        </p:txBody>
      </p:sp>
      <p:sp>
        <p:nvSpPr>
          <p:cNvPr id="24" name="Rounded Rectangle 23"/>
          <p:cNvSpPr/>
          <p:nvPr/>
        </p:nvSpPr>
        <p:spPr>
          <a:xfrm>
            <a:off x="1645920" y="205740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965960" y="1929384"/>
            <a:ext cx="1600200" cy="256032"/>
          </a:xfrm>
          <a:prstGeom prst="roundRect">
            <a:avLst>
              <a:gd name="adj" fmla="val 50000"/>
            </a:avLst>
          </a:prstGeom>
          <a:solidFill>
            <a:srgbClr val="079ED2"/>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01 · AUDIENCE</a:t>
            </a:r>
          </a:p>
        </p:txBody>
      </p:sp>
      <p:sp>
        <p:nvSpPr>
          <p:cNvPr id="26" name="TextBox 25"/>
          <p:cNvSpPr txBox="1"/>
          <p:nvPr/>
        </p:nvSpPr>
        <p:spPr>
          <a:xfrm>
            <a:off x="1920240" y="2313432"/>
            <a:ext cx="4023360" cy="1737360"/>
          </a:xfrm>
          <a:prstGeom prst="rect">
            <a:avLst/>
          </a:prstGeom>
          <a:noFill/>
        </p:spPr>
        <p:txBody>
          <a:bodyPr wrap="square">
            <a:spAutoFit/>
          </a:bodyPr>
          <a:lstStyle/>
          <a:p>
            <a:pPr/>
            <a:r>
              <a:rPr lang="en-US" sz="1300" b="1" dirty="0">
                <a:solidFill>
                  <a:srgbClr val="353334"/>
                </a:solidFill>
                <a:latin typeface="Fjalla One"/>
              </a:rPr>
              <a:t>WHO &amp; HOW OFTEN</a:t>
            </a:r>
            <a:endParaRPr lang="en-US" sz="1300" dirty="0"/>
          </a:p>
          <a:p>
            <a:pPr>
              <a:spcBef>
                <a:spcPts val="400"/>
              </a:spcBef>
            </a:pPr>
            <a:r>
              <a:rPr lang="en-US" sz="900" b="0" dirty="0">
                <a:solidFill>
                  <a:srgbClr val="3C3C41"/>
                </a:solidFill>
                <a:latin typeface="Mulish"/>
              </a:rPr>
              <a:t>Students in schools and colleges across India, their parents and their educators. Parents are the primary financial and emotional decision-makers.</a:t>
            </a:r>
            <a:endParaRPr lang="en-US" sz="900" dirty="0"/>
          </a:p>
          <a:p>
            <a:pPr>
              <a:spcBef>
                <a:spcPts val="400"/>
              </a:spcBef>
            </a:pPr>
            <a:r>
              <a:rPr lang="en-US" sz="900" b="0" dirty="0">
                <a:solidFill>
                  <a:srgbClr val="3C3C41"/>
                </a:solidFill>
                <a:latin typeface="Mulish"/>
              </a:rPr>
              <a:t>Crucial career decisions are made frequently, and over 90% of students have no structured, evidence-based guidance when they make them.</a:t>
            </a:r>
            <a:endParaRPr lang="en-US" sz="900" dirty="0"/>
          </a:p>
        </p:txBody>
      </p:sp>
      <p:sp>
        <p:nvSpPr>
          <p:cNvPr id="27" name="Rounded Rectangle 26"/>
          <p:cNvSpPr/>
          <p:nvPr/>
        </p:nvSpPr>
        <p:spPr>
          <a:xfrm>
            <a:off x="6492240" y="205740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812280" y="1929384"/>
            <a:ext cx="1600200" cy="256032"/>
          </a:xfrm>
          <a:prstGeom prst="roundRect">
            <a:avLst>
              <a:gd name="adj" fmla="val 50000"/>
            </a:avLst>
          </a:prstGeom>
          <a:solidFill>
            <a:srgbClr val="FFB903"/>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353334"/>
                </a:solidFill>
                <a:latin typeface="Mulish"/>
              </a:defRPr>
            </a:pPr>
            <a:r>
              <a:t>02 · STATUS QUO</a:t>
            </a:r>
          </a:p>
        </p:txBody>
      </p:sp>
      <p:sp>
        <p:nvSpPr>
          <p:cNvPr id="29" name="TextBox 28"/>
          <p:cNvSpPr txBox="1"/>
          <p:nvPr/>
        </p:nvSpPr>
        <p:spPr>
          <a:xfrm>
            <a:off x="6766560" y="2313432"/>
            <a:ext cx="4023360" cy="1737360"/>
          </a:xfrm>
          <a:prstGeom prst="rect">
            <a:avLst/>
          </a:prstGeom>
          <a:noFill/>
        </p:spPr>
        <p:txBody>
          <a:bodyPr wrap="square">
            <a:spAutoFit/>
          </a:bodyPr>
          <a:lstStyle/>
          <a:p>
            <a:pPr/>
            <a:r>
              <a:rPr lang="en-US" sz="1300" b="1" dirty="0">
                <a:solidFill>
                  <a:srgbClr val="353334"/>
                </a:solidFill>
                <a:latin typeface="Fjalla One"/>
              </a:rPr>
              <a:t>CURRENT APPROACH</a:t>
            </a:r>
            <a:endParaRPr lang="en-US" sz="1300" dirty="0"/>
          </a:p>
          <a:p>
            <a:pPr>
              <a:spcBef>
                <a:spcPts val="400"/>
              </a:spcBef>
            </a:pPr>
            <a:r>
              <a:rPr lang="en-US" sz="900" b="0" dirty="0">
                <a:solidFill>
                  <a:srgbClr val="3C3C41"/>
                </a:solidFill>
                <a:latin typeface="Mulish"/>
              </a:rPr>
              <a:t>Students choose careers without knowing where professions are most in demand, what real salary trajectories look like, which interdisciplinary pathways exist or which scholarships they can access.</a:t>
            </a:r>
            <a:endParaRPr lang="en-US" sz="900" dirty="0"/>
          </a:p>
          <a:p>
            <a:pPr>
              <a:spcBef>
                <a:spcPts val="400"/>
              </a:spcBef>
            </a:pPr>
            <a:r>
              <a:rPr lang="en-US" sz="900" b="0" dirty="0">
                <a:solidFill>
                  <a:srgbClr val="3C3C41"/>
                </a:solidFill>
                <a:latin typeface="Mulish"/>
              </a:rPr>
              <a:t>Parents are routinely left out of the analysis. Families default to rigid, conventional career choices.</a:t>
            </a:r>
            <a:endParaRPr lang="en-US" sz="900" dirty="0"/>
          </a:p>
        </p:txBody>
      </p:sp>
      <p:sp>
        <p:nvSpPr>
          <p:cNvPr id="30" name="Rounded Rectangle 29"/>
          <p:cNvSpPr/>
          <p:nvPr/>
        </p:nvSpPr>
        <p:spPr>
          <a:xfrm>
            <a:off x="1645920" y="438912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1965960" y="4261104"/>
            <a:ext cx="160020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03 · DEFICIENCY</a:t>
            </a:r>
          </a:p>
        </p:txBody>
      </p:sp>
      <p:sp>
        <p:nvSpPr>
          <p:cNvPr id="32" name="TextBox 31"/>
          <p:cNvSpPr txBox="1"/>
          <p:nvPr/>
        </p:nvSpPr>
        <p:spPr>
          <a:xfrm>
            <a:off x="1920240" y="4645152"/>
            <a:ext cx="4023360" cy="1737360"/>
          </a:xfrm>
          <a:prstGeom prst="rect">
            <a:avLst/>
          </a:prstGeom>
          <a:noFill/>
        </p:spPr>
        <p:txBody>
          <a:bodyPr wrap="square">
            <a:spAutoFit/>
          </a:bodyPr>
          <a:lstStyle/>
          <a:p>
            <a:pPr/>
            <a:r>
              <a:rPr lang="en-US" sz="1300" b="1" dirty="0">
                <a:solidFill>
                  <a:srgbClr val="353334"/>
                </a:solidFill>
                <a:latin typeface="Fjalla One"/>
              </a:rPr>
              <a:t>WHY IT FALLS SHORT</a:t>
            </a:r>
            <a:endParaRPr lang="en-US" sz="1300" dirty="0"/>
          </a:p>
          <a:p>
            <a:pPr>
              <a:spcBef>
                <a:spcPts val="250"/>
              </a:spcBef>
            </a:pPr>
            <a:r>
              <a:rPr lang="en-US" sz="850" b="1" dirty="0">
                <a:solidFill>
                  <a:srgbClr val="353334"/>
                </a:solidFill>
                <a:latin typeface="Mulish"/>
              </a:rPr>
              <a:t>1. Geographic demand opacity: </a:t>
            </a:r>
            <a:r>
              <a:rPr lang="en-US" sz="850" b="0" dirty="0">
                <a:solidFill>
                  <a:srgbClr val="3C3C41"/>
                </a:solidFill>
                <a:latin typeface="Mulish"/>
              </a:rPr>
              <a:t>students do not know which regions and global markets value their skills most.</a:t>
            </a:r>
            <a:endParaRPr lang="en-US" sz="850" dirty="0"/>
          </a:p>
          <a:p>
            <a:pPr>
              <a:spcBef>
                <a:spcPts val="250"/>
              </a:spcBef>
            </a:pPr>
            <a:r>
              <a:rPr lang="en-US" sz="850" b="1" dirty="0">
                <a:solidFill>
                  <a:srgbClr val="353334"/>
                </a:solidFill>
                <a:latin typeface="Mulish"/>
              </a:rPr>
              <a:t>2. Economic yield mismatch: </a:t>
            </a:r>
            <a:r>
              <a:rPr lang="en-US" sz="850" b="0" dirty="0">
                <a:solidFill>
                  <a:srgbClr val="3C3C41"/>
                </a:solidFill>
                <a:latin typeface="Mulish"/>
              </a:rPr>
              <a:t>no clarity on compensation trajectories or ROI after a course.</a:t>
            </a:r>
            <a:endParaRPr lang="en-US" sz="850" dirty="0"/>
          </a:p>
          <a:p>
            <a:pPr>
              <a:spcBef>
                <a:spcPts val="250"/>
              </a:spcBef>
            </a:pPr>
            <a:r>
              <a:rPr lang="en-US" sz="850" b="1" dirty="0">
                <a:solidFill>
                  <a:srgbClr val="353334"/>
                </a:solidFill>
                <a:latin typeface="Mulish"/>
              </a:rPr>
              <a:t>3. Parental exclusion and financial blind spots: </a:t>
            </a:r>
            <a:r>
              <a:rPr lang="en-US" sz="850" b="0" dirty="0">
                <a:solidFill>
                  <a:srgbClr val="3C3C41"/>
                </a:solidFill>
                <a:latin typeface="Mulish"/>
              </a:rPr>
              <a:t>household affordability is never analyzed, leading to debt or misaligned expectations.</a:t>
            </a:r>
            <a:endParaRPr lang="en-US" sz="850" dirty="0"/>
          </a:p>
          <a:p>
            <a:pPr>
              <a:spcBef>
                <a:spcPts val="250"/>
              </a:spcBef>
            </a:pPr>
            <a:r>
              <a:rPr lang="en-US" sz="850" b="1" dirty="0">
                <a:solidFill>
                  <a:srgbClr val="353334"/>
                </a:solidFill>
                <a:latin typeface="Mulish"/>
              </a:rPr>
              <a:t>4. Unexplored career alternatives: </a:t>
            </a:r>
            <a:r>
              <a:rPr lang="en-US" sz="850" b="0" dirty="0">
                <a:solidFill>
                  <a:srgbClr val="3C3C41"/>
                </a:solidFill>
                <a:latin typeface="Mulish"/>
              </a:rPr>
              <a:t>emerging hyper-local and STEAM innovation pathways are overlooked.</a:t>
            </a:r>
            <a:endParaRPr lang="en-US" sz="850" dirty="0"/>
          </a:p>
          <a:p>
            <a:pPr>
              <a:spcBef>
                <a:spcPts val="250"/>
              </a:spcBef>
            </a:pPr>
            <a:r>
              <a:rPr lang="en-US" sz="850" b="1" dirty="0">
                <a:solidFill>
                  <a:srgbClr val="353334"/>
                </a:solidFill>
                <a:latin typeface="Mulish"/>
              </a:rPr>
              <a:t>5. Disconnected aid discovery: </a:t>
            </a:r>
            <a:r>
              <a:rPr lang="en-US" sz="850" b="0" dirty="0">
                <a:solidFill>
                  <a:srgbClr val="3C3C41"/>
                </a:solidFill>
                <a:latin typeface="Mulish"/>
              </a:rPr>
              <a:t>entrance exams, rankings and targeted scholarships are not visible in time.</a:t>
            </a:r>
            <a:endParaRPr lang="en-US" sz="850" dirty="0"/>
          </a:p>
        </p:txBody>
      </p:sp>
      <p:sp>
        <p:nvSpPr>
          <p:cNvPr id="33" name="Rounded Rectangle 32"/>
          <p:cNvSpPr/>
          <p:nvPr/>
        </p:nvSpPr>
        <p:spPr>
          <a:xfrm>
            <a:off x="6492240" y="438912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6812280" y="4261104"/>
            <a:ext cx="1600200" cy="256032"/>
          </a:xfrm>
          <a:prstGeom prst="roundRect">
            <a:avLst>
              <a:gd name="adj" fmla="val 50000"/>
            </a:avLst>
          </a:prstGeom>
          <a:solidFill>
            <a:srgbClr val="353334"/>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04 · VALIDATION</a:t>
            </a:r>
          </a:p>
        </p:txBody>
      </p:sp>
      <p:sp>
        <p:nvSpPr>
          <p:cNvPr id="35" name="TextBox 34"/>
          <p:cNvSpPr txBox="1"/>
          <p:nvPr/>
        </p:nvSpPr>
        <p:spPr>
          <a:xfrm>
            <a:off x="6766560" y="4645152"/>
            <a:ext cx="4023360" cy="1737360"/>
          </a:xfrm>
          <a:prstGeom prst="rect">
            <a:avLst/>
          </a:prstGeom>
          <a:noFill/>
        </p:spPr>
        <p:txBody>
          <a:bodyPr wrap="square">
            <a:spAutoFit/>
          </a:bodyPr>
          <a:lstStyle/>
          <a:p>
            <a:pPr/>
            <a:r>
              <a:rPr lang="en-US" sz="1300" b="1" dirty="0">
                <a:solidFill>
                  <a:srgbClr val="353334"/>
                </a:solidFill>
                <a:latin typeface="Fjalla One"/>
              </a:rPr>
              <a:t>EVIDENCE</a:t>
            </a:r>
            <a:endParaRPr lang="en-US" sz="1300" dirty="0"/>
          </a:p>
          <a:p>
            <a:pPr>
              <a:spcBef>
                <a:spcPts val="400"/>
              </a:spcBef>
            </a:pPr>
            <a:r>
              <a:rPr lang="en-US" sz="900" b="1" dirty="0">
                <a:solidFill>
                  <a:srgbClr val="FD1485"/>
                </a:solidFill>
                <a:latin typeface="Mulish"/>
              </a:rPr>
              <a:t>Over 90% </a:t>
            </a:r>
            <a:r>
              <a:rPr lang="en-US" sz="900" b="0" dirty="0">
                <a:solidFill>
                  <a:srgbClr val="3C3C41"/>
                </a:solidFill>
                <a:latin typeface="Mulish"/>
              </a:rPr>
              <a:t>of Indian school and college students lack structured, evidence-based career guidance.</a:t>
            </a:r>
            <a:endParaRPr lang="en-US" sz="900" dirty="0"/>
          </a:p>
          <a:p>
            <a:pPr>
              <a:spcBef>
                <a:spcPts val="200"/>
              </a:spcBef>
            </a:pPr>
            <a:r>
              <a:rPr lang="en-US" sz="850" b="0" dirty="0">
                <a:solidFill>
                  <a:srgbClr val="6E6E73"/>
                </a:solidFill>
                <a:latin typeface="Mulish"/>
              </a:rPr>
              <a:t>Source: DataQuest 3.0 DQNM problem statement.</a:t>
            </a:r>
            <a:endParaRPr lang="en-US" sz="850" dirty="0"/>
          </a:p>
          <a:p>
            <a:pPr>
              <a:spcBef>
                <a:spcPts val="600"/>
              </a:spcBef>
            </a:pPr>
            <a:r>
              <a:rPr lang="en-US" sz="900" b="1" dirty="0">
                <a:solidFill>
                  <a:srgbClr val="353334"/>
                </a:solidFill>
                <a:latin typeface="Mulish"/>
              </a:rPr>
              <a:t>Reported consequences: </a:t>
            </a:r>
            <a:r>
              <a:rPr lang="en-US" sz="900" b="0" dirty="0">
                <a:solidFill>
                  <a:srgbClr val="3C3C41"/>
                </a:solidFill>
                <a:latin typeface="Mulish"/>
              </a:rPr>
              <a:t>high career dropout rates, unfulfilled aspirations, graduate underemployment, severe family conflict and financially unsustainable career commitments.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1051560"/>
            <a:ext cx="105156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1453896"/>
            <a:ext cx="146304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1856232"/>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8412480" y="640080"/>
            <a:ext cx="100584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37133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7717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45920" y="384048"/>
            <a:ext cx="8229600" cy="274320"/>
          </a:xfrm>
          <a:prstGeom prst="rect">
            <a:avLst/>
          </a:prstGeom>
          <a:noFill/>
        </p:spPr>
        <p:txBody>
          <a:bodyPr wrap="none" lIns="0" tIns="0" rIns="0" bIns="0">
            <a:spAutoFit/>
          </a:bodyPr>
          <a:lstStyle/>
          <a:p>
            <a:pPr>
              <a:defRPr sz="1050" b="1">
                <a:solidFill>
                  <a:srgbClr val="353334"/>
                </a:solidFill>
                <a:latin typeface="Mulish"/>
              </a:defRPr>
            </a:pPr>
            <a:r>
              <a:t>DATAQUEST 3.0  ·  ROUND 1</a:t>
            </a:r>
          </a:p>
        </p:txBody>
      </p:sp>
      <p:sp>
        <p:nvSpPr>
          <p:cNvPr id="21" name="TextBox 20"/>
          <p:cNvSpPr txBox="1"/>
          <p:nvPr/>
        </p:nvSpPr>
        <p:spPr>
          <a:xfrm>
            <a:off x="1645920" y="621792"/>
            <a:ext cx="9144000" cy="777240"/>
          </a:xfrm>
          <a:prstGeom prst="rect">
            <a:avLst/>
          </a:prstGeom>
          <a:noFill/>
        </p:spPr>
        <p:txBody>
          <a:bodyPr wrap="square" lIns="0" tIns="0" rIns="0" bIns="0">
            <a:spAutoFit/>
          </a:bodyPr>
          <a:lstStyle/>
          <a:p>
            <a:r>
              <a:rPr sz="3600" b="1">
                <a:solidFill>
                  <a:srgbClr val="FD1485"/>
                </a:solidFill>
                <a:latin typeface="Fjalla One"/>
              </a:rPr>
              <a:t>03  </a:t>
            </a:r>
            <a:r>
              <a:rPr sz="3200" b="1">
                <a:solidFill>
                  <a:srgbClr val="353334"/>
                </a:solidFill>
                <a:latin typeface="Fjalla One"/>
              </a:rPr>
              <a:t>Proposed Solution</a:t>
            </a:r>
          </a:p>
        </p:txBody>
      </p:sp>
      <p:sp>
        <p:nvSpPr>
          <p:cNvPr id="22" name="Rectangle 21"/>
          <p:cNvSpPr/>
          <p:nvPr/>
        </p:nvSpPr>
        <p:spPr>
          <a:xfrm>
            <a:off x="1645920" y="1444752"/>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1517904"/>
            <a:ext cx="9418320" cy="320040"/>
          </a:xfrm>
          <a:prstGeom prst="rect">
            <a:avLst/>
          </a:prstGeom>
          <a:noFill/>
        </p:spPr>
        <p:txBody>
          <a:bodyPr wrap="none" lIns="0" tIns="0" rIns="0" bIns="0">
            <a:spAutoFit/>
          </a:bodyPr>
          <a:lstStyle/>
          <a:p>
            <a:pPr>
              <a:defRPr sz="1100">
                <a:solidFill>
                  <a:srgbClr val="6E6E73"/>
                </a:solidFill>
                <a:latin typeface="Mulish"/>
              </a:defRPr>
            </a:pPr>
            <a:r>
              <a:t>System identity · End-to-end user workflow · Competitive advantages</a:t>
            </a:r>
          </a:p>
        </p:txBody>
      </p:sp>
      <p:sp>
        <p:nvSpPr>
          <p:cNvPr id="24" name="Rounded Rectangle 23"/>
          <p:cNvSpPr/>
          <p:nvPr/>
        </p:nvSpPr>
        <p:spPr>
          <a:xfrm>
            <a:off x="1645920" y="2011680"/>
            <a:ext cx="9418320" cy="118872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965960" y="1883664"/>
            <a:ext cx="160020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SOLUTION CORE</a:t>
            </a:r>
          </a:p>
        </p:txBody>
      </p:sp>
      <p:sp>
        <p:nvSpPr>
          <p:cNvPr id="26" name="TextBox 25"/>
          <p:cNvSpPr txBox="1"/>
          <p:nvPr/>
        </p:nvSpPr>
        <p:spPr>
          <a:xfrm>
            <a:off x="1920240" y="2194560"/>
            <a:ext cx="8869680" cy="914400"/>
          </a:xfrm>
          <a:prstGeom prst="rect">
            <a:avLst/>
          </a:prstGeom>
          <a:noFill/>
        </p:spPr>
        <p:txBody>
          <a:bodyPr wrap="square">
            <a:spAutoFit/>
          </a:bodyPr>
          <a:lstStyle/>
          <a:p>
            <a:pPr/>
            <a:r>
              <a:rPr lang="en-US" sz="1600" b="1" dirty="0">
                <a:solidFill>
                  <a:srgbClr val="353334"/>
                </a:solidFill>
                <a:latin typeface="Fjalla One"/>
              </a:rPr>
              <a:t>PRISM Engine</a:t>
            </a:r>
            <a:endParaRPr lang="en-US" sz="1600" dirty="0"/>
          </a:p>
          <a:p>
            <a:pPr>
              <a:spcBef>
                <a:spcPts val="300"/>
              </a:spcBef>
            </a:pPr>
            <a:r>
              <a:rPr lang="en-US" sz="1000" b="0" dirty="0">
                <a:solidFill>
                  <a:srgbClr val="3C3C41"/>
                </a:solidFill>
                <a:latin typeface="Mulish"/>
              </a:rPr>
              <a:t>A multi-dimensional career guidance and student SWOT analytics platform. It vectorizes student competencies and parental constraints, solves them against household financial limits, and blends the result with dynamic industry hiring indices to output clear, financially viable career pathways.</a:t>
            </a:r>
            <a:endParaRPr lang="en-US" sz="1000" dirty="0"/>
          </a:p>
        </p:txBody>
      </p:sp>
      <p:sp>
        <p:nvSpPr>
          <p:cNvPr id="27" name="Rounded Rectangle 26"/>
          <p:cNvSpPr/>
          <p:nvPr/>
        </p:nvSpPr>
        <p:spPr>
          <a:xfrm>
            <a:off x="1645920" y="3383280"/>
            <a:ext cx="9418320" cy="128016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1965960" y="3255264"/>
            <a:ext cx="1600200" cy="256032"/>
          </a:xfrm>
          <a:prstGeom prst="roundRect">
            <a:avLst>
              <a:gd name="adj" fmla="val 50000"/>
            </a:avLst>
          </a:prstGeom>
          <a:solidFill>
            <a:srgbClr val="079ED2"/>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USER FLOW</a:t>
            </a:r>
          </a:p>
        </p:txBody>
      </p:sp>
      <p:sp>
        <p:nvSpPr>
          <p:cNvPr id="29" name="Rounded Rectangle 28"/>
          <p:cNvSpPr/>
          <p:nvPr/>
        </p:nvSpPr>
        <p:spPr>
          <a:xfrm>
            <a:off x="1920240" y="3575304"/>
            <a:ext cx="2560320" cy="1033272"/>
          </a:xfrm>
          <a:prstGeom prst="roundRect">
            <a:avLst>
              <a:gd name="adj" fmla="val 8000"/>
            </a:avLst>
          </a:prstGeom>
          <a:solidFill>
            <a:srgbClr val="FFFFFF"/>
          </a:solidFill>
          <a:ln w="19050">
            <a:solidFill>
              <a:srgbClr val="079ED2"/>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lang="en-US" sz="1000" b="1" dirty="0">
                <a:solidFill>
                  <a:srgbClr val="353334"/>
                </a:solidFill>
                <a:latin typeface="Fjalla One"/>
              </a:rPr>
              <a:t>1. USER INPUT</a:t>
            </a:r>
            <a:endParaRPr lang="en-US" sz="1000" dirty="0"/>
          </a:p>
          <a:p>
            <a:pPr algn="ctr">
              <a:spcBef>
                <a:spcPts val="200"/>
              </a:spcBef>
            </a:pPr>
            <a:r>
              <a:rPr lang="en-US" sz="800" b="0" dirty="0">
                <a:solidFill>
                  <a:srgbClr val="3C3C41"/>
                </a:solidFill>
                <a:latin typeface="Mulish"/>
              </a:rPr>
              <a:t>Students: psychometric responses on aptitude, cognitive preferences and interests.</a:t>
            </a:r>
            <a:endParaRPr lang="en-US" sz="800" dirty="0"/>
          </a:p>
          <a:p>
            <a:pPr algn="ctr">
              <a:spcBef>
                <a:spcPts val="200"/>
              </a:spcBef>
            </a:pPr>
            <a:r>
              <a:rPr lang="en-US" sz="800" b="0" dirty="0">
                <a:solidFill>
                  <a:srgbClr val="3C3C41"/>
                </a:solidFill>
                <a:latin typeface="Mulish"/>
              </a:rPr>
              <a:t>Parents: affordability, risk appetite, socio-economic mobility and aspirations.</a:t>
            </a:r>
            <a:endParaRPr lang="en-US" sz="800" dirty="0"/>
          </a:p>
        </p:txBody>
      </p:sp>
      <p:sp>
        <p:nvSpPr>
          <p:cNvPr id="30" name="TextBox 29"/>
          <p:cNvSpPr txBox="1"/>
          <p:nvPr/>
        </p:nvSpPr>
        <p:spPr>
          <a:xfrm>
            <a:off x="4590288" y="3909060"/>
            <a:ext cx="329184" cy="365760"/>
          </a:xfrm>
          <a:prstGeom prst="rect">
            <a:avLst/>
          </a:prstGeom>
          <a:noFill/>
        </p:spPr>
        <p:txBody>
          <a:bodyPr wrap="none" lIns="0" tIns="0" rIns="0" bIns="0">
            <a:spAutoFit/>
          </a:bodyPr>
          <a:lstStyle/>
          <a:p>
            <a:pPr algn="ctr">
              <a:defRPr sz="1800" b="1">
                <a:solidFill>
                  <a:srgbClr val="353334"/>
                </a:solidFill>
                <a:latin typeface="Mulish"/>
              </a:defRPr>
            </a:pPr>
            <a:r>
              <a:t>➔</a:t>
            </a:r>
          </a:p>
        </p:txBody>
      </p:sp>
      <p:sp>
        <p:nvSpPr>
          <p:cNvPr id="31" name="Rounded Rectangle 30"/>
          <p:cNvSpPr/>
          <p:nvPr/>
        </p:nvSpPr>
        <p:spPr>
          <a:xfrm>
            <a:off x="5029200" y="3575304"/>
            <a:ext cx="2560320" cy="1033272"/>
          </a:xfrm>
          <a:prstGeom prst="roundRect">
            <a:avLst>
              <a:gd name="adj" fmla="val 8000"/>
            </a:avLst>
          </a:prstGeom>
          <a:solidFill>
            <a:srgbClr val="FFFFFF"/>
          </a:solidFill>
          <a:ln w="19050">
            <a:solidFill>
              <a:srgbClr val="FFB903"/>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lang="en-US" sz="1000" b="1" dirty="0">
                <a:solidFill>
                  <a:srgbClr val="353334"/>
                </a:solidFill>
                <a:latin typeface="Fjalla One"/>
              </a:rPr>
              <a:t>2. PROCESSING</a:t>
            </a:r>
            <a:endParaRPr lang="en-US" sz="1000" dirty="0"/>
          </a:p>
          <a:p>
            <a:pPr algn="ctr">
              <a:spcBef>
                <a:spcPts val="200"/>
              </a:spcBef>
            </a:pPr>
            <a:r>
              <a:rPr lang="en-US" sz="750" b="0" dirty="0">
                <a:solidFill>
                  <a:srgbClr val="3C3C41"/>
                </a:solidFill>
                <a:latin typeface="Mulish"/>
              </a:rPr>
              <a:t>Inputs normalized into vectors. Financial Constraint Solver filters by affordability; Parent-Student Conflict Index measures disagreement. Blended with hiring indices: job velocity, economic disruption, geographic demand, hyper-local STEAM.</a:t>
            </a:r>
            <a:endParaRPr lang="en-US" sz="750" dirty="0"/>
          </a:p>
        </p:txBody>
      </p:sp>
      <p:sp>
        <p:nvSpPr>
          <p:cNvPr id="32" name="TextBox 31"/>
          <p:cNvSpPr txBox="1"/>
          <p:nvPr/>
        </p:nvSpPr>
        <p:spPr>
          <a:xfrm>
            <a:off x="7699248" y="3909060"/>
            <a:ext cx="329184" cy="365760"/>
          </a:xfrm>
          <a:prstGeom prst="rect">
            <a:avLst/>
          </a:prstGeom>
          <a:noFill/>
        </p:spPr>
        <p:txBody>
          <a:bodyPr wrap="none" lIns="0" tIns="0" rIns="0" bIns="0">
            <a:spAutoFit/>
          </a:bodyPr>
          <a:lstStyle/>
          <a:p>
            <a:pPr algn="ctr">
              <a:defRPr sz="1800" b="1">
                <a:solidFill>
                  <a:srgbClr val="353334"/>
                </a:solidFill>
                <a:latin typeface="Mulish"/>
              </a:defRPr>
            </a:pPr>
            <a:r>
              <a:t>➔</a:t>
            </a:r>
          </a:p>
        </p:txBody>
      </p:sp>
      <p:sp>
        <p:nvSpPr>
          <p:cNvPr id="33" name="Rounded Rectangle 32"/>
          <p:cNvSpPr/>
          <p:nvPr/>
        </p:nvSpPr>
        <p:spPr>
          <a:xfrm>
            <a:off x="8138160" y="3575304"/>
            <a:ext cx="2560320" cy="1033272"/>
          </a:xfrm>
          <a:prstGeom prst="roundRect">
            <a:avLst>
              <a:gd name="adj" fmla="val 8000"/>
            </a:avLst>
          </a:prstGeom>
          <a:solidFill>
            <a:srgbClr val="FFFFFF"/>
          </a:solidFill>
          <a:ln w="19050">
            <a:solidFill>
              <a:srgbClr val="FD1485"/>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lang="en-US" sz="1000" b="1" dirty="0">
                <a:solidFill>
                  <a:srgbClr val="353334"/>
                </a:solidFill>
                <a:latin typeface="Fjalla One"/>
              </a:rPr>
              <a:t>3. OUTPUT</a:t>
            </a:r>
            <a:endParaRPr lang="en-US" sz="1000" dirty="0"/>
          </a:p>
          <a:p>
            <a:pPr algn="ctr">
              <a:spcBef>
                <a:spcPts val="200"/>
              </a:spcBef>
            </a:pPr>
            <a:r>
              <a:rPr lang="en-US" sz="800" b="0" dirty="0">
                <a:solidFill>
                  <a:srgbClr val="3C3C41"/>
                </a:solidFill>
                <a:latin typeface="Mulish"/>
              </a:rPr>
              <a:t>Composite scores, suitable career domains with alignment gaps, student SWOT analytics, and a roadmap of educational pathways, entrance exams, scholarships and development options.</a:t>
            </a:r>
            <a:endParaRPr lang="en-US" sz="800" dirty="0"/>
          </a:p>
        </p:txBody>
      </p:sp>
      <p:sp>
        <p:nvSpPr>
          <p:cNvPr id="34" name="Rounded Rectangle 33"/>
          <p:cNvSpPr/>
          <p:nvPr/>
        </p:nvSpPr>
        <p:spPr>
          <a:xfrm>
            <a:off x="1645920" y="4846320"/>
            <a:ext cx="4572000" cy="16916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1965960" y="4718304"/>
            <a:ext cx="1600200" cy="256032"/>
          </a:xfrm>
          <a:prstGeom prst="roundRect">
            <a:avLst>
              <a:gd name="adj" fmla="val 50000"/>
            </a:avLst>
          </a:prstGeom>
          <a:solidFill>
            <a:srgbClr val="FFB903"/>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353334"/>
                </a:solidFill>
                <a:latin typeface="Mulish"/>
              </a:defRPr>
            </a:pPr>
            <a:r>
              <a:t>ADVANTAGE</a:t>
            </a:r>
          </a:p>
        </p:txBody>
      </p:sp>
      <p:sp>
        <p:nvSpPr>
          <p:cNvPr id="36" name="TextBox 35"/>
          <p:cNvSpPr txBox="1"/>
          <p:nvPr/>
        </p:nvSpPr>
        <p:spPr>
          <a:xfrm>
            <a:off x="1920240" y="5074920"/>
            <a:ext cx="4023360" cy="1325880"/>
          </a:xfrm>
          <a:prstGeom prst="rect">
            <a:avLst/>
          </a:prstGeom>
          <a:noFill/>
        </p:spPr>
        <p:txBody>
          <a:bodyPr wrap="square">
            <a:spAutoFit/>
          </a:bodyPr>
          <a:lstStyle/>
          <a:p>
            <a:pPr/>
            <a:r>
              <a:rPr lang="en-US" sz="1300" b="1" dirty="0">
                <a:solidFill>
                  <a:srgbClr val="353334"/>
                </a:solidFill>
                <a:latin typeface="Fjalla One"/>
              </a:rPr>
              <a:t>WHY IT IS BETTER</a:t>
            </a:r>
            <a:endParaRPr lang="en-US" sz="1300" dirty="0"/>
          </a:p>
          <a:p>
            <a:pPr>
              <a:spcBef>
                <a:spcPts val="400"/>
              </a:spcBef>
            </a:pPr>
            <a:r>
              <a:rPr lang="en-US" sz="900" b="0" dirty="0">
                <a:solidFill>
                  <a:srgbClr val="3C3C41"/>
                </a:solidFill>
                <a:latin typeface="Mulish"/>
              </a:rPr>
              <a:t>Most guidance looks at the student alone. PRISM Engine evaluates the student and the family together, so every recommendation already respects household affordability and shows where parent and student expectations differ. Recommendations follow current demand and salary outlook by region.</a:t>
            </a:r>
            <a:endParaRPr lang="en-US" sz="900" dirty="0"/>
          </a:p>
        </p:txBody>
      </p:sp>
      <p:sp>
        <p:nvSpPr>
          <p:cNvPr id="37" name="Rounded Rectangle 36"/>
          <p:cNvSpPr/>
          <p:nvPr/>
        </p:nvSpPr>
        <p:spPr>
          <a:xfrm>
            <a:off x="6492240" y="4846320"/>
            <a:ext cx="4572000" cy="16916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6812280" y="4718304"/>
            <a:ext cx="160020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INNOVATION</a:t>
            </a:r>
          </a:p>
        </p:txBody>
      </p:sp>
      <p:sp>
        <p:nvSpPr>
          <p:cNvPr id="39" name="TextBox 38"/>
          <p:cNvSpPr txBox="1"/>
          <p:nvPr/>
        </p:nvSpPr>
        <p:spPr>
          <a:xfrm>
            <a:off x="6766560" y="5074920"/>
            <a:ext cx="4023360" cy="1325880"/>
          </a:xfrm>
          <a:prstGeom prst="rect">
            <a:avLst/>
          </a:prstGeom>
          <a:noFill/>
        </p:spPr>
        <p:txBody>
          <a:bodyPr wrap="square">
            <a:spAutoFit/>
          </a:bodyPr>
          <a:lstStyle/>
          <a:p>
            <a:pPr/>
            <a:r>
              <a:rPr lang="en-US" sz="1300" b="1" dirty="0">
                <a:solidFill>
                  <a:srgbClr val="353334"/>
                </a:solidFill>
                <a:latin typeface="Fjalla One"/>
              </a:rPr>
              <a:t>WHAT IS DIFFERENT</a:t>
            </a:r>
            <a:endParaRPr lang="en-US" sz="1300" dirty="0"/>
          </a:p>
          <a:p>
            <a:pPr>
              <a:spcBef>
                <a:spcPts val="400"/>
              </a:spcBef>
            </a:pPr>
            <a:r>
              <a:rPr lang="en-US" sz="900" b="0" dirty="0">
                <a:solidFill>
                  <a:srgbClr val="3C3C41"/>
                </a:solidFill>
                <a:latin typeface="Mulish"/>
              </a:rPr>
              <a:t>Two explicit constraints sit at the core of the model:</a:t>
            </a:r>
            <a:endParaRPr lang="en-US" sz="900" dirty="0"/>
          </a:p>
          <a:p>
            <a:pPr>
              <a:spcBef>
                <a:spcPts val="200"/>
              </a:spcBef>
            </a:pPr>
            <a:r>
              <a:rPr lang="en-US" sz="900" b="1" dirty="0">
                <a:solidFill>
                  <a:srgbClr val="353334"/>
                </a:solidFill>
                <a:latin typeface="Mulish"/>
              </a:rPr>
              <a:t>Financial Constraint Solver: </a:t>
            </a:r>
            <a:r>
              <a:rPr lang="en-US" sz="900" b="0" dirty="0">
                <a:solidFill>
                  <a:srgbClr val="3C3C41"/>
                </a:solidFill>
                <a:latin typeface="Mulish"/>
              </a:rPr>
              <a:t>screens pathways against household affordability and risk appetite.</a:t>
            </a:r>
            <a:endParaRPr lang="en-US" sz="900" dirty="0"/>
          </a:p>
          <a:p>
            <a:pPr>
              <a:spcBef>
                <a:spcPts val="200"/>
              </a:spcBef>
            </a:pPr>
            <a:r>
              <a:rPr lang="en-US" sz="900" b="1" dirty="0">
                <a:solidFill>
                  <a:srgbClr val="353334"/>
                </a:solidFill>
                <a:latin typeface="Mulish"/>
              </a:rPr>
              <a:t>Parent-Student Conflict Index: </a:t>
            </a:r>
            <a:r>
              <a:rPr lang="en-US" sz="900" b="0" dirty="0">
                <a:solidFill>
                  <a:srgbClr val="3C3C41"/>
                </a:solidFill>
                <a:latin typeface="Mulish"/>
              </a:rPr>
              <a:t>quantifies disagreement before a family commits.</a:t>
            </a:r>
            <a:endParaRPr lang="en-US" sz="900" dirty="0"/>
          </a:p>
          <a:p>
            <a:pPr>
              <a:spcBef>
                <a:spcPts val="200"/>
              </a:spcBef>
            </a:pPr>
            <a:r>
              <a:rPr lang="en-US" sz="900" b="0" dirty="0">
                <a:solidFill>
                  <a:srgbClr val="3C3C41"/>
                </a:solidFill>
                <a:latin typeface="Mulish"/>
              </a:rPr>
              <a:t>Hyper-local STEAM innovation pathways are scored alongside conventional careers.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1051560"/>
            <a:ext cx="105156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1453896"/>
            <a:ext cx="146304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1856232"/>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8412480" y="640080"/>
            <a:ext cx="100584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37133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7717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45920" y="384048"/>
            <a:ext cx="8229600" cy="274320"/>
          </a:xfrm>
          <a:prstGeom prst="rect">
            <a:avLst/>
          </a:prstGeom>
          <a:noFill/>
        </p:spPr>
        <p:txBody>
          <a:bodyPr wrap="none" lIns="0" tIns="0" rIns="0" bIns="0">
            <a:spAutoFit/>
          </a:bodyPr>
          <a:lstStyle/>
          <a:p>
            <a:pPr>
              <a:defRPr sz="1050" b="1">
                <a:solidFill>
                  <a:srgbClr val="353334"/>
                </a:solidFill>
                <a:latin typeface="Mulish"/>
              </a:defRPr>
            </a:pPr>
            <a:r>
              <a:t>DATAQUEST 3.0  ·  ROUND 1</a:t>
            </a:r>
          </a:p>
        </p:txBody>
      </p:sp>
      <p:sp>
        <p:nvSpPr>
          <p:cNvPr id="21" name="TextBox 20"/>
          <p:cNvSpPr txBox="1"/>
          <p:nvPr/>
        </p:nvSpPr>
        <p:spPr>
          <a:xfrm>
            <a:off x="1645920" y="621792"/>
            <a:ext cx="9144000" cy="777240"/>
          </a:xfrm>
          <a:prstGeom prst="rect">
            <a:avLst/>
          </a:prstGeom>
          <a:noFill/>
        </p:spPr>
        <p:txBody>
          <a:bodyPr wrap="square" lIns="0" tIns="0" rIns="0" bIns="0">
            <a:spAutoFit/>
          </a:bodyPr>
          <a:lstStyle/>
          <a:p>
            <a:r>
              <a:rPr sz="3600" b="1">
                <a:solidFill>
                  <a:srgbClr val="FD1485"/>
                </a:solidFill>
                <a:latin typeface="Fjalla One"/>
              </a:rPr>
              <a:t>04  </a:t>
            </a:r>
            <a:r>
              <a:rPr sz="3200" b="1">
                <a:solidFill>
                  <a:srgbClr val="353334"/>
                </a:solidFill>
                <a:latin typeface="Fjalla One"/>
              </a:rPr>
              <a:t>System Architecture</a:t>
            </a:r>
          </a:p>
        </p:txBody>
      </p:sp>
      <p:sp>
        <p:nvSpPr>
          <p:cNvPr id="22" name="Rectangle 21"/>
          <p:cNvSpPr/>
          <p:nvPr/>
        </p:nvSpPr>
        <p:spPr>
          <a:xfrm>
            <a:off x="1645920" y="1444752"/>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1517904"/>
            <a:ext cx="9418320" cy="320040"/>
          </a:xfrm>
          <a:prstGeom prst="rect">
            <a:avLst/>
          </a:prstGeom>
          <a:noFill/>
        </p:spPr>
        <p:txBody>
          <a:bodyPr wrap="none" lIns="0" tIns="0" rIns="0" bIns="0">
            <a:spAutoFit/>
          </a:bodyPr>
          <a:lstStyle/>
          <a:p>
            <a:pPr>
              <a:defRPr sz="1100">
                <a:solidFill>
                  <a:srgbClr val="6E6E73"/>
                </a:solidFill>
                <a:latin typeface="Mulish"/>
              </a:defRPr>
            </a:pPr>
            <a:r>
              <a:t>System diagram is the primary visual · Engineering decisions · Validation</a:t>
            </a:r>
          </a:p>
        </p:txBody>
      </p:sp>
      <p:sp>
        <p:nvSpPr>
          <p:cNvPr id="24" name="Rounded Rectangle 23"/>
          <p:cNvSpPr/>
          <p:nvPr/>
        </p:nvSpPr>
        <p:spPr>
          <a:xfrm>
            <a:off x="1645920" y="2011680"/>
            <a:ext cx="9418320" cy="265176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965960" y="1883664"/>
            <a:ext cx="1600200" cy="256032"/>
          </a:xfrm>
          <a:prstGeom prst="roundRect">
            <a:avLst>
              <a:gd name="adj" fmla="val 50000"/>
            </a:avLst>
          </a:prstGeom>
          <a:solidFill>
            <a:srgbClr val="353334"/>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SYSTEM DIAGRAM</a:t>
            </a:r>
          </a:p>
        </p:txBody>
      </p:sp>
      <p:sp>
        <p:nvSpPr>
          <p:cNvPr id="26" name="Rounded Rectangle 25"/>
          <p:cNvSpPr/>
          <p:nvPr/>
        </p:nvSpPr>
        <p:spPr>
          <a:xfrm>
            <a:off x="1920240" y="2331720"/>
            <a:ext cx="8869680" cy="2148840"/>
          </a:xfrm>
          <a:prstGeom prst="roundRect">
            <a:avLst>
              <a:gd name="adj" fmla="val 3500"/>
            </a:avLst>
          </a:prstGeom>
          <a:solidFill>
            <a:srgbClr val="FFFFF1"/>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1645920" y="4892040"/>
            <a:ext cx="2971800" cy="164592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1965960" y="4764024"/>
            <a:ext cx="1600200" cy="256032"/>
          </a:xfrm>
          <a:prstGeom prst="roundRect">
            <a:avLst>
              <a:gd name="adj" fmla="val 50000"/>
            </a:avLst>
          </a:prstGeom>
          <a:solidFill>
            <a:srgbClr val="FFB903"/>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353334"/>
                </a:solidFill>
                <a:latin typeface="Mulish"/>
              </a:defRPr>
            </a:pPr>
            <a:r>
              <a:t>TECH 01</a:t>
            </a:r>
          </a:p>
        </p:txBody>
      </p:sp>
      <p:sp>
        <p:nvSpPr>
          <p:cNvPr id="30" name="TextBox 29"/>
          <p:cNvSpPr txBox="1"/>
          <p:nvPr/>
        </p:nvSpPr>
        <p:spPr>
          <a:xfrm>
            <a:off x="1828800" y="5093208"/>
            <a:ext cx="2606040" cy="1325880"/>
          </a:xfrm>
          <a:prstGeom prst="rect">
            <a:avLst/>
          </a:prstGeom>
          <a:noFill/>
        </p:spPr>
        <p:txBody>
          <a:bodyPr wrap="square">
            <a:spAutoFit/>
          </a:bodyPr>
          <a:lstStyle/>
          <a:p>
            <a:pPr/>
            <a:r>
              <a:rPr lang="en-US" sz="1100" b="1" dirty="0">
                <a:solidFill>
                  <a:srgbClr val="353334"/>
                </a:solidFill>
                <a:latin typeface="Fjalla One"/>
              </a:rPr>
              <a:t>KEY TECHNICAL DECISION</a:t>
            </a:r>
            <a:endParaRPr lang="en-US" sz="1100" dirty="0"/>
          </a:p>
          <a:p>
            <a:pPr>
              <a:spcBef>
                <a:spcPts val="200"/>
              </a:spcBef>
            </a:pPr>
            <a:r>
              <a:rPr lang="en-US" sz="800" b="1" dirty="0">
                <a:solidFill>
                  <a:srgbClr val="C98F00"/>
                </a:solidFill>
                <a:latin typeface="Mulish"/>
              </a:rPr>
              <a:t>Psychometric and financial vectorization with normalization</a:t>
            </a:r>
            <a:endParaRPr lang="en-US" sz="800" dirty="0"/>
          </a:p>
          <a:p>
            <a:pPr>
              <a:spcBef>
                <a:spcPts val="300"/>
              </a:spcBef>
            </a:pPr>
            <a:r>
              <a:rPr lang="en-US" sz="800" b="0" dirty="0">
                <a:solidFill>
                  <a:srgbClr val="3C3C41"/>
                </a:solidFill>
                <a:latin typeface="Mulish"/>
              </a:rPr>
              <a:t>An explainable mathematical pipeline (normalization, constraint solving, a transparent index) instead of one opaque recommender, so families see why a pathway ranks where it does and affordability limits stay hard and auditable.</a:t>
            </a:r>
            <a:endParaRPr lang="en-US" sz="800" dirty="0"/>
          </a:p>
        </p:txBody>
      </p:sp>
      <p:sp>
        <p:nvSpPr>
          <p:cNvPr id="31" name="Rounded Rectangle 30"/>
          <p:cNvSpPr/>
          <p:nvPr/>
        </p:nvSpPr>
        <p:spPr>
          <a:xfrm>
            <a:off x="4864608" y="4892040"/>
            <a:ext cx="2971800" cy="164592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5184648" y="4764024"/>
            <a:ext cx="160020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TECH 02</a:t>
            </a:r>
          </a:p>
        </p:txBody>
      </p:sp>
      <p:sp>
        <p:nvSpPr>
          <p:cNvPr id="33" name="TextBox 32"/>
          <p:cNvSpPr txBox="1"/>
          <p:nvPr/>
        </p:nvSpPr>
        <p:spPr>
          <a:xfrm>
            <a:off x="5047488" y="5093208"/>
            <a:ext cx="2606040" cy="1325880"/>
          </a:xfrm>
          <a:prstGeom prst="rect">
            <a:avLst/>
          </a:prstGeom>
          <a:noFill/>
        </p:spPr>
        <p:txBody>
          <a:bodyPr wrap="square">
            <a:spAutoFit/>
          </a:bodyPr>
          <a:lstStyle/>
          <a:p>
            <a:pPr/>
            <a:r>
              <a:rPr lang="en-US" sz="1100" b="1" dirty="0">
                <a:solidFill>
                  <a:srgbClr val="353334"/>
                </a:solidFill>
                <a:latin typeface="Fjalla One"/>
              </a:rPr>
              <a:t>HARDEST PART</a:t>
            </a:r>
            <a:endParaRPr lang="en-US" sz="1100" dirty="0"/>
          </a:p>
          <a:p>
            <a:pPr>
              <a:spcBef>
                <a:spcPts val="200"/>
              </a:spcBef>
            </a:pPr>
            <a:r>
              <a:rPr lang="en-US" sz="800" b="1" dirty="0">
                <a:solidFill>
                  <a:srgbClr val="FD1485"/>
                </a:solidFill>
                <a:latin typeface="Mulish"/>
              </a:rPr>
              <a:t>Financial Constraint Solver and Parent-Student Conflict Index</a:t>
            </a:r>
            <a:endParaRPr lang="en-US" sz="800" dirty="0"/>
          </a:p>
          <a:p>
            <a:pPr>
              <a:spcBef>
                <a:spcPts val="300"/>
              </a:spcBef>
            </a:pPr>
            <a:r>
              <a:rPr lang="en-US" sz="800" b="0" dirty="0">
                <a:solidFill>
                  <a:srgbClr val="3C3C41"/>
                </a:solidFill>
                <a:latin typeface="Mulish"/>
              </a:rPr>
              <a:t>Putting two stakeholders on one scale: subjective student traits and financial parental constraints are normalized into shared vectors the Conflict Index compares directly. Market indices are refreshed to keep the roadmap current.</a:t>
            </a:r>
            <a:endParaRPr lang="en-US" sz="800" dirty="0"/>
          </a:p>
        </p:txBody>
      </p:sp>
      <p:sp>
        <p:nvSpPr>
          <p:cNvPr id="34" name="Rounded Rectangle 33"/>
          <p:cNvSpPr/>
          <p:nvPr/>
        </p:nvSpPr>
        <p:spPr>
          <a:xfrm>
            <a:off x="8083296" y="4892040"/>
            <a:ext cx="2971800" cy="164592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8403336" y="4764024"/>
            <a:ext cx="1600200" cy="256032"/>
          </a:xfrm>
          <a:prstGeom prst="roundRect">
            <a:avLst>
              <a:gd name="adj" fmla="val 50000"/>
            </a:avLst>
          </a:prstGeom>
          <a:solidFill>
            <a:srgbClr val="079ED2"/>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TECH 03</a:t>
            </a:r>
          </a:p>
        </p:txBody>
      </p:sp>
      <p:sp>
        <p:nvSpPr>
          <p:cNvPr id="36" name="TextBox 35"/>
          <p:cNvSpPr txBox="1"/>
          <p:nvPr/>
        </p:nvSpPr>
        <p:spPr>
          <a:xfrm>
            <a:off x="8266176" y="5093208"/>
            <a:ext cx="2606040" cy="1325880"/>
          </a:xfrm>
          <a:prstGeom prst="rect">
            <a:avLst/>
          </a:prstGeom>
          <a:noFill/>
        </p:spPr>
        <p:txBody>
          <a:bodyPr wrap="square">
            <a:spAutoFit/>
          </a:bodyPr>
          <a:lstStyle/>
          <a:p>
            <a:pPr/>
            <a:r>
              <a:rPr lang="en-US" sz="1100" b="1" dirty="0">
                <a:solidFill>
                  <a:srgbClr val="353334"/>
                </a:solidFill>
                <a:latin typeface="Fjalla One"/>
              </a:rPr>
              <a:t>VALIDATION (PLANNED)</a:t>
            </a:r>
            <a:endParaRPr lang="en-US" sz="1100" dirty="0"/>
          </a:p>
          <a:p>
            <a:pPr>
              <a:spcBef>
                <a:spcPts val="200"/>
              </a:spcBef>
            </a:pPr>
            <a:r>
              <a:rPr lang="en-US" sz="800" b="1" dirty="0">
                <a:solidFill>
                  <a:srgbClr val="079ED2"/>
                </a:solidFill>
                <a:latin typeface="Mulish"/>
              </a:rPr>
              <a:t>Market-intelligence blending with dynamic hiring indices</a:t>
            </a:r>
            <a:endParaRPr lang="en-US" sz="800" dirty="0"/>
          </a:p>
          <a:p>
            <a:pPr>
              <a:spcBef>
                <a:spcPts val="300"/>
              </a:spcBef>
            </a:pPr>
            <a:r>
              <a:rPr lang="en-US" sz="800" b="0" dirty="0">
                <a:solidFill>
                  <a:srgbClr val="3C3C41"/>
                </a:solidFill>
                <a:latin typeface="Mulish"/>
              </a:rPr>
              <a:t>Run sample student and parent profiles through the full pipeline. Check every recommended pathway passes the Financial Constraint Solver, scores stay stable under small input changes, and a career counsellor reviews outputs.</a:t>
            </a:r>
            <a:endParaRPr lang="en-US" sz="800" dirty="0"/>
          </a:p>
        </p:txBody>
      </p:sp>
      <p:sp>
        <p:nvSpPr>
          <p:cNvPr id="901" name="Stage Label 901"/>
          <p:cNvSpPr/>
          <p:nvPr/>
        </p:nvSpPr>
        <p:spPr>
          <a:xfrm>
            <a:off x="2084832" y="2404872"/>
            <a:ext cx="2057400" cy="201168"/>
          </a:xfrm>
          <a:prstGeom prst="rect">
            <a:avLst/>
          </a:prstGeom>
          <a:noFill/>
          <a:ln>
            <a:noFill/>
          </a:ln>
        </p:spPr>
        <p:txBody>
          <a:bodyPr wrap="square" lIns="0" tIns="27432" rIns="0" bIns="27432" rtlCol="0" anchor="t">
            <a:noAutofit/>
          </a:bodyPr>
          <a:lstStyle/>
          <a:p>
            <a:pPr/>
            <a:r>
              <a:rPr lang="en-US" sz="800" b="1" dirty="0">
                <a:solidFill>
                  <a:srgbClr val="FD1485"/>
                </a:solidFill>
                <a:latin typeface="Fjalla One"/>
              </a:rPr>
              <a:t>A · INGEST</a:t>
            </a:r>
            <a:endParaRPr lang="en-US" sz="800" dirty="0"/>
          </a:p>
        </p:txBody>
      </p:sp>
      <p:sp>
        <p:nvSpPr>
          <p:cNvPr id="902" name="Stage Label 902"/>
          <p:cNvSpPr/>
          <p:nvPr/>
        </p:nvSpPr>
        <p:spPr>
          <a:xfrm>
            <a:off x="4251960" y="2404872"/>
            <a:ext cx="1874520" cy="201168"/>
          </a:xfrm>
          <a:prstGeom prst="rect">
            <a:avLst/>
          </a:prstGeom>
          <a:noFill/>
          <a:ln>
            <a:noFill/>
          </a:ln>
        </p:spPr>
        <p:txBody>
          <a:bodyPr wrap="square" lIns="0" tIns="27432" rIns="0" bIns="27432" rtlCol="0" anchor="t">
            <a:noAutofit/>
          </a:bodyPr>
          <a:lstStyle/>
          <a:p>
            <a:pPr/>
            <a:r>
              <a:rPr lang="en-US" sz="800" b="1" dirty="0">
                <a:solidFill>
                  <a:srgbClr val="079ED2"/>
                </a:solidFill>
                <a:latin typeface="Fjalla One"/>
              </a:rPr>
              <a:t>B · VECTORIZE, NORMALIZE, SOLVE</a:t>
            </a:r>
            <a:endParaRPr lang="en-US" sz="800" dirty="0"/>
          </a:p>
        </p:txBody>
      </p:sp>
      <p:sp>
        <p:nvSpPr>
          <p:cNvPr id="903" name="Stage Label 903"/>
          <p:cNvSpPr/>
          <p:nvPr/>
        </p:nvSpPr>
        <p:spPr>
          <a:xfrm>
            <a:off x="6236208" y="2404872"/>
            <a:ext cx="2423160" cy="201168"/>
          </a:xfrm>
          <a:prstGeom prst="rect">
            <a:avLst/>
          </a:prstGeom>
          <a:noFill/>
          <a:ln>
            <a:noFill/>
          </a:ln>
        </p:spPr>
        <p:txBody>
          <a:bodyPr wrap="square" lIns="0" tIns="27432" rIns="0" bIns="27432" rtlCol="0" anchor="t">
            <a:noAutofit/>
          </a:bodyPr>
          <a:lstStyle/>
          <a:p>
            <a:pPr/>
            <a:r>
              <a:rPr lang="en-US" sz="800" b="1" dirty="0">
                <a:solidFill>
                  <a:srgbClr val="C98F00"/>
                </a:solidFill>
                <a:latin typeface="Fjalla One"/>
              </a:rPr>
              <a:t>C · SYNTHESIZE</a:t>
            </a:r>
            <a:endParaRPr lang="en-US" sz="800" dirty="0"/>
          </a:p>
        </p:txBody>
      </p:sp>
      <p:sp>
        <p:nvSpPr>
          <p:cNvPr id="904" name="Stage Label 904"/>
          <p:cNvSpPr/>
          <p:nvPr/>
        </p:nvSpPr>
        <p:spPr>
          <a:xfrm>
            <a:off x="8769096" y="2404872"/>
            <a:ext cx="2039112" cy="201168"/>
          </a:xfrm>
          <a:prstGeom prst="rect">
            <a:avLst/>
          </a:prstGeom>
          <a:noFill/>
          <a:ln>
            <a:noFill/>
          </a:ln>
        </p:spPr>
        <p:txBody>
          <a:bodyPr wrap="square" lIns="0" tIns="27432" rIns="0" bIns="27432" rtlCol="0" anchor="t">
            <a:noAutofit/>
          </a:bodyPr>
          <a:lstStyle/>
          <a:p>
            <a:pPr/>
            <a:r>
              <a:rPr lang="en-US" sz="800" b="1" dirty="0">
                <a:solidFill>
                  <a:srgbClr val="353334"/>
                </a:solidFill>
                <a:latin typeface="Fjalla One"/>
              </a:rPr>
              <a:t>OUTPUT</a:t>
            </a:r>
            <a:endParaRPr lang="en-US" sz="800" dirty="0"/>
          </a:p>
        </p:txBody>
      </p:sp>
      <p:sp>
        <p:nvSpPr>
          <p:cNvPr id="905" name="Diagram Box 905"/>
          <p:cNvSpPr/>
          <p:nvPr/>
        </p:nvSpPr>
        <p:spPr>
          <a:xfrm>
            <a:off x="2084832" y="2633472"/>
            <a:ext cx="1874520" cy="832104"/>
          </a:xfrm>
          <a:prstGeom prst="rect">
            <a:avLst/>
          </a:prstGeom>
          <a:solidFill>
            <a:srgbClr val="FFFFFF"/>
          </a:solidFill>
          <a:ln w="9525">
            <a:solidFill>
              <a:srgbClr val="353334"/>
            </a:solidFill>
          </a:ln>
        </p:spPr>
        <p:txBody>
          <a:bodyPr wrap="square" lIns="64008" tIns="27432" rIns="64008" bIns="27432" rtlCol="0" anchor="ctr">
            <a:noAutofit/>
          </a:bodyPr>
          <a:lstStyle/>
          <a:p>
            <a:pPr algn="ctr"/>
            <a:r>
              <a:rPr lang="en-US" sz="850" b="1" dirty="0">
                <a:solidFill>
                  <a:srgbClr val="353334"/>
                </a:solidFill>
                <a:latin typeface="Fjalla One"/>
              </a:rPr>
              <a:t>Student psychometric assessment</a:t>
            </a:r>
            <a:endParaRPr lang="en-US" sz="850" dirty="0"/>
          </a:p>
          <a:p>
            <a:pPr algn="ctr">
              <a:spcBef>
                <a:spcPts val="100"/>
              </a:spcBef>
            </a:pPr>
            <a:r>
              <a:rPr lang="en-US" sz="750" b="0" dirty="0">
                <a:solidFill>
                  <a:srgbClr val="3C3C41"/>
                </a:solidFill>
                <a:latin typeface="Mulish"/>
              </a:rPr>
              <a:t>aptitude, cognitive preferences, interests</a:t>
            </a:r>
            <a:endParaRPr lang="en-US" sz="750" dirty="0"/>
          </a:p>
        </p:txBody>
      </p:sp>
      <p:sp>
        <p:nvSpPr>
          <p:cNvPr id="906" name="Diagram Box 906"/>
          <p:cNvSpPr/>
          <p:nvPr/>
        </p:nvSpPr>
        <p:spPr>
          <a:xfrm>
            <a:off x="2084832" y="3557016"/>
            <a:ext cx="1874520" cy="832104"/>
          </a:xfrm>
          <a:prstGeom prst="rect">
            <a:avLst/>
          </a:prstGeom>
          <a:solidFill>
            <a:srgbClr val="FFFFFF"/>
          </a:solidFill>
          <a:ln w="9525">
            <a:solidFill>
              <a:srgbClr val="353334"/>
            </a:solidFill>
          </a:ln>
        </p:spPr>
        <p:txBody>
          <a:bodyPr wrap="square" lIns="64008" tIns="27432" rIns="64008" bIns="27432" rtlCol="0" anchor="ctr">
            <a:noAutofit/>
          </a:bodyPr>
          <a:lstStyle/>
          <a:p>
            <a:pPr algn="ctr"/>
            <a:r>
              <a:rPr lang="en-US" sz="850" b="1" dirty="0">
                <a:solidFill>
                  <a:srgbClr val="353334"/>
                </a:solidFill>
                <a:latin typeface="Fjalla One"/>
              </a:rPr>
              <a:t>Parent inputs</a:t>
            </a:r>
            <a:endParaRPr lang="en-US" sz="850" dirty="0"/>
          </a:p>
          <a:p>
            <a:pPr algn="ctr">
              <a:spcBef>
                <a:spcPts val="100"/>
              </a:spcBef>
            </a:pPr>
            <a:r>
              <a:rPr lang="en-US" sz="750" b="0" dirty="0">
                <a:solidFill>
                  <a:srgbClr val="3C3C41"/>
                </a:solidFill>
                <a:latin typeface="Mulish"/>
              </a:rPr>
              <a:t>affordability, risk appetite, socio-economic mobility, aspirations</a:t>
            </a:r>
            <a:endParaRPr lang="en-US" sz="750" dirty="0"/>
          </a:p>
        </p:txBody>
      </p:sp>
      <p:sp>
        <p:nvSpPr>
          <p:cNvPr id="907" name="Diagram Box 907"/>
          <p:cNvSpPr/>
          <p:nvPr/>
        </p:nvSpPr>
        <p:spPr>
          <a:xfrm>
            <a:off x="4251960" y="2633472"/>
            <a:ext cx="1691640" cy="524256"/>
          </a:xfrm>
          <a:prstGeom prst="rect">
            <a:avLst/>
          </a:prstGeom>
          <a:solidFill>
            <a:srgbClr val="FFFFFF"/>
          </a:solidFill>
          <a:ln w="9525">
            <a:solidFill>
              <a:srgbClr val="353334"/>
            </a:solidFill>
          </a:ln>
        </p:spPr>
        <p:txBody>
          <a:bodyPr wrap="square" lIns="64008" tIns="27432" rIns="64008" bIns="27432" rtlCol="0" anchor="ctr">
            <a:noAutofit/>
          </a:bodyPr>
          <a:lstStyle/>
          <a:p>
            <a:pPr algn="ctr"/>
            <a:r>
              <a:rPr lang="en-US" sz="850" b="1" dirty="0">
                <a:solidFill>
                  <a:srgbClr val="353334"/>
                </a:solidFill>
                <a:latin typeface="Fjalla One"/>
              </a:rPr>
              <a:t>Vectorization and normalization</a:t>
            </a:r>
            <a:endParaRPr lang="en-US" sz="850" dirty="0"/>
          </a:p>
        </p:txBody>
      </p:sp>
      <p:sp>
        <p:nvSpPr>
          <p:cNvPr id="908" name="Diagram Box 908"/>
          <p:cNvSpPr/>
          <p:nvPr/>
        </p:nvSpPr>
        <p:spPr>
          <a:xfrm>
            <a:off x="4251960" y="3249168"/>
            <a:ext cx="1691640" cy="524256"/>
          </a:xfrm>
          <a:prstGeom prst="rect">
            <a:avLst/>
          </a:prstGeom>
          <a:solidFill>
            <a:srgbClr val="FFF4D6"/>
          </a:solidFill>
          <a:ln w="9525">
            <a:solidFill>
              <a:srgbClr val="353334"/>
            </a:solidFill>
          </a:ln>
        </p:spPr>
        <p:txBody>
          <a:bodyPr wrap="square" lIns="64008" tIns="27432" rIns="64008" bIns="27432" rtlCol="0" anchor="ctr">
            <a:noAutofit/>
          </a:bodyPr>
          <a:lstStyle/>
          <a:p>
            <a:pPr algn="ctr"/>
            <a:r>
              <a:rPr lang="en-US" sz="850" b="1" dirty="0">
                <a:solidFill>
                  <a:srgbClr val="353334"/>
                </a:solidFill>
                <a:latin typeface="Fjalla One"/>
              </a:rPr>
              <a:t>Financial Constraint Solver</a:t>
            </a:r>
            <a:endParaRPr lang="en-US" sz="850" dirty="0"/>
          </a:p>
        </p:txBody>
      </p:sp>
      <p:sp>
        <p:nvSpPr>
          <p:cNvPr id="909" name="Diagram Box 909"/>
          <p:cNvSpPr/>
          <p:nvPr/>
        </p:nvSpPr>
        <p:spPr>
          <a:xfrm>
            <a:off x="4251960" y="3864864"/>
            <a:ext cx="1691640" cy="524256"/>
          </a:xfrm>
          <a:prstGeom prst="rect">
            <a:avLst/>
          </a:prstGeom>
          <a:solidFill>
            <a:srgbClr val="FFE3F0"/>
          </a:solidFill>
          <a:ln w="9525">
            <a:solidFill>
              <a:srgbClr val="353334"/>
            </a:solidFill>
          </a:ln>
        </p:spPr>
        <p:txBody>
          <a:bodyPr wrap="square" lIns="64008" tIns="27432" rIns="64008" bIns="27432" rtlCol="0" anchor="ctr">
            <a:noAutofit/>
          </a:bodyPr>
          <a:lstStyle/>
          <a:p>
            <a:pPr algn="ctr"/>
            <a:r>
              <a:rPr lang="en-US" sz="850" b="1" dirty="0">
                <a:solidFill>
                  <a:srgbClr val="353334"/>
                </a:solidFill>
                <a:latin typeface="Fjalla One"/>
              </a:rPr>
              <a:t>Parent-Student Conflict Index</a:t>
            </a:r>
            <a:endParaRPr lang="en-US" sz="850" dirty="0"/>
          </a:p>
        </p:txBody>
      </p:sp>
      <p:sp>
        <p:nvSpPr>
          <p:cNvPr id="910" name="Diagram Box 910"/>
          <p:cNvSpPr/>
          <p:nvPr/>
        </p:nvSpPr>
        <p:spPr>
          <a:xfrm>
            <a:off x="6236208" y="2633472"/>
            <a:ext cx="2240280" cy="1123614"/>
          </a:xfrm>
          <a:prstGeom prst="rect">
            <a:avLst/>
          </a:prstGeom>
          <a:solidFill>
            <a:srgbClr val="FFFFFF"/>
          </a:solidFill>
          <a:ln w="9525">
            <a:solidFill>
              <a:srgbClr val="353334"/>
            </a:solidFill>
          </a:ln>
        </p:spPr>
        <p:txBody>
          <a:bodyPr wrap="square" lIns="64008" tIns="27432" rIns="64008" bIns="27432" rtlCol="0" anchor="ctr">
            <a:noAutofit/>
          </a:bodyPr>
          <a:lstStyle/>
          <a:p>
            <a:pPr algn="ctr"/>
            <a:r>
              <a:rPr lang="en-US" sz="850" b="1" dirty="0">
                <a:solidFill>
                  <a:srgbClr val="353334"/>
                </a:solidFill>
                <a:latin typeface="Fjalla One"/>
              </a:rPr>
              <a:t>Market intelligence</a:t>
            </a:r>
            <a:endParaRPr lang="en-US" sz="850" dirty="0"/>
          </a:p>
          <a:p>
            <a:pPr algn="ctr">
              <a:spcBef>
                <a:spcPts val="100"/>
              </a:spcBef>
            </a:pPr>
            <a:r>
              <a:rPr lang="en-US" sz="750" b="0" dirty="0">
                <a:solidFill>
                  <a:srgbClr val="3C3C41"/>
                </a:solidFill>
                <a:latin typeface="Mulish"/>
              </a:rPr>
              <a:t>job velocity, economic disruption indices, geographic demand, hyper-local STEAM opportunities, entrance exams, rankings, scholarships</a:t>
            </a:r>
            <a:endParaRPr lang="en-US" sz="750" dirty="0"/>
          </a:p>
        </p:txBody>
      </p:sp>
      <p:sp>
        <p:nvSpPr>
          <p:cNvPr id="911" name="Diagram Box 911"/>
          <p:cNvSpPr/>
          <p:nvPr/>
        </p:nvSpPr>
        <p:spPr>
          <a:xfrm>
            <a:off x="6236208" y="3939966"/>
            <a:ext cx="2240280" cy="449154"/>
          </a:xfrm>
          <a:prstGeom prst="rect">
            <a:avLst/>
          </a:prstGeom>
          <a:solidFill>
            <a:srgbClr val="E3F4FB"/>
          </a:solidFill>
          <a:ln w="9525">
            <a:solidFill>
              <a:srgbClr val="353334"/>
            </a:solidFill>
          </a:ln>
        </p:spPr>
        <p:txBody>
          <a:bodyPr wrap="square" lIns="64008" tIns="27432" rIns="64008" bIns="27432" rtlCol="0" anchor="ctr">
            <a:noAutofit/>
          </a:bodyPr>
          <a:lstStyle/>
          <a:p>
            <a:pPr algn="ctr"/>
            <a:r>
              <a:rPr lang="en-US" sz="850" b="1" dirty="0">
                <a:solidFill>
                  <a:srgbClr val="353334"/>
                </a:solidFill>
                <a:latin typeface="Fjalla One"/>
              </a:rPr>
              <a:t>Roadmap generator</a:t>
            </a:r>
            <a:endParaRPr lang="en-US" sz="850" dirty="0"/>
          </a:p>
        </p:txBody>
      </p:sp>
      <p:sp>
        <p:nvSpPr>
          <p:cNvPr id="912" name="Diagram Box 912"/>
          <p:cNvSpPr/>
          <p:nvPr/>
        </p:nvSpPr>
        <p:spPr>
          <a:xfrm>
            <a:off x="8769096" y="2633472"/>
            <a:ext cx="1856232" cy="1755648"/>
          </a:xfrm>
          <a:prstGeom prst="rect">
            <a:avLst/>
          </a:prstGeom>
          <a:solidFill>
            <a:srgbClr val="FFFFFF"/>
          </a:solidFill>
          <a:ln w="12700">
            <a:solidFill>
              <a:srgbClr val="353334"/>
            </a:solidFill>
          </a:ln>
        </p:spPr>
        <p:txBody>
          <a:bodyPr wrap="square" lIns="64008" tIns="27432" rIns="64008" bIns="27432" rtlCol="0" anchor="ctr">
            <a:noAutofit/>
          </a:bodyPr>
          <a:lstStyle/>
          <a:p>
            <a:pPr algn="ctr"/>
            <a:r>
              <a:rPr lang="en-US" sz="850" b="1" dirty="0">
                <a:solidFill>
                  <a:srgbClr val="353334"/>
                </a:solidFill>
                <a:latin typeface="Fjalla One"/>
              </a:rPr>
              <a:t>Final output</a:t>
            </a:r>
            <a:endParaRPr lang="en-US" sz="850" dirty="0"/>
          </a:p>
          <a:p>
            <a:pPr algn="ctr">
              <a:spcBef>
                <a:spcPts val="400"/>
              </a:spcBef>
            </a:pPr>
            <a:r>
              <a:rPr lang="en-US" sz="800" b="0" dirty="0">
                <a:solidFill>
                  <a:srgbClr val="3C3C41"/>
                </a:solidFill>
                <a:latin typeface="Mulish"/>
              </a:rPr>
              <a:t>Composite scores</a:t>
            </a:r>
            <a:endParaRPr lang="en-US" sz="800" dirty="0"/>
          </a:p>
          <a:p>
            <a:pPr algn="ctr">
              <a:spcBef>
                <a:spcPts val="300"/>
              </a:spcBef>
            </a:pPr>
            <a:r>
              <a:rPr lang="en-US" sz="800" b="0" dirty="0">
                <a:solidFill>
                  <a:srgbClr val="3C3C41"/>
                </a:solidFill>
                <a:latin typeface="Mulish"/>
              </a:rPr>
              <a:t>Career domains and alignment gaps</a:t>
            </a:r>
            <a:endParaRPr lang="en-US" sz="800" dirty="0"/>
          </a:p>
          <a:p>
            <a:pPr algn="ctr">
              <a:spcBef>
                <a:spcPts val="300"/>
              </a:spcBef>
            </a:pPr>
            <a:r>
              <a:rPr lang="en-US" sz="800" b="0" dirty="0">
                <a:solidFill>
                  <a:srgbClr val="3C3C41"/>
                </a:solidFill>
                <a:latin typeface="Mulish"/>
              </a:rPr>
              <a:t>SWOT analytics</a:t>
            </a:r>
            <a:endParaRPr lang="en-US" sz="800" dirty="0"/>
          </a:p>
          <a:p>
            <a:pPr algn="ctr">
              <a:spcBef>
                <a:spcPts val="300"/>
              </a:spcBef>
            </a:pPr>
            <a:r>
              <a:rPr lang="en-US" sz="800" b="1" dirty="0">
                <a:solidFill>
                  <a:srgbClr val="FD1485"/>
                </a:solidFill>
                <a:latin typeface="Mulish"/>
              </a:rPr>
              <a:t>Financially viable roadmap</a:t>
            </a:r>
            <a:endParaRPr lang="en-US" sz="800" dirty="0"/>
          </a:p>
        </p:txBody>
      </p:sp>
      <p:cxnSp>
        <p:nvCxnSpPr>
          <p:cNvPr id="913" name="Connector 913"/>
          <p:cNvCxnSpPr/>
          <p:nvPr/>
        </p:nvCxnSpPr>
        <p:spPr>
          <a:xfrm flipV="1">
            <a:off x="3959352" y="2895600"/>
            <a:ext cx="292608" cy="153924"/>
          </a:xfrm>
          <a:prstGeom prst="straightConnector1">
            <a:avLst/>
          </a:prstGeom>
          <a:ln w="12700">
            <a:solidFill>
              <a:srgbClr val="353334"/>
            </a:solidFill>
            <a:tailEnd type="triangle" w="sm" len="sm"/>
          </a:ln>
        </p:spPr>
      </p:cxnSp>
      <p:cxnSp>
        <p:nvCxnSpPr>
          <p:cNvPr id="914" name="Connector 914"/>
          <p:cNvCxnSpPr/>
          <p:nvPr/>
        </p:nvCxnSpPr>
        <p:spPr>
          <a:xfrm flipV="1">
            <a:off x="3959352" y="2895600"/>
            <a:ext cx="292608" cy="1077468"/>
          </a:xfrm>
          <a:prstGeom prst="straightConnector1">
            <a:avLst/>
          </a:prstGeom>
          <a:ln w="12700">
            <a:solidFill>
              <a:srgbClr val="353334"/>
            </a:solidFill>
            <a:tailEnd type="triangle" w="sm" len="sm"/>
          </a:ln>
        </p:spPr>
      </p:cxnSp>
      <p:cxnSp>
        <p:nvCxnSpPr>
          <p:cNvPr id="915" name="Connector 915"/>
          <p:cNvCxnSpPr/>
          <p:nvPr/>
        </p:nvCxnSpPr>
        <p:spPr>
          <a:xfrm>
            <a:off x="5097780" y="3157728"/>
            <a:ext cx="0" cy="91440"/>
          </a:xfrm>
          <a:prstGeom prst="straightConnector1">
            <a:avLst/>
          </a:prstGeom>
          <a:ln w="12700">
            <a:solidFill>
              <a:srgbClr val="353334"/>
            </a:solidFill>
            <a:tailEnd type="triangle" w="sm" len="sm"/>
          </a:ln>
        </p:spPr>
      </p:cxnSp>
      <p:cxnSp>
        <p:nvCxnSpPr>
          <p:cNvPr id="916" name="Connector 916"/>
          <p:cNvCxnSpPr/>
          <p:nvPr/>
        </p:nvCxnSpPr>
        <p:spPr>
          <a:xfrm>
            <a:off x="5097780" y="3773424"/>
            <a:ext cx="0" cy="91440"/>
          </a:xfrm>
          <a:prstGeom prst="straightConnector1">
            <a:avLst/>
          </a:prstGeom>
          <a:ln w="12700">
            <a:solidFill>
              <a:srgbClr val="353334"/>
            </a:solidFill>
            <a:tailEnd type="triangle" w="sm" len="sm"/>
          </a:ln>
        </p:spPr>
      </p:cxnSp>
      <p:cxnSp>
        <p:nvCxnSpPr>
          <p:cNvPr id="917" name="Connector 917"/>
          <p:cNvCxnSpPr/>
          <p:nvPr/>
        </p:nvCxnSpPr>
        <p:spPr>
          <a:xfrm>
            <a:off x="5943600" y="3511296"/>
            <a:ext cx="292608" cy="598383"/>
          </a:xfrm>
          <a:prstGeom prst="straightConnector1">
            <a:avLst/>
          </a:prstGeom>
          <a:ln w="12700">
            <a:solidFill>
              <a:srgbClr val="353334"/>
            </a:solidFill>
            <a:tailEnd type="triangle" w="sm" len="sm"/>
          </a:ln>
        </p:spPr>
      </p:cxnSp>
      <p:cxnSp>
        <p:nvCxnSpPr>
          <p:cNvPr id="918" name="Connector 918"/>
          <p:cNvCxnSpPr/>
          <p:nvPr/>
        </p:nvCxnSpPr>
        <p:spPr>
          <a:xfrm>
            <a:off x="5943600" y="4126992"/>
            <a:ext cx="292608" cy="92415"/>
          </a:xfrm>
          <a:prstGeom prst="straightConnector1">
            <a:avLst/>
          </a:prstGeom>
          <a:ln w="12700">
            <a:solidFill>
              <a:srgbClr val="353334"/>
            </a:solidFill>
            <a:tailEnd type="triangle" w="sm" len="sm"/>
          </a:ln>
        </p:spPr>
      </p:cxnSp>
      <p:cxnSp>
        <p:nvCxnSpPr>
          <p:cNvPr id="919" name="Connector 919"/>
          <p:cNvCxnSpPr/>
          <p:nvPr/>
        </p:nvCxnSpPr>
        <p:spPr>
          <a:xfrm>
            <a:off x="7356348" y="3757086"/>
            <a:ext cx="0" cy="182880"/>
          </a:xfrm>
          <a:prstGeom prst="straightConnector1">
            <a:avLst/>
          </a:prstGeom>
          <a:ln w="12700">
            <a:solidFill>
              <a:srgbClr val="353334"/>
            </a:solidFill>
            <a:tailEnd type="triangle" w="sm" len="sm"/>
          </a:ln>
        </p:spPr>
      </p:cxnSp>
      <p:cxnSp>
        <p:nvCxnSpPr>
          <p:cNvPr id="920" name="Connector 920"/>
          <p:cNvCxnSpPr/>
          <p:nvPr/>
        </p:nvCxnSpPr>
        <p:spPr>
          <a:xfrm>
            <a:off x="8476488" y="4164543"/>
            <a:ext cx="292608" cy="0"/>
          </a:xfrm>
          <a:prstGeom prst="straightConnector1">
            <a:avLst/>
          </a:prstGeom>
          <a:ln w="12700">
            <a:solidFill>
              <a:srgbClr val="353334"/>
            </a:solidFill>
            <a:tailEnd type="triangle" w="sm" len="sm"/>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1051560"/>
            <a:ext cx="105156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1453896"/>
            <a:ext cx="146304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1856232"/>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8412480" y="640080"/>
            <a:ext cx="100584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37133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7717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45920" y="384048"/>
            <a:ext cx="8229600" cy="274320"/>
          </a:xfrm>
          <a:prstGeom prst="rect">
            <a:avLst/>
          </a:prstGeom>
          <a:noFill/>
        </p:spPr>
        <p:txBody>
          <a:bodyPr wrap="none" lIns="0" tIns="0" rIns="0" bIns="0">
            <a:spAutoFit/>
          </a:bodyPr>
          <a:lstStyle/>
          <a:p>
            <a:pPr>
              <a:defRPr sz="1050" b="1">
                <a:solidFill>
                  <a:srgbClr val="353334"/>
                </a:solidFill>
                <a:latin typeface="Mulish"/>
              </a:defRPr>
            </a:pPr>
            <a:r>
              <a:t>DATAQUEST 3.0  ·  ROUND 1</a:t>
            </a:r>
          </a:p>
        </p:txBody>
      </p:sp>
      <p:sp>
        <p:nvSpPr>
          <p:cNvPr id="21" name="TextBox 20"/>
          <p:cNvSpPr txBox="1"/>
          <p:nvPr/>
        </p:nvSpPr>
        <p:spPr>
          <a:xfrm>
            <a:off x="1645920" y="621792"/>
            <a:ext cx="9144000" cy="777240"/>
          </a:xfrm>
          <a:prstGeom prst="rect">
            <a:avLst/>
          </a:prstGeom>
          <a:noFill/>
        </p:spPr>
        <p:txBody>
          <a:bodyPr wrap="square" lIns="0" tIns="0" rIns="0" bIns="0">
            <a:spAutoFit/>
          </a:bodyPr>
          <a:lstStyle/>
          <a:p>
            <a:r>
              <a:rPr sz="3600" b="1">
                <a:solidFill>
                  <a:srgbClr val="FD1485"/>
                </a:solidFill>
                <a:latin typeface="Fjalla One"/>
              </a:rPr>
              <a:t>05  </a:t>
            </a:r>
            <a:r>
              <a:rPr sz="3200" b="1">
                <a:solidFill>
                  <a:srgbClr val="353334"/>
                </a:solidFill>
                <a:latin typeface="Fjalla One"/>
              </a:rPr>
              <a:t>Feasibility &amp; Scope</a:t>
            </a:r>
          </a:p>
        </p:txBody>
      </p:sp>
      <p:sp>
        <p:nvSpPr>
          <p:cNvPr id="22" name="Rectangle 21"/>
          <p:cNvSpPr/>
          <p:nvPr/>
        </p:nvSpPr>
        <p:spPr>
          <a:xfrm>
            <a:off x="1645920" y="1444752"/>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1517904"/>
            <a:ext cx="9418320" cy="320040"/>
          </a:xfrm>
          <a:prstGeom prst="rect">
            <a:avLst/>
          </a:prstGeom>
          <a:noFill/>
        </p:spPr>
        <p:txBody>
          <a:bodyPr wrap="none" lIns="0" tIns="0" rIns="0" bIns="0">
            <a:spAutoFit/>
          </a:bodyPr>
          <a:lstStyle/>
          <a:p>
            <a:pPr>
              <a:defRPr sz="1100">
                <a:solidFill>
                  <a:srgbClr val="6E6E73"/>
                </a:solidFill>
                <a:latin typeface="Mulish"/>
              </a:defRPr>
            </a:pPr>
            <a:r>
              <a:t>Concrete boundaries · Operational run rate · Risk mitigation · Post-hackathon plans</a:t>
            </a:r>
          </a:p>
        </p:txBody>
      </p:sp>
      <p:sp>
        <p:nvSpPr>
          <p:cNvPr id="24" name="Rounded Rectangle 23"/>
          <p:cNvSpPr/>
          <p:nvPr/>
        </p:nvSpPr>
        <p:spPr>
          <a:xfrm>
            <a:off x="1645920" y="205740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965960" y="1929384"/>
            <a:ext cx="1600200" cy="256032"/>
          </a:xfrm>
          <a:prstGeom prst="roundRect">
            <a:avLst>
              <a:gd name="adj" fmla="val 50000"/>
            </a:avLst>
          </a:prstGeom>
          <a:solidFill>
            <a:srgbClr val="079ED2"/>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01 · BOUNDARIES</a:t>
            </a:r>
          </a:p>
        </p:txBody>
      </p:sp>
      <p:sp>
        <p:nvSpPr>
          <p:cNvPr id="26" name="TextBox 25"/>
          <p:cNvSpPr txBox="1"/>
          <p:nvPr/>
        </p:nvSpPr>
        <p:spPr>
          <a:xfrm>
            <a:off x="1920240" y="2313432"/>
            <a:ext cx="4023360" cy="1737360"/>
          </a:xfrm>
          <a:prstGeom prst="rect">
            <a:avLst/>
          </a:prstGeom>
          <a:noFill/>
        </p:spPr>
        <p:txBody>
          <a:bodyPr wrap="square">
            <a:spAutoFit/>
          </a:bodyPr>
          <a:lstStyle/>
          <a:p>
            <a:pPr/>
            <a:r>
              <a:rPr lang="en-US" sz="1300" b="1" dirty="0">
                <a:solidFill>
                  <a:srgbClr val="353334"/>
                </a:solidFill>
                <a:latin typeface="Fjalla One"/>
              </a:rPr>
              <a:t>1. SCOPE</a:t>
            </a:r>
            <a:endParaRPr lang="en-US" sz="1300" dirty="0"/>
          </a:p>
          <a:p>
            <a:pPr>
              <a:spcBef>
                <a:spcPts val="400"/>
              </a:spcBef>
            </a:pPr>
            <a:r>
              <a:rPr lang="en-US" sz="900" b="1" dirty="0">
                <a:solidFill>
                  <a:srgbClr val="353334"/>
                </a:solidFill>
                <a:latin typeface="Mulish"/>
              </a:rPr>
              <a:t>In: </a:t>
            </a:r>
            <a:r>
              <a:rPr lang="en-US" sz="900" b="0" dirty="0">
                <a:solidFill>
                  <a:srgbClr val="3C3C41"/>
                </a:solidFill>
                <a:latin typeface="Mulish"/>
              </a:rPr>
              <a:t>End-to-end guidance for one student profile: student and parent input forms, normalization, Financial Constraint Solver, Parent-Student Conflict Index, composite scores, career domain matches with alignment gaps, and a roadmap of pathways, exams and scholarships.</a:t>
            </a:r>
            <a:endParaRPr lang="en-US" sz="900" dirty="0"/>
          </a:p>
          <a:p>
            <a:pPr>
              <a:spcBef>
                <a:spcPts val="400"/>
              </a:spcBef>
            </a:pPr>
            <a:r>
              <a:rPr lang="en-US" sz="900" b="1" dirty="0">
                <a:solidFill>
                  <a:srgbClr val="353334"/>
                </a:solidFill>
                <a:latin typeface="Mulish"/>
              </a:rPr>
              <a:t>Out: </a:t>
            </a:r>
            <a:r>
              <a:rPr lang="en-US" sz="900" b="0" dirty="0">
                <a:solidFill>
                  <a:srgbClr val="3C3C41"/>
                </a:solidFill>
                <a:latin typeface="Mulish"/>
              </a:rPr>
              <a:t>Live national data feeds at scale, school-wide hyper-local deployments and counsellor dashboards for many students, all deferred beyond Round 1.</a:t>
            </a:r>
            <a:endParaRPr lang="en-US" sz="900" dirty="0"/>
          </a:p>
        </p:txBody>
      </p:sp>
      <p:sp>
        <p:nvSpPr>
          <p:cNvPr id="27" name="Rounded Rectangle 26"/>
          <p:cNvSpPr/>
          <p:nvPr/>
        </p:nvSpPr>
        <p:spPr>
          <a:xfrm>
            <a:off x="6492240" y="205740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812280" y="1929384"/>
            <a:ext cx="1600200" cy="256032"/>
          </a:xfrm>
          <a:prstGeom prst="roundRect">
            <a:avLst>
              <a:gd name="adj" fmla="val 50000"/>
            </a:avLst>
          </a:prstGeom>
          <a:solidFill>
            <a:srgbClr val="FFB903"/>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353334"/>
                </a:solidFill>
                <a:latin typeface="Mulish"/>
              </a:defRPr>
            </a:pPr>
            <a:r>
              <a:t>02 · ECONOMICS</a:t>
            </a:r>
          </a:p>
        </p:txBody>
      </p:sp>
      <p:sp>
        <p:nvSpPr>
          <p:cNvPr id="29" name="TextBox 28"/>
          <p:cNvSpPr txBox="1"/>
          <p:nvPr/>
        </p:nvSpPr>
        <p:spPr>
          <a:xfrm>
            <a:off x="6766560" y="2313432"/>
            <a:ext cx="4023360" cy="1737360"/>
          </a:xfrm>
          <a:prstGeom prst="rect">
            <a:avLst/>
          </a:prstGeom>
          <a:noFill/>
        </p:spPr>
        <p:txBody>
          <a:bodyPr wrap="square">
            <a:spAutoFit/>
          </a:bodyPr>
          <a:lstStyle/>
          <a:p>
            <a:pPr/>
            <a:r>
              <a:rPr lang="en-US" sz="1300" b="1" dirty="0">
                <a:solidFill>
                  <a:srgbClr val="353334"/>
                </a:solidFill>
                <a:latin typeface="Fjalla One"/>
              </a:rPr>
              <a:t>2. RUNNING COST</a:t>
            </a:r>
            <a:endParaRPr lang="en-US" sz="1300" dirty="0"/>
          </a:p>
          <a:p>
            <a:pPr>
              <a:spcBef>
                <a:spcPts val="400"/>
              </a:spcBef>
            </a:pPr>
            <a:r>
              <a:rPr lang="en-US" sz="900" b="0" dirty="0">
                <a:solidFill>
                  <a:srgbClr val="3C3C41"/>
                </a:solidFill>
                <a:latin typeface="Mulish"/>
              </a:rPr>
              <a:t>The core engine is mathematical, so each assessment needs little compute. Main cost drivers are hosting, a database for profiles and market indices, and market-data access.</a:t>
            </a:r>
            <a:endParaRPr lang="en-US" sz="900" dirty="0"/>
          </a:p>
          <a:p>
            <a:pPr>
              <a:spcBef>
                <a:spcPts val="400"/>
              </a:spcBef>
            </a:pPr>
            <a:r>
              <a:rPr lang="en-US" sz="900" b="0" dirty="0">
                <a:solidFill>
                  <a:srgbClr val="3C3C41"/>
                </a:solidFill>
                <a:latin typeface="Mulish"/>
              </a:rPr>
              <a:t>The prototype is designed for low-tier cloud resources.</a:t>
            </a:r>
            <a:endParaRPr lang="en-US" sz="900" dirty="0"/>
          </a:p>
          <a:p>
            <a:pPr>
              <a:spcBef>
                <a:spcPts val="400"/>
              </a:spcBef>
            </a:pPr>
            <a:r>
              <a:rPr lang="en-US" sz="900" b="1" dirty="0">
                <a:solidFill>
                  <a:srgbClr val="353334"/>
                </a:solidFill>
                <a:latin typeface="Mulish"/>
              </a:rPr>
              <a:t>Estimated monthly spend: </a:t>
            </a:r>
            <a:r>
              <a:rPr lang="en-US" sz="900" b="0" dirty="0">
                <a:solidFill>
                  <a:srgbClr val="3C3C41"/>
                </a:solidFill>
                <a:latin typeface="Mulish"/>
              </a:rPr>
              <a:t>[Monthly cost estimate in INR]</a:t>
            </a:r>
            <a:endParaRPr lang="en-US" sz="900" dirty="0"/>
          </a:p>
        </p:txBody>
      </p:sp>
      <p:sp>
        <p:nvSpPr>
          <p:cNvPr id="30" name="Rounded Rectangle 29"/>
          <p:cNvSpPr/>
          <p:nvPr/>
        </p:nvSpPr>
        <p:spPr>
          <a:xfrm>
            <a:off x="1645920" y="438912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1965960" y="4261104"/>
            <a:ext cx="160020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03 · CONTINGENCY</a:t>
            </a:r>
          </a:p>
        </p:txBody>
      </p:sp>
      <p:sp>
        <p:nvSpPr>
          <p:cNvPr id="32" name="TextBox 31"/>
          <p:cNvSpPr txBox="1"/>
          <p:nvPr/>
        </p:nvSpPr>
        <p:spPr>
          <a:xfrm>
            <a:off x="1920240" y="4645152"/>
            <a:ext cx="4023360" cy="1737360"/>
          </a:xfrm>
          <a:prstGeom prst="rect">
            <a:avLst/>
          </a:prstGeom>
          <a:noFill/>
        </p:spPr>
        <p:txBody>
          <a:bodyPr wrap="square">
            <a:spAutoFit/>
          </a:bodyPr>
          <a:lstStyle/>
          <a:p>
            <a:pPr/>
            <a:r>
              <a:rPr lang="en-US" sz="1300" b="1" dirty="0">
                <a:solidFill>
                  <a:srgbClr val="353334"/>
                </a:solidFill>
                <a:latin typeface="Fjalla One"/>
              </a:rPr>
              <a:t>3. RISKS &amp; FALLBACK</a:t>
            </a:r>
            <a:endParaRPr lang="en-US" sz="1300" dirty="0"/>
          </a:p>
          <a:p>
            <a:pPr>
              <a:spcBef>
                <a:spcPts val="400"/>
              </a:spcBef>
            </a:pPr>
            <a:r>
              <a:rPr lang="en-US" sz="900" b="1" dirty="0">
                <a:solidFill>
                  <a:srgbClr val="353334"/>
                </a:solidFill>
                <a:latin typeface="Mulish"/>
              </a:rPr>
              <a:t>Stale or missing market data: </a:t>
            </a:r>
            <a:r>
              <a:rPr lang="en-US" sz="900" b="0" dirty="0">
                <a:solidFill>
                  <a:srgbClr val="3C3C41"/>
                </a:solidFill>
                <a:latin typeface="Mulish"/>
              </a:rPr>
              <a:t>fall back to the last verified index snapshot and show its date.</a:t>
            </a:r>
            <a:endParaRPr lang="en-US" sz="900" dirty="0"/>
          </a:p>
          <a:p>
            <a:pPr>
              <a:spcBef>
                <a:spcPts val="400"/>
              </a:spcBef>
            </a:pPr>
            <a:r>
              <a:rPr lang="en-US" sz="900" b="1" dirty="0">
                <a:solidFill>
                  <a:srgbClr val="353334"/>
                </a:solidFill>
                <a:latin typeface="Mulish"/>
              </a:rPr>
              <a:t>Incomplete or inaccurate parent inputs: </a:t>
            </a:r>
            <a:r>
              <a:rPr lang="en-US" sz="900" b="0" dirty="0">
                <a:solidFill>
                  <a:srgbClr val="3C3C41"/>
                </a:solidFill>
                <a:latin typeface="Mulish"/>
              </a:rPr>
              <a:t>use ranges and conservative defaults, and flag lower confidence.</a:t>
            </a:r>
            <a:endParaRPr lang="en-US" sz="900" dirty="0"/>
          </a:p>
          <a:p>
            <a:pPr>
              <a:spcBef>
                <a:spcPts val="400"/>
              </a:spcBef>
            </a:pPr>
            <a:r>
              <a:rPr lang="en-US" sz="900" b="1" dirty="0">
                <a:solidFill>
                  <a:srgbClr val="353334"/>
                </a:solidFill>
                <a:latin typeface="Mulish"/>
              </a:rPr>
              <a:t>Biased psychometric signals: </a:t>
            </a:r>
            <a:r>
              <a:rPr lang="en-US" sz="900" b="0" dirty="0">
                <a:solidFill>
                  <a:srgbClr val="3C3C41"/>
                </a:solidFill>
                <a:latin typeface="Mulish"/>
              </a:rPr>
              <a:t>combine several indicators before scoring and display the confidence level.</a:t>
            </a:r>
            <a:endParaRPr lang="en-US" sz="900" dirty="0"/>
          </a:p>
        </p:txBody>
      </p:sp>
      <p:sp>
        <p:nvSpPr>
          <p:cNvPr id="33" name="Rounded Rectangle 32"/>
          <p:cNvSpPr/>
          <p:nvPr/>
        </p:nvSpPr>
        <p:spPr>
          <a:xfrm>
            <a:off x="6492240" y="438912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6812280" y="4261104"/>
            <a:ext cx="1600200" cy="256032"/>
          </a:xfrm>
          <a:prstGeom prst="roundRect">
            <a:avLst>
              <a:gd name="adj" fmla="val 50000"/>
            </a:avLst>
          </a:prstGeom>
          <a:solidFill>
            <a:srgbClr val="353334"/>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04 · HORIZON</a:t>
            </a:r>
          </a:p>
        </p:txBody>
      </p:sp>
      <p:sp>
        <p:nvSpPr>
          <p:cNvPr id="35" name="TextBox 34"/>
          <p:cNvSpPr txBox="1"/>
          <p:nvPr/>
        </p:nvSpPr>
        <p:spPr>
          <a:xfrm>
            <a:off x="6766560" y="4645152"/>
            <a:ext cx="4023360" cy="1737360"/>
          </a:xfrm>
          <a:prstGeom prst="rect">
            <a:avLst/>
          </a:prstGeom>
          <a:noFill/>
        </p:spPr>
        <p:txBody>
          <a:bodyPr wrap="square">
            <a:spAutoFit/>
          </a:bodyPr>
          <a:lstStyle/>
          <a:p>
            <a:pPr/>
            <a:r>
              <a:rPr lang="en-US" sz="1300" b="1" dirty="0">
                <a:solidFill>
                  <a:srgbClr val="353334"/>
                </a:solidFill>
                <a:latin typeface="Fjalla One"/>
              </a:rPr>
              <a:t>4. AFTER THE HACKATHON</a:t>
            </a:r>
            <a:endParaRPr lang="en-US" sz="1300" dirty="0"/>
          </a:p>
          <a:p>
            <a:pPr>
              <a:spcBef>
                <a:spcPts val="400"/>
              </a:spcBef>
            </a:pPr>
            <a:r>
              <a:rPr lang="en-US" sz="900" b="1" dirty="0">
                <a:solidFill>
                  <a:srgbClr val="353334"/>
                </a:solidFill>
                <a:latin typeface="Mulish"/>
              </a:rPr>
              <a:t>Next: </a:t>
            </a:r>
            <a:r>
              <a:rPr lang="en-US" sz="900" b="0" dirty="0">
                <a:solidFill>
                  <a:srgbClr val="3C3C41"/>
                </a:solidFill>
                <a:latin typeface="Mulish"/>
              </a:rPr>
              <a:t>live job-velocity, disruption-index and geographic-demand feeds, plus a maintained database of entrance exams, institutional rankings and scholarships.</a:t>
            </a:r>
            <a:endParaRPr lang="en-US" sz="900" dirty="0"/>
          </a:p>
          <a:p>
            <a:pPr>
              <a:spcBef>
                <a:spcPts val="400"/>
              </a:spcBef>
            </a:pPr>
            <a:r>
              <a:rPr lang="en-US" sz="900" b="1" dirty="0">
                <a:solidFill>
                  <a:srgbClr val="353334"/>
                </a:solidFill>
                <a:latin typeface="Mulish"/>
              </a:rPr>
              <a:t>Then: </a:t>
            </a:r>
            <a:r>
              <a:rPr lang="en-US" sz="900" b="0" dirty="0">
                <a:solidFill>
                  <a:srgbClr val="3C3C41"/>
                </a:solidFill>
                <a:latin typeface="Mulish"/>
              </a:rPr>
              <a:t>production hardening with consent and privacy controls for student and family financial data.</a:t>
            </a:r>
            <a:endParaRPr lang="en-US" sz="900" dirty="0"/>
          </a:p>
          <a:p>
            <a:pPr>
              <a:spcBef>
                <a:spcPts val="400"/>
              </a:spcBef>
            </a:pPr>
            <a:r>
              <a:rPr lang="en-US" sz="900" b="1" dirty="0">
                <a:solidFill>
                  <a:srgbClr val="353334"/>
                </a:solidFill>
                <a:latin typeface="Mulish"/>
              </a:rPr>
              <a:t>Later: </a:t>
            </a:r>
            <a:r>
              <a:rPr lang="en-US" sz="900" b="0" dirty="0">
                <a:solidFill>
                  <a:srgbClr val="3C3C41"/>
                </a:solidFill>
                <a:latin typeface="Mulish"/>
              </a:rPr>
              <a:t>school pilots and hyper-local STEAM innovation pathways, in line with Nano Mech Labs' goal of marketable solutions from school ecosystems.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1051560"/>
            <a:ext cx="105156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1453896"/>
            <a:ext cx="146304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1856232"/>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8412480" y="640080"/>
            <a:ext cx="100584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37133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7717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45920" y="384048"/>
            <a:ext cx="8229600" cy="274320"/>
          </a:xfrm>
          <a:prstGeom prst="rect">
            <a:avLst/>
          </a:prstGeom>
          <a:noFill/>
        </p:spPr>
        <p:txBody>
          <a:bodyPr wrap="none" lIns="0" tIns="0" rIns="0" bIns="0">
            <a:spAutoFit/>
          </a:bodyPr>
          <a:lstStyle/>
          <a:p>
            <a:pPr>
              <a:defRPr sz="1050" b="1">
                <a:solidFill>
                  <a:srgbClr val="353334"/>
                </a:solidFill>
                <a:latin typeface="Mulish"/>
              </a:defRPr>
            </a:pPr>
            <a:r>
              <a:t>DATAQUEST 3.0  ·  ROUND 1</a:t>
            </a:r>
          </a:p>
        </p:txBody>
      </p:sp>
      <p:sp>
        <p:nvSpPr>
          <p:cNvPr id="21" name="TextBox 20"/>
          <p:cNvSpPr txBox="1"/>
          <p:nvPr/>
        </p:nvSpPr>
        <p:spPr>
          <a:xfrm>
            <a:off x="1645920" y="621792"/>
            <a:ext cx="9144000" cy="777240"/>
          </a:xfrm>
          <a:prstGeom prst="rect">
            <a:avLst/>
          </a:prstGeom>
          <a:noFill/>
        </p:spPr>
        <p:txBody>
          <a:bodyPr wrap="square" lIns="0" tIns="0" rIns="0" bIns="0">
            <a:spAutoFit/>
          </a:bodyPr>
          <a:lstStyle/>
          <a:p>
            <a:r>
              <a:rPr sz="3600" b="1">
                <a:solidFill>
                  <a:srgbClr val="FD1485"/>
                </a:solidFill>
                <a:latin typeface="Fjalla One"/>
              </a:rPr>
              <a:t>06  </a:t>
            </a:r>
            <a:r>
              <a:rPr sz="3200" b="1">
                <a:solidFill>
                  <a:srgbClr val="353334"/>
                </a:solidFill>
                <a:latin typeface="Fjalla One"/>
              </a:rPr>
              <a:t>Impact &amp; Metrics</a:t>
            </a:r>
          </a:p>
        </p:txBody>
      </p:sp>
      <p:sp>
        <p:nvSpPr>
          <p:cNvPr id="22" name="Rectangle 21"/>
          <p:cNvSpPr/>
          <p:nvPr/>
        </p:nvSpPr>
        <p:spPr>
          <a:xfrm>
            <a:off x="1645920" y="1444752"/>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1517904"/>
            <a:ext cx="9418320" cy="320040"/>
          </a:xfrm>
          <a:prstGeom prst="rect">
            <a:avLst/>
          </a:prstGeom>
          <a:noFill/>
        </p:spPr>
        <p:txBody>
          <a:bodyPr wrap="none" lIns="0" tIns="0" rIns="0" bIns="0">
            <a:spAutoFit/>
          </a:bodyPr>
          <a:lstStyle/>
          <a:p>
            <a:pPr>
              <a:defRPr sz="1100">
                <a:solidFill>
                  <a:srgbClr val="6E6E73"/>
                </a:solidFill>
                <a:latin typeface="Mulish"/>
              </a:defRPr>
            </a:pPr>
            <a:r>
              <a:t>Primary measurable impact · Transparent calculation · Stakeholder advantages</a:t>
            </a:r>
          </a:p>
        </p:txBody>
      </p:sp>
      <p:sp>
        <p:nvSpPr>
          <p:cNvPr id="24" name="Rounded Rectangle 23"/>
          <p:cNvSpPr/>
          <p:nvPr/>
        </p:nvSpPr>
        <p:spPr>
          <a:xfrm>
            <a:off x="1645920" y="2011680"/>
            <a:ext cx="9418320" cy="182880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965960" y="1883664"/>
            <a:ext cx="160020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PRIMARY METRIC</a:t>
            </a:r>
          </a:p>
        </p:txBody>
      </p:sp>
      <p:sp>
        <p:nvSpPr>
          <p:cNvPr id="26" name="TextBox 25"/>
          <p:cNvSpPr txBox="1"/>
          <p:nvPr/>
        </p:nvSpPr>
        <p:spPr>
          <a:xfrm>
            <a:off x="1920240" y="2148840"/>
            <a:ext cx="4114800" cy="1371600"/>
          </a:xfrm>
          <a:prstGeom prst="rect">
            <a:avLst/>
          </a:prstGeom>
          <a:noFill/>
        </p:spPr>
        <p:txBody>
          <a:bodyPr wrap="square">
            <a:spAutoFit/>
          </a:bodyPr>
          <a:lstStyle/>
          <a:p>
            <a:pPr/>
            <a:r>
              <a:rPr lang="en-US" sz="4600" b="1" dirty="0">
                <a:solidFill>
                  <a:srgbClr val="FD1485"/>
                </a:solidFill>
                <a:latin typeface="Fjalla One"/>
              </a:rPr>
              <a:t>90%+</a:t>
            </a:r>
            <a:endParaRPr lang="en-US" sz="4600" dirty="0"/>
          </a:p>
          <a:p>
            <a:pPr>
              <a:spcBef>
                <a:spcPts val="200"/>
              </a:spcBef>
            </a:pPr>
            <a:r>
              <a:rPr lang="en-US" sz="1100" b="1" dirty="0">
                <a:solidFill>
                  <a:srgbClr val="353334"/>
                </a:solidFill>
                <a:latin typeface="Fjalla One"/>
              </a:rPr>
              <a:t>of Indian school and college students lack structured, evidence-based career guidance today.</a:t>
            </a:r>
            <a:endParaRPr lang="en-US" sz="1100" dirty="0"/>
          </a:p>
          <a:p>
            <a:pPr>
              <a:spcBef>
                <a:spcPts val="300"/>
              </a:spcBef>
            </a:pPr>
            <a:r>
              <a:rPr lang="en-US" sz="950" b="0" dirty="0">
                <a:solidFill>
                  <a:srgbClr val="3C3C41"/>
                </a:solidFill>
                <a:latin typeface="Mulish"/>
              </a:rPr>
              <a:t>This is the gap PRISM Engine targets.</a:t>
            </a:r>
            <a:endParaRPr lang="en-US" sz="950" dirty="0"/>
          </a:p>
        </p:txBody>
      </p:sp>
      <p:sp>
        <p:nvSpPr>
          <p:cNvPr id="27" name="TextBox 26"/>
          <p:cNvSpPr txBox="1"/>
          <p:nvPr/>
        </p:nvSpPr>
        <p:spPr>
          <a:xfrm>
            <a:off x="6217920" y="2194560"/>
            <a:ext cx="4572000" cy="1280160"/>
          </a:xfrm>
          <a:prstGeom prst="rect">
            <a:avLst/>
          </a:prstGeom>
          <a:noFill/>
        </p:spPr>
        <p:txBody>
          <a:bodyPr wrap="square">
            <a:spAutoFit/>
          </a:bodyPr>
          <a:lstStyle/>
          <a:p>
            <a:pPr/>
            <a:r>
              <a:rPr lang="en-US" sz="1300" b="1" dirty="0">
                <a:solidFill>
                  <a:srgbClr val="353334"/>
                </a:solidFill>
                <a:latin typeface="Fjalla One"/>
              </a:rPr>
              <a:t>HOW IT WAS MEASURED</a:t>
            </a:r>
            <a:endParaRPr lang="en-US" sz="1300" dirty="0"/>
          </a:p>
          <a:p>
            <a:pPr>
              <a:spcBef>
                <a:spcPts val="400"/>
              </a:spcBef>
            </a:pPr>
            <a:r>
              <a:rPr lang="en-US" sz="900" b="0" dirty="0">
                <a:solidFill>
                  <a:srgbClr val="3C3C41"/>
                </a:solidFill>
                <a:latin typeface="Mulish"/>
              </a:rPr>
              <a:t>The 90% figure comes from the DataQuest 3.0 DQNM problem statement and serves as the baseline. PRISM Engine's own impact will be tracked with three planned measures:</a:t>
            </a:r>
            <a:endParaRPr lang="en-US" sz="900" dirty="0"/>
          </a:p>
          <a:p>
            <a:pPr>
              <a:spcBef>
                <a:spcPts val="200"/>
              </a:spcBef>
            </a:pPr>
            <a:r>
              <a:rPr lang="en-US" sz="900" b="0" dirty="0">
                <a:solidFill>
                  <a:srgbClr val="3C3C41"/>
                </a:solidFill>
                <a:latin typeface="Mulish"/>
              </a:rPr>
              <a:t>1. Share of recommended pathways that pass the Financial Constraint Solver</a:t>
            </a:r>
            <a:endParaRPr lang="en-US" sz="900" dirty="0"/>
          </a:p>
          <a:p>
            <a:pPr>
              <a:spcBef>
                <a:spcPts val="100"/>
              </a:spcBef>
            </a:pPr>
            <a:r>
              <a:rPr lang="en-US" sz="900" b="0" dirty="0">
                <a:solidFill>
                  <a:srgbClr val="3C3C41"/>
                </a:solidFill>
                <a:latin typeface="Mulish"/>
              </a:rPr>
              <a:t>2. Change in the Parent-Student Conflict Index after guidance</a:t>
            </a:r>
            <a:endParaRPr lang="en-US" sz="900" dirty="0"/>
          </a:p>
          <a:p>
            <a:pPr>
              <a:spcBef>
                <a:spcPts val="100"/>
              </a:spcBef>
            </a:pPr>
            <a:r>
              <a:rPr lang="en-US" sz="900" b="0" dirty="0">
                <a:solidFill>
                  <a:srgbClr val="3C3C41"/>
                </a:solidFill>
                <a:latin typeface="Mulish"/>
              </a:rPr>
              <a:t>3. Number of alignment gaps closed</a:t>
            </a:r>
            <a:endParaRPr lang="en-US" sz="900" dirty="0"/>
          </a:p>
          <a:p>
            <a:pPr>
              <a:spcBef>
                <a:spcPts val="300"/>
              </a:spcBef>
            </a:pPr>
            <a:r>
              <a:rPr lang="en-US" sz="850" b="0" dirty="0">
                <a:solidFill>
                  <a:srgbClr val="6E6E73"/>
                </a:solidFill>
                <a:latin typeface="Mulish"/>
              </a:rPr>
              <a:t>These are targets to confirm in pilots.</a:t>
            </a:r>
            <a:endParaRPr lang="en-US" sz="850" dirty="0"/>
          </a:p>
        </p:txBody>
      </p:sp>
      <p:sp>
        <p:nvSpPr>
          <p:cNvPr id="28" name="Rounded Rectangle 27"/>
          <p:cNvSpPr/>
          <p:nvPr/>
        </p:nvSpPr>
        <p:spPr>
          <a:xfrm>
            <a:off x="1645920" y="4114800"/>
            <a:ext cx="2971800" cy="242316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1965960" y="3986784"/>
            <a:ext cx="1600200" cy="256032"/>
          </a:xfrm>
          <a:prstGeom prst="roundRect">
            <a:avLst>
              <a:gd name="adj" fmla="val 50000"/>
            </a:avLst>
          </a:prstGeom>
          <a:solidFill>
            <a:srgbClr val="079ED2"/>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IMPACT 01</a:t>
            </a:r>
          </a:p>
        </p:txBody>
      </p:sp>
      <p:sp>
        <p:nvSpPr>
          <p:cNvPr id="30" name="TextBox 29"/>
          <p:cNvSpPr txBox="1"/>
          <p:nvPr/>
        </p:nvSpPr>
        <p:spPr>
          <a:xfrm>
            <a:off x="1828800" y="4343400"/>
            <a:ext cx="2606040" cy="2057400"/>
          </a:xfrm>
          <a:prstGeom prst="rect">
            <a:avLst/>
          </a:prstGeom>
          <a:noFill/>
        </p:spPr>
        <p:txBody>
          <a:bodyPr wrap="square">
            <a:spAutoFit/>
          </a:bodyPr>
          <a:lstStyle/>
          <a:p>
            <a:pPr/>
            <a:r>
              <a:rPr lang="en-US" sz="1300" b="1" dirty="0">
                <a:solidFill>
                  <a:srgbClr val="353334"/>
                </a:solidFill>
                <a:latin typeface="Fjalla One"/>
              </a:rPr>
              <a:t>WHAT IMPROVES</a:t>
            </a:r>
            <a:endParaRPr lang="en-US" sz="1300" dirty="0"/>
          </a:p>
          <a:p>
            <a:pPr>
              <a:spcBef>
                <a:spcPts val="400"/>
              </a:spcBef>
            </a:pPr>
            <a:r>
              <a:rPr lang="en-US" sz="900" b="1" dirty="0">
                <a:solidFill>
                  <a:srgbClr val="353334"/>
                </a:solidFill>
                <a:latin typeface="Mulish"/>
              </a:rPr>
              <a:t>Before: </a:t>
            </a:r>
            <a:r>
              <a:rPr lang="en-US" sz="900" b="0" dirty="0">
                <a:solidFill>
                  <a:srgbClr val="3C3C41"/>
                </a:solidFill>
                <a:latin typeface="Mulish"/>
              </a:rPr>
              <a:t>choices made without demand data, salary outlook, scholarship visibility or the parents' input.</a:t>
            </a:r>
            <a:endParaRPr lang="en-US" sz="900" dirty="0"/>
          </a:p>
          <a:p>
            <a:pPr>
              <a:spcBef>
                <a:spcPts val="400"/>
              </a:spcBef>
            </a:pPr>
            <a:r>
              <a:rPr lang="en-US" sz="900" b="1" dirty="0">
                <a:solidFill>
                  <a:srgbClr val="FD1485"/>
                </a:solidFill>
                <a:latin typeface="Mulish"/>
              </a:rPr>
              <a:t>After: </a:t>
            </a:r>
            <a:r>
              <a:rPr lang="en-US" sz="900" b="0" dirty="0">
                <a:solidFill>
                  <a:srgbClr val="3C3C41"/>
                </a:solidFill>
                <a:latin typeface="Mulish"/>
              </a:rPr>
              <a:t>one composite-scored, financially viable roadmap, with alignment gaps and parent-student conflict visible before the family commits.</a:t>
            </a:r>
            <a:endParaRPr lang="en-US" sz="900" dirty="0"/>
          </a:p>
        </p:txBody>
      </p:sp>
      <p:sp>
        <p:nvSpPr>
          <p:cNvPr id="31" name="Rounded Rectangle 30"/>
          <p:cNvSpPr/>
          <p:nvPr/>
        </p:nvSpPr>
        <p:spPr>
          <a:xfrm>
            <a:off x="4864608" y="4114800"/>
            <a:ext cx="2971800" cy="242316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5184648" y="3986784"/>
            <a:ext cx="1600200" cy="256032"/>
          </a:xfrm>
          <a:prstGeom prst="roundRect">
            <a:avLst>
              <a:gd name="adj" fmla="val 50000"/>
            </a:avLst>
          </a:prstGeom>
          <a:solidFill>
            <a:srgbClr val="FFB903"/>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353334"/>
                </a:solidFill>
                <a:latin typeface="Mulish"/>
              </a:defRPr>
            </a:pPr>
            <a:r>
              <a:t>IMPACT 02</a:t>
            </a:r>
          </a:p>
        </p:txBody>
      </p:sp>
      <p:sp>
        <p:nvSpPr>
          <p:cNvPr id="33" name="TextBox 32"/>
          <p:cNvSpPr txBox="1"/>
          <p:nvPr/>
        </p:nvSpPr>
        <p:spPr>
          <a:xfrm>
            <a:off x="5047488" y="4343400"/>
            <a:ext cx="2606040" cy="2057400"/>
          </a:xfrm>
          <a:prstGeom prst="rect">
            <a:avLst/>
          </a:prstGeom>
          <a:noFill/>
        </p:spPr>
        <p:txBody>
          <a:bodyPr wrap="square">
            <a:spAutoFit/>
          </a:bodyPr>
          <a:lstStyle/>
          <a:p>
            <a:pPr/>
            <a:r>
              <a:rPr lang="en-US" sz="1300" b="1" dirty="0">
                <a:solidFill>
                  <a:srgbClr val="353334"/>
                </a:solidFill>
                <a:latin typeface="Fjalla One"/>
              </a:rPr>
              <a:t>WHO ELSE BENEFITS</a:t>
            </a:r>
            <a:endParaRPr lang="en-US" sz="1300" dirty="0"/>
          </a:p>
          <a:p>
            <a:pPr>
              <a:spcBef>
                <a:spcPts val="400"/>
              </a:spcBef>
            </a:pPr>
            <a:r>
              <a:rPr lang="en-US" sz="900" b="1" dirty="0">
                <a:solidFill>
                  <a:srgbClr val="353334"/>
                </a:solidFill>
                <a:latin typeface="Mulish"/>
              </a:rPr>
              <a:t>Parents </a:t>
            </a:r>
            <a:r>
              <a:rPr lang="en-US" sz="900" b="0" dirty="0">
                <a:solidFill>
                  <a:srgbClr val="3C3C41"/>
                </a:solidFill>
                <a:latin typeface="Mulish"/>
              </a:rPr>
              <a:t>gain a clear view of affordability and risk.</a:t>
            </a:r>
            <a:endParaRPr lang="en-US" sz="900" dirty="0"/>
          </a:p>
          <a:p>
            <a:pPr>
              <a:spcBef>
                <a:spcPts val="400"/>
              </a:spcBef>
            </a:pPr>
            <a:r>
              <a:rPr lang="en-US" sz="900" b="1" dirty="0">
                <a:solidFill>
                  <a:srgbClr val="353334"/>
                </a:solidFill>
                <a:latin typeface="Mulish"/>
              </a:rPr>
              <a:t>Educators and schools </a:t>
            </a:r>
            <a:r>
              <a:rPr lang="en-US" sz="900" b="0" dirty="0">
                <a:solidFill>
                  <a:srgbClr val="3C3C41"/>
                </a:solidFill>
                <a:latin typeface="Mulish"/>
              </a:rPr>
              <a:t>gain student SWOT analytics.</a:t>
            </a:r>
            <a:endParaRPr lang="en-US" sz="900" dirty="0"/>
          </a:p>
          <a:p>
            <a:pPr>
              <a:spcBef>
                <a:spcPts val="400"/>
              </a:spcBef>
            </a:pPr>
            <a:r>
              <a:rPr lang="en-US" sz="900" b="1" dirty="0">
                <a:solidFill>
                  <a:srgbClr val="353334"/>
                </a:solidFill>
                <a:latin typeface="Mulish"/>
              </a:rPr>
              <a:t>Nano Mech Labs' school ecosystems and local industry </a:t>
            </a:r>
            <a:r>
              <a:rPr lang="en-US" sz="900" b="0" dirty="0">
                <a:solidFill>
                  <a:srgbClr val="3C3C41"/>
                </a:solidFill>
                <a:latin typeface="Mulish"/>
              </a:rPr>
              <a:t>gain hyper-local, marketable STEAM solutions.</a:t>
            </a:r>
            <a:endParaRPr lang="en-US" sz="900" dirty="0"/>
          </a:p>
        </p:txBody>
      </p:sp>
      <p:sp>
        <p:nvSpPr>
          <p:cNvPr id="34" name="Rounded Rectangle 33"/>
          <p:cNvSpPr/>
          <p:nvPr/>
        </p:nvSpPr>
        <p:spPr>
          <a:xfrm>
            <a:off x="8083296" y="4114800"/>
            <a:ext cx="2971800" cy="242316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8403336" y="3986784"/>
            <a:ext cx="1600200" cy="256032"/>
          </a:xfrm>
          <a:prstGeom prst="roundRect">
            <a:avLst>
              <a:gd name="adj" fmla="val 50000"/>
            </a:avLst>
          </a:prstGeom>
          <a:solidFill>
            <a:srgbClr val="353334"/>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IMPACT 03</a:t>
            </a:r>
          </a:p>
        </p:txBody>
      </p:sp>
      <p:sp>
        <p:nvSpPr>
          <p:cNvPr id="36" name="TextBox 35"/>
          <p:cNvSpPr txBox="1"/>
          <p:nvPr/>
        </p:nvSpPr>
        <p:spPr>
          <a:xfrm>
            <a:off x="8266176" y="4343400"/>
            <a:ext cx="2606040" cy="2057400"/>
          </a:xfrm>
          <a:prstGeom prst="rect">
            <a:avLst/>
          </a:prstGeom>
          <a:noFill/>
        </p:spPr>
        <p:txBody>
          <a:bodyPr wrap="square">
            <a:spAutoFit/>
          </a:bodyPr>
          <a:lstStyle/>
          <a:p>
            <a:pPr/>
            <a:r>
              <a:rPr lang="en-US" sz="1300" b="1" dirty="0">
                <a:solidFill>
                  <a:srgbClr val="353334"/>
                </a:solidFill>
                <a:latin typeface="Fjalla One"/>
              </a:rPr>
              <a:t>RISKS / MISUSE</a:t>
            </a:r>
            <a:endParaRPr lang="en-US" sz="1300" dirty="0"/>
          </a:p>
          <a:p>
            <a:pPr>
              <a:spcBef>
                <a:spcPts val="400"/>
              </a:spcBef>
            </a:pPr>
            <a:r>
              <a:rPr lang="en-US" sz="900" b="1" dirty="0">
                <a:solidFill>
                  <a:srgbClr val="353334"/>
                </a:solidFill>
                <a:latin typeface="Mulish"/>
              </a:rPr>
              <a:t>Risks: </a:t>
            </a:r>
            <a:r>
              <a:rPr lang="en-US" sz="900" b="0" dirty="0">
                <a:solidFill>
                  <a:srgbClr val="3C3C41"/>
                </a:solidFill>
                <a:latin typeface="Mulish"/>
              </a:rPr>
              <a:t>over-reliance on a single score, biased psychometric signals, exposure of family financial data, outdated market data.</a:t>
            </a:r>
            <a:endParaRPr lang="en-US" sz="900" dirty="0"/>
          </a:p>
          <a:p>
            <a:pPr>
              <a:spcBef>
                <a:spcPts val="400"/>
              </a:spcBef>
            </a:pPr>
            <a:r>
              <a:rPr lang="en-US" sz="900" b="1" dirty="0">
                <a:solidFill>
                  <a:srgbClr val="353334"/>
                </a:solidFill>
                <a:latin typeface="Mulish"/>
              </a:rPr>
              <a:t>Mitigation: </a:t>
            </a:r>
            <a:r>
              <a:rPr lang="en-US" sz="900" b="0" dirty="0">
                <a:solidFill>
                  <a:srgbClr val="3C3C41"/>
                </a:solidFill>
                <a:latin typeface="Mulish"/>
              </a:rPr>
              <a:t>explained scores as guidance for counsellor-supported decisions, several indicators with confidence levels, consent and minimal data retention, dated market snapshots.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1051560"/>
            <a:ext cx="105156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1453896"/>
            <a:ext cx="146304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1856232"/>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8412480" y="640080"/>
            <a:ext cx="100584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37133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7717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45920" y="384048"/>
            <a:ext cx="8229600" cy="274320"/>
          </a:xfrm>
          <a:prstGeom prst="rect">
            <a:avLst/>
          </a:prstGeom>
          <a:noFill/>
        </p:spPr>
        <p:txBody>
          <a:bodyPr wrap="none" lIns="0" tIns="0" rIns="0" bIns="0">
            <a:spAutoFit/>
          </a:bodyPr>
          <a:lstStyle/>
          <a:p>
            <a:pPr>
              <a:defRPr sz="1050" b="1">
                <a:solidFill>
                  <a:srgbClr val="353334"/>
                </a:solidFill>
                <a:latin typeface="Mulish"/>
              </a:defRPr>
            </a:pPr>
            <a:r>
              <a:t>DATAQUEST 3.0  ·  ROUND 1</a:t>
            </a:r>
          </a:p>
        </p:txBody>
      </p:sp>
      <p:sp>
        <p:nvSpPr>
          <p:cNvPr id="21" name="TextBox 20"/>
          <p:cNvSpPr txBox="1"/>
          <p:nvPr/>
        </p:nvSpPr>
        <p:spPr>
          <a:xfrm>
            <a:off x="1645920" y="621792"/>
            <a:ext cx="9144000" cy="777240"/>
          </a:xfrm>
          <a:prstGeom prst="rect">
            <a:avLst/>
          </a:prstGeom>
          <a:noFill/>
        </p:spPr>
        <p:txBody>
          <a:bodyPr wrap="square" lIns="0" tIns="0" rIns="0" bIns="0">
            <a:spAutoFit/>
          </a:bodyPr>
          <a:lstStyle/>
          <a:p>
            <a:r>
              <a:rPr sz="3600" b="1">
                <a:solidFill>
                  <a:srgbClr val="FD1485"/>
                </a:solidFill>
                <a:latin typeface="Fjalla One"/>
              </a:rPr>
              <a:t>07  </a:t>
            </a:r>
            <a:r>
              <a:rPr sz="3200" b="1">
                <a:solidFill>
                  <a:srgbClr val="353334"/>
                </a:solidFill>
                <a:latin typeface="Fjalla One"/>
              </a:rPr>
              <a:t>Why This Project?</a:t>
            </a:r>
          </a:p>
        </p:txBody>
      </p:sp>
      <p:sp>
        <p:nvSpPr>
          <p:cNvPr id="22" name="Rectangle 21"/>
          <p:cNvSpPr/>
          <p:nvPr/>
        </p:nvSpPr>
        <p:spPr>
          <a:xfrm>
            <a:off x="1645920" y="1444752"/>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1517904"/>
            <a:ext cx="9418320" cy="320040"/>
          </a:xfrm>
          <a:prstGeom prst="rect">
            <a:avLst/>
          </a:prstGeom>
          <a:noFill/>
        </p:spPr>
        <p:txBody>
          <a:bodyPr wrap="none" lIns="0" tIns="0" rIns="0" bIns="0">
            <a:spAutoFit/>
          </a:bodyPr>
          <a:lstStyle/>
          <a:p>
            <a:pPr>
              <a:defRPr sz="1100">
                <a:solidFill>
                  <a:srgbClr val="6E6E73"/>
                </a:solidFill>
                <a:latin typeface="Mulish"/>
              </a:defRPr>
            </a:pPr>
            <a:r>
              <a:t>Direct contrast with today's alternatives · Unfair technical advantage</a:t>
            </a:r>
          </a:p>
        </p:txBody>
      </p:sp>
      <p:sp>
        <p:nvSpPr>
          <p:cNvPr id="24" name="Rounded Rectangle 23"/>
          <p:cNvSpPr/>
          <p:nvPr/>
        </p:nvSpPr>
        <p:spPr>
          <a:xfrm>
            <a:off x="1645920" y="2011680"/>
            <a:ext cx="4572000" cy="265176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965960" y="1883664"/>
            <a:ext cx="1600200" cy="256032"/>
          </a:xfrm>
          <a:prstGeom prst="roundRect">
            <a:avLst>
              <a:gd name="adj" fmla="val 50000"/>
            </a:avLst>
          </a:prstGeom>
          <a:solidFill>
            <a:srgbClr val="353334"/>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STATUS QUO</a:t>
            </a:r>
          </a:p>
        </p:txBody>
      </p:sp>
      <p:sp>
        <p:nvSpPr>
          <p:cNvPr id="26" name="TextBox 25"/>
          <p:cNvSpPr txBox="1"/>
          <p:nvPr/>
        </p:nvSpPr>
        <p:spPr>
          <a:xfrm>
            <a:off x="1920240" y="2286000"/>
            <a:ext cx="4023360" cy="2194560"/>
          </a:xfrm>
          <a:prstGeom prst="rect">
            <a:avLst/>
          </a:prstGeom>
          <a:noFill/>
        </p:spPr>
        <p:txBody>
          <a:bodyPr wrap="square">
            <a:spAutoFit/>
          </a:bodyPr>
          <a:lstStyle/>
          <a:p>
            <a:pPr/>
            <a:r>
              <a:rPr lang="en-US" sz="1300" b="1" dirty="0">
                <a:solidFill>
                  <a:srgbClr val="353334"/>
                </a:solidFill>
                <a:latin typeface="Fjalla One"/>
              </a:rPr>
              <a:t>CURRENT APPROACH</a:t>
            </a:r>
            <a:endParaRPr lang="en-US" sz="1300" dirty="0"/>
          </a:p>
          <a:p>
            <a:pPr>
              <a:spcBef>
                <a:spcPts val="600"/>
              </a:spcBef>
            </a:pPr>
            <a:r>
              <a:rPr lang="en-US" sz="1100" b="0" dirty="0">
                <a:solidFill>
                  <a:srgbClr val="3C3C41"/>
                </a:solidFill>
                <a:latin typeface="Mulish"/>
              </a:rPr>
              <a:t>Career guidance today is generic and student-only. Parents are left out of the analysis, and there is little visibility into regional demand, salary trajectories, ROI, entrance exams, rankings or scholarships.</a:t>
            </a:r>
            <a:endParaRPr lang="en-US" sz="1100" dirty="0"/>
          </a:p>
          <a:p>
            <a:pPr>
              <a:spcBef>
                <a:spcPts val="600"/>
              </a:spcBef>
            </a:pPr>
            <a:r>
              <a:rPr lang="en-US" sz="1100" b="0" dirty="0">
                <a:solidFill>
                  <a:srgbClr val="3C3C41"/>
                </a:solidFill>
                <a:latin typeface="Mulish"/>
              </a:rPr>
              <a:t>Families end up with rigid, conventional choices, debt or conflict.</a:t>
            </a:r>
            <a:endParaRPr lang="en-US" sz="1100" dirty="0"/>
          </a:p>
        </p:txBody>
      </p:sp>
      <p:sp>
        <p:nvSpPr>
          <p:cNvPr id="27" name="Rounded Rectangle 26"/>
          <p:cNvSpPr/>
          <p:nvPr/>
        </p:nvSpPr>
        <p:spPr>
          <a:xfrm>
            <a:off x="6492240" y="2011680"/>
            <a:ext cx="4572000" cy="265176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812280" y="1883664"/>
            <a:ext cx="1600200" cy="256032"/>
          </a:xfrm>
          <a:prstGeom prst="roundRect">
            <a:avLst>
              <a:gd name="adj" fmla="val 50000"/>
            </a:avLst>
          </a:prstGeom>
          <a:solidFill>
            <a:srgbClr val="079ED2"/>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OUR SOLUTION</a:t>
            </a:r>
          </a:p>
        </p:txBody>
      </p:sp>
      <p:sp>
        <p:nvSpPr>
          <p:cNvPr id="29" name="TextBox 28"/>
          <p:cNvSpPr txBox="1"/>
          <p:nvPr/>
        </p:nvSpPr>
        <p:spPr>
          <a:xfrm>
            <a:off x="6766560" y="2286000"/>
            <a:ext cx="4023360" cy="2194560"/>
          </a:xfrm>
          <a:prstGeom prst="rect">
            <a:avLst/>
          </a:prstGeom>
          <a:noFill/>
        </p:spPr>
        <p:txBody>
          <a:bodyPr wrap="square">
            <a:spAutoFit/>
          </a:bodyPr>
          <a:lstStyle/>
          <a:p>
            <a:pPr/>
            <a:r>
              <a:rPr lang="en-US" sz="1300" b="1" dirty="0">
                <a:solidFill>
                  <a:srgbClr val="353334"/>
                </a:solidFill>
                <a:latin typeface="Fjalla One"/>
              </a:rPr>
              <a:t>OUR APPROACH</a:t>
            </a:r>
            <a:endParaRPr lang="en-US" sz="1300" dirty="0"/>
          </a:p>
          <a:p>
            <a:pPr>
              <a:spcBef>
                <a:spcPts val="600"/>
              </a:spcBef>
            </a:pPr>
            <a:r>
              <a:rPr lang="en-US" sz="1100" b="0" dirty="0">
                <a:solidFill>
                  <a:srgbClr val="3C3C41"/>
                </a:solidFill>
                <a:latin typeface="Mulish"/>
              </a:rPr>
              <a:t>PRISM Engine takes in student psychometrics and parental financial parameters, normalizes them, applies the Financial Constraint Solver and the Parent-Student Conflict Index, and blends the result with dynamic hiring indices.</a:t>
            </a:r>
            <a:endParaRPr lang="en-US" sz="1100" dirty="0"/>
          </a:p>
          <a:p>
            <a:pPr>
              <a:spcBef>
                <a:spcPts val="600"/>
              </a:spcBef>
            </a:pPr>
            <a:r>
              <a:rPr lang="en-US" sz="1100" b="0" dirty="0">
                <a:solidFill>
                  <a:srgbClr val="3C3C41"/>
                </a:solidFill>
                <a:latin typeface="Mulish"/>
              </a:rPr>
              <a:t>The output is a market-aligned, financially viable roadmap that includes hyper-local STEAM pathways.</a:t>
            </a:r>
            <a:endParaRPr lang="en-US" sz="1100" dirty="0"/>
          </a:p>
        </p:txBody>
      </p:sp>
      <p:sp>
        <p:nvSpPr>
          <p:cNvPr id="30" name="Rounded Rectangle 29"/>
          <p:cNvSpPr/>
          <p:nvPr/>
        </p:nvSpPr>
        <p:spPr>
          <a:xfrm>
            <a:off x="1645920" y="4892040"/>
            <a:ext cx="9418320" cy="164592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1965960" y="4764024"/>
            <a:ext cx="160020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MOAT / DIFFERENTIATION</a:t>
            </a:r>
          </a:p>
        </p:txBody>
      </p:sp>
      <p:sp>
        <p:nvSpPr>
          <p:cNvPr id="32" name="TextBox 31"/>
          <p:cNvSpPr txBox="1"/>
          <p:nvPr/>
        </p:nvSpPr>
        <p:spPr>
          <a:xfrm>
            <a:off x="1920240" y="5120640"/>
            <a:ext cx="8869680" cy="1280160"/>
          </a:xfrm>
          <a:prstGeom prst="rect">
            <a:avLst/>
          </a:prstGeom>
          <a:noFill/>
        </p:spPr>
        <p:txBody>
          <a:bodyPr wrap="square">
            <a:spAutoFit/>
          </a:bodyPr>
          <a:lstStyle/>
          <a:p>
            <a:pPr/>
            <a:r>
              <a:rPr lang="en-US" sz="1200" b="1" dirty="0">
                <a:solidFill>
                  <a:srgbClr val="FD1485"/>
                </a:solidFill>
                <a:latin typeface="Fjalla One"/>
              </a:rPr>
              <a:t>KEY DIFFERENCE</a:t>
            </a:r>
            <a:endParaRPr lang="en-US" sz="1200" dirty="0"/>
          </a:p>
          <a:p>
            <a:pPr>
              <a:spcBef>
                <a:spcPts val="500"/>
              </a:spcBef>
            </a:pPr>
            <a:r>
              <a:rPr lang="en-US" sz="1500" b="1" dirty="0">
                <a:solidFill>
                  <a:srgbClr val="353334"/>
                </a:solidFill>
                <a:latin typeface="Fjalla One"/>
              </a:rPr>
              <a:t>PRISM Engine treats the family as part of the model: a Financial Constraint Solver and a Parent-Student Conflict Index decide which pathways are viable before any career is recommended.</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1051560"/>
            <a:ext cx="105156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1453896"/>
            <a:ext cx="146304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1856232"/>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8412480" y="640080"/>
            <a:ext cx="100584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37133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7717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45920" y="384048"/>
            <a:ext cx="8229600" cy="274320"/>
          </a:xfrm>
          <a:prstGeom prst="rect">
            <a:avLst/>
          </a:prstGeom>
          <a:noFill/>
        </p:spPr>
        <p:txBody>
          <a:bodyPr wrap="none" lIns="0" tIns="0" rIns="0" bIns="0">
            <a:spAutoFit/>
          </a:bodyPr>
          <a:lstStyle/>
          <a:p>
            <a:pPr>
              <a:defRPr sz="1050" b="1">
                <a:solidFill>
                  <a:srgbClr val="353334"/>
                </a:solidFill>
                <a:latin typeface="Mulish"/>
              </a:defRPr>
            </a:pPr>
            <a:r>
              <a:t>DATAQUEST 3.0  ·  ROUND 1</a:t>
            </a:r>
          </a:p>
        </p:txBody>
      </p:sp>
      <p:sp>
        <p:nvSpPr>
          <p:cNvPr id="21" name="TextBox 20"/>
          <p:cNvSpPr txBox="1"/>
          <p:nvPr/>
        </p:nvSpPr>
        <p:spPr>
          <a:xfrm>
            <a:off x="1645920" y="621792"/>
            <a:ext cx="9144000" cy="553998"/>
          </a:xfrm>
          <a:prstGeom prst="rect">
            <a:avLst/>
          </a:prstGeom>
          <a:noFill/>
        </p:spPr>
        <p:txBody>
          <a:bodyPr wrap="square" lIns="0" tIns="0" rIns="0" bIns="0" anchor="t">
            <a:spAutoFit/>
          </a:bodyPr>
          <a:lstStyle/>
          <a:p>
            <a:r>
              <a:rPr lang="en-US" sz="3600" b="1" dirty="0">
                <a:solidFill>
                  <a:srgbClr val="FD1485"/>
                </a:solidFill>
                <a:latin typeface="Fjalla One"/>
              </a:rPr>
              <a:t xml:space="preserve">08  </a:t>
            </a:r>
            <a:r>
              <a:rPr lang="en-US" sz="3200" b="1" dirty="0">
                <a:solidFill>
                  <a:srgbClr val="353334"/>
                </a:solidFill>
                <a:latin typeface="Fjalla One"/>
              </a:rPr>
              <a:t>Extra Slide: </a:t>
            </a:r>
            <a:r>
              <a:rPr lang="en-US" sz="1800" b="1" dirty="0">
                <a:solidFill>
                  <a:srgbClr val="353334"/>
                </a:solidFill>
                <a:latin typeface="Fjalla One"/>
              </a:rPr>
              <a:t>Problem Statement Coverage</a:t>
            </a:r>
          </a:p>
        </p:txBody>
      </p:sp>
      <p:sp>
        <p:nvSpPr>
          <p:cNvPr id="22" name="Rectangle 21"/>
          <p:cNvSpPr/>
          <p:nvPr/>
        </p:nvSpPr>
        <p:spPr>
          <a:xfrm>
            <a:off x="1645920" y="1444752"/>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1517904"/>
            <a:ext cx="9418320" cy="320040"/>
          </a:xfrm>
          <a:prstGeom prst="rect">
            <a:avLst/>
          </a:prstGeom>
          <a:noFill/>
        </p:spPr>
        <p:txBody>
          <a:bodyPr wrap="none" lIns="0" tIns="0" rIns="0" bIns="0">
            <a:spAutoFit/>
          </a:bodyPr>
          <a:lstStyle/>
          <a:p>
            <a:pPr>
              <a:defRPr sz="1100">
                <a:solidFill>
                  <a:srgbClr val="6E6E73"/>
                </a:solidFill>
                <a:latin typeface="Mulish"/>
              </a:defRPr>
            </a:pPr>
            <a:r>
              <a:t>Optional appendix · Extra diagrams, product screenshots, benchmarks, or backup details</a:t>
            </a:r>
          </a:p>
        </p:txBody>
      </p:sp>
      <p:graphicFrame>
        <p:nvGraphicFramePr>
          <p:cNvPr id="921" name="Coverage Table"/>
          <p:cNvGraphicFramePr>
            <a:graphicFrameLocks noGrp="1"/>
          </p:cNvGraphicFramePr>
          <p:nvPr/>
        </p:nvGraphicFramePr>
        <p:xfrm>
          <a:off x="1645920" y="1965960"/>
          <a:ext cx="9418320" cy="4242816"/>
        </p:xfrm>
        <a:graphic>
          <a:graphicData uri="http://schemas.openxmlformats.org/drawingml/2006/table">
            <a:tbl>
              <a:tblPr firstRow="1"/>
              <a:tblGrid>
                <a:gridCol w="3977640"/>
                <a:gridCol w="5440680"/>
              </a:tblGrid>
              <a:tr h="402336">
                <a:tc>
                  <a:txBody>
                    <a:bodyPr/>
                    <a:lstStyle/>
                    <a:p>
                      <a:pPr/>
                      <a:r>
                        <a:rPr lang="en-US" sz="1100" b="1" dirty="0">
                          <a:solidFill>
                            <a:srgbClr val="FFFFFF"/>
                          </a:solidFill>
                          <a:latin typeface="Fjalla One"/>
                        </a:rPr>
                        <a:t>REQUIREMENT </a:t>
                      </a:r>
                      <a:r>
                        <a:rPr lang="en-US" sz="900" b="0" dirty="0">
                          <a:solidFill>
                            <a:srgbClr val="FFFFFF"/>
                          </a:solidFill>
                          <a:latin typeface="Mulish"/>
                        </a:rPr>
                        <a:t>(DQNM problem statement)</a:t>
                      </a:r>
                      <a:endParaRPr lang="en-US" sz="1100" dirty="0"/>
                    </a:p>
                  </a:txBody>
                  <a:tcPr marL="109728" marR="91440" marT="36576" marB="36576" anchor="ctr">
                    <a:lnL w="12700">
                      <a:solidFill>
                        <a:srgbClr val="353334"/>
                      </a:solidFill>
                    </a:lnL>
                    <a:lnR w="12700">
                      <a:solidFill>
                        <a:srgbClr val="353334"/>
                      </a:solidFill>
                    </a:lnR>
                    <a:lnT w="12700">
                      <a:solidFill>
                        <a:srgbClr val="353334"/>
                      </a:solidFill>
                    </a:lnT>
                    <a:lnB w="12700">
                      <a:solidFill>
                        <a:srgbClr val="353334"/>
                      </a:solidFill>
                    </a:lnB>
                    <a:solidFill>
                      <a:srgbClr val="353334"/>
                    </a:solidFill>
                  </a:tcPr>
                </a:tc>
                <a:tc>
                  <a:txBody>
                    <a:bodyPr/>
                    <a:lstStyle/>
                    <a:p>
                      <a:pPr/>
                      <a:r>
                        <a:rPr lang="en-US" sz="1100" b="1" dirty="0">
                          <a:solidFill>
                            <a:srgbClr val="FFFFFF"/>
                          </a:solidFill>
                          <a:latin typeface="Fjalla One"/>
                        </a:rPr>
                        <a:t>HOW PRISM ENGINE COVERS IT</a:t>
                      </a:r>
                      <a:endParaRPr lang="en-US" sz="1100" dirty="0"/>
                    </a:p>
                  </a:txBody>
                  <a:tcPr marL="109728" marR="91440" marT="36576" marB="36576" anchor="ctr">
                    <a:lnL w="12700">
                      <a:solidFill>
                        <a:srgbClr val="353334"/>
                      </a:solidFill>
                    </a:lnL>
                    <a:lnR w="12700">
                      <a:solidFill>
                        <a:srgbClr val="353334"/>
                      </a:solidFill>
                    </a:lnR>
                    <a:lnT w="12700">
                      <a:solidFill>
                        <a:srgbClr val="353334"/>
                      </a:solidFill>
                    </a:lnT>
                    <a:lnB w="12700">
                      <a:solidFill>
                        <a:srgbClr val="353334"/>
                      </a:solidFill>
                    </a:lnB>
                    <a:solidFill>
                      <a:srgbClr val="353334"/>
                    </a:solidFill>
                  </a:tcPr>
                </a:tc>
              </a:tr>
              <a:tr h="548640">
                <a:tc>
                  <a:txBody>
                    <a:bodyPr/>
                    <a:lstStyle/>
                    <a:p>
                      <a:pPr/>
                      <a:r>
                        <a:rPr lang="en-US" sz="1100" b="1" dirty="0">
                          <a:solidFill>
                            <a:srgbClr val="FD1485"/>
                          </a:solidFill>
                          <a:latin typeface="Fjalla One"/>
                        </a:rPr>
                        <a:t>1.  </a:t>
                      </a:r>
                      <a:r>
                        <a:rPr lang="en-US" sz="950" b="1" dirty="0">
                          <a:solidFill>
                            <a:srgbClr val="353334"/>
                          </a:solidFill>
                          <a:latin typeface="Mulish"/>
                        </a:rPr>
                        <a:t>Assess student aptitude, cognitive preferences and interest indicators</a:t>
                      </a:r>
                      <a:endParaRPr lang="en-US" sz="950" dirty="0"/>
                    </a:p>
                  </a:txBody>
                  <a:tcPr marL="109728" marR="91440" marT="36576" marB="36576" anchor="ctr">
                    <a:lnL w="12700">
                      <a:solidFill>
                        <a:srgbClr val="353334"/>
                      </a:solidFill>
                    </a:lnL>
                    <a:lnR w="12700">
                      <a:solidFill>
                        <a:srgbClr val="353334"/>
                      </a:solidFill>
                    </a:lnR>
                    <a:lnT w="12700">
                      <a:solidFill>
                        <a:srgbClr val="353334"/>
                      </a:solidFill>
                    </a:lnT>
                    <a:lnB w="12700">
                      <a:solidFill>
                        <a:srgbClr val="353334"/>
                      </a:solidFill>
                    </a:lnB>
                    <a:solidFill>
                      <a:srgbClr val="FFFFFF"/>
                    </a:solidFill>
                  </a:tcPr>
                </a:tc>
                <a:tc>
                  <a:txBody>
                    <a:bodyPr/>
                    <a:lstStyle/>
                    <a:p>
                      <a:pPr/>
                      <a:r>
                        <a:rPr lang="en-US" sz="950" b="0" dirty="0">
                          <a:solidFill>
                            <a:srgbClr val="3C3C41"/>
                          </a:solidFill>
                          <a:latin typeface="Mulish"/>
                        </a:rPr>
                        <a:t>Psychometric responses are vectorized and normalized.</a:t>
                      </a:r>
                      <a:endParaRPr lang="en-US" sz="950" dirty="0"/>
                    </a:p>
                  </a:txBody>
                  <a:tcPr marL="109728" marR="91440" marT="36576" marB="36576" anchor="ctr">
                    <a:lnL w="12700">
                      <a:solidFill>
                        <a:srgbClr val="353334"/>
                      </a:solidFill>
                    </a:lnL>
                    <a:lnR w="12700">
                      <a:solidFill>
                        <a:srgbClr val="353334"/>
                      </a:solidFill>
                    </a:lnR>
                    <a:lnT w="12700">
                      <a:solidFill>
                        <a:srgbClr val="353334"/>
                      </a:solidFill>
                    </a:lnT>
                    <a:lnB w="12700">
                      <a:solidFill>
                        <a:srgbClr val="353334"/>
                      </a:solidFill>
                    </a:lnB>
                    <a:solidFill>
                      <a:srgbClr val="FFFFFF"/>
                    </a:solidFill>
                  </a:tcPr>
                </a:tc>
              </a:tr>
              <a:tr h="548640">
                <a:tc>
                  <a:txBody>
                    <a:bodyPr/>
                    <a:lstStyle/>
                    <a:p>
                      <a:pPr/>
                      <a:r>
                        <a:rPr lang="en-US" sz="1100" b="1" dirty="0">
                          <a:solidFill>
                            <a:srgbClr val="FD1485"/>
                          </a:solidFill>
                          <a:latin typeface="Fjalla One"/>
                        </a:rPr>
                        <a:t>2.  </a:t>
                      </a:r>
                      <a:r>
                        <a:rPr lang="en-US" sz="950" b="1" dirty="0">
                          <a:solidFill>
                            <a:srgbClr val="353334"/>
                          </a:solidFill>
                          <a:latin typeface="Mulish"/>
                        </a:rPr>
                        <a:t>Consider financial constraints, risk appetite and family considerations</a:t>
                      </a:r>
                      <a:endParaRPr lang="en-US" sz="950" dirty="0"/>
                    </a:p>
                  </a:txBody>
                  <a:tcPr marL="109728" marR="91440" marT="36576" marB="36576" anchor="ctr">
                    <a:lnL w="12700">
                      <a:solidFill>
                        <a:srgbClr val="353334"/>
                      </a:solidFill>
                    </a:lnL>
                    <a:lnR w="12700">
                      <a:solidFill>
                        <a:srgbClr val="353334"/>
                      </a:solidFill>
                    </a:lnR>
                    <a:lnT w="12700">
                      <a:solidFill>
                        <a:srgbClr val="353334"/>
                      </a:solidFill>
                    </a:lnT>
                    <a:lnB w="12700">
                      <a:solidFill>
                        <a:srgbClr val="353334"/>
                      </a:solidFill>
                    </a:lnB>
                    <a:solidFill>
                      <a:srgbClr val="FFFFFF"/>
                    </a:solidFill>
                  </a:tcPr>
                </a:tc>
                <a:tc>
                  <a:txBody>
                    <a:bodyPr/>
                    <a:lstStyle/>
                    <a:p>
                      <a:pPr/>
                      <a:r>
                        <a:rPr lang="en-US" sz="950" b="0" dirty="0">
                          <a:solidFill>
                            <a:srgbClr val="3C3C41"/>
                          </a:solidFill>
                          <a:latin typeface="Mulish"/>
                        </a:rPr>
                        <a:t>Parent inputs feed the Financial Constraint Solver.</a:t>
                      </a:r>
                      <a:endParaRPr lang="en-US" sz="950" dirty="0"/>
                    </a:p>
                  </a:txBody>
                  <a:tcPr marL="109728" marR="91440" marT="36576" marB="36576" anchor="ctr">
                    <a:lnL w="12700">
                      <a:solidFill>
                        <a:srgbClr val="353334"/>
                      </a:solidFill>
                    </a:lnL>
                    <a:lnR w="12700">
                      <a:solidFill>
                        <a:srgbClr val="353334"/>
                      </a:solidFill>
                    </a:lnR>
                    <a:lnT w="12700">
                      <a:solidFill>
                        <a:srgbClr val="353334"/>
                      </a:solidFill>
                    </a:lnT>
                    <a:lnB w="12700">
                      <a:solidFill>
                        <a:srgbClr val="353334"/>
                      </a:solidFill>
                    </a:lnB>
                    <a:solidFill>
                      <a:srgbClr val="FFFFF1"/>
                    </a:solidFill>
                  </a:tcPr>
                </a:tc>
              </a:tr>
              <a:tr h="548640">
                <a:tc>
                  <a:txBody>
                    <a:bodyPr/>
                    <a:lstStyle/>
                    <a:p>
                      <a:pPr/>
                      <a:r>
                        <a:rPr lang="en-US" sz="1100" b="1" dirty="0">
                          <a:solidFill>
                            <a:srgbClr val="FD1485"/>
                          </a:solidFill>
                          <a:latin typeface="Fjalla One"/>
                        </a:rPr>
                        <a:t>3.  </a:t>
                      </a:r>
                      <a:r>
                        <a:rPr lang="en-US" sz="950" b="1" dirty="0">
                          <a:solidFill>
                            <a:srgbClr val="353334"/>
                          </a:solidFill>
                          <a:latin typeface="Mulish"/>
                        </a:rPr>
                        <a:t>Map profile factors against evolving sector demand and career options</a:t>
                      </a:r>
                      <a:endParaRPr lang="en-US" sz="950" dirty="0"/>
                    </a:p>
                  </a:txBody>
                  <a:tcPr marL="109728" marR="91440" marT="36576" marB="36576" anchor="ctr">
                    <a:lnL w="12700">
                      <a:solidFill>
                        <a:srgbClr val="353334"/>
                      </a:solidFill>
                    </a:lnL>
                    <a:lnR w="12700">
                      <a:solidFill>
                        <a:srgbClr val="353334"/>
                      </a:solidFill>
                    </a:lnR>
                    <a:lnT w="12700">
                      <a:solidFill>
                        <a:srgbClr val="353334"/>
                      </a:solidFill>
                    </a:lnT>
                    <a:lnB w="12700">
                      <a:solidFill>
                        <a:srgbClr val="353334"/>
                      </a:solidFill>
                    </a:lnB>
                    <a:solidFill>
                      <a:srgbClr val="FFFFFF"/>
                    </a:solidFill>
                  </a:tcPr>
                </a:tc>
                <a:tc>
                  <a:txBody>
                    <a:bodyPr/>
                    <a:lstStyle/>
                    <a:p>
                      <a:pPr/>
                      <a:r>
                        <a:rPr lang="en-US" sz="950" b="0" dirty="0">
                          <a:solidFill>
                            <a:srgbClr val="3C3C41"/>
                          </a:solidFill>
                          <a:latin typeface="Mulish"/>
                        </a:rPr>
                        <a:t>Normalized vectors are blended with hiring indices: job velocity, economic disruption, geographic demand.</a:t>
                      </a:r>
                      <a:endParaRPr lang="en-US" sz="950" dirty="0"/>
                    </a:p>
                  </a:txBody>
                  <a:tcPr marL="109728" marR="91440" marT="36576" marB="36576" anchor="ctr">
                    <a:lnL w="12700">
                      <a:solidFill>
                        <a:srgbClr val="353334"/>
                      </a:solidFill>
                    </a:lnL>
                    <a:lnR w="12700">
                      <a:solidFill>
                        <a:srgbClr val="353334"/>
                      </a:solidFill>
                    </a:lnR>
                    <a:lnT w="12700">
                      <a:solidFill>
                        <a:srgbClr val="353334"/>
                      </a:solidFill>
                    </a:lnT>
                    <a:lnB w="12700">
                      <a:solidFill>
                        <a:srgbClr val="353334"/>
                      </a:solidFill>
                    </a:lnB>
                    <a:solidFill>
                      <a:srgbClr val="FFFFFF"/>
                    </a:solidFill>
                  </a:tcPr>
                </a:tc>
              </a:tr>
              <a:tr h="548640">
                <a:tc>
                  <a:txBody>
                    <a:bodyPr/>
                    <a:lstStyle/>
                    <a:p>
                      <a:pPr/>
                      <a:r>
                        <a:rPr lang="en-US" sz="1100" b="1" dirty="0">
                          <a:solidFill>
                            <a:srgbClr val="FD1485"/>
                          </a:solidFill>
                          <a:latin typeface="Fjalla One"/>
                        </a:rPr>
                        <a:t>4.  </a:t>
                      </a:r>
                      <a:r>
                        <a:rPr lang="en-US" sz="950" b="1" dirty="0">
                          <a:solidFill>
                            <a:srgbClr val="353334"/>
                          </a:solidFill>
                          <a:latin typeface="Mulish"/>
                        </a:rPr>
                        <a:t>Combine student metrics and family parameters into composite scores</a:t>
                      </a:r>
                      <a:endParaRPr lang="en-US" sz="950" dirty="0"/>
                    </a:p>
                  </a:txBody>
                  <a:tcPr marL="109728" marR="91440" marT="36576" marB="36576" anchor="ctr">
                    <a:lnL w="12700">
                      <a:solidFill>
                        <a:srgbClr val="353334"/>
                      </a:solidFill>
                    </a:lnL>
                    <a:lnR w="12700">
                      <a:solidFill>
                        <a:srgbClr val="353334"/>
                      </a:solidFill>
                    </a:lnR>
                    <a:lnT w="12700">
                      <a:solidFill>
                        <a:srgbClr val="353334"/>
                      </a:solidFill>
                    </a:lnT>
                    <a:lnB w="12700">
                      <a:solidFill>
                        <a:srgbClr val="353334"/>
                      </a:solidFill>
                    </a:lnB>
                    <a:solidFill>
                      <a:srgbClr val="FFFFFF"/>
                    </a:solidFill>
                  </a:tcPr>
                </a:tc>
                <a:tc>
                  <a:txBody>
                    <a:bodyPr/>
                    <a:lstStyle/>
                    <a:p>
                      <a:pPr/>
                      <a:r>
                        <a:rPr lang="en-US" sz="950" b="0" dirty="0">
                          <a:solidFill>
                            <a:srgbClr val="3C3C41"/>
                          </a:solidFill>
                          <a:latin typeface="Mulish"/>
                        </a:rPr>
                        <a:t>Composite scoring plus the Parent-Student Conflict Index.</a:t>
                      </a:r>
                      <a:endParaRPr lang="en-US" sz="950" dirty="0"/>
                    </a:p>
                  </a:txBody>
                  <a:tcPr marL="109728" marR="91440" marT="36576" marB="36576" anchor="ctr">
                    <a:lnL w="12700">
                      <a:solidFill>
                        <a:srgbClr val="353334"/>
                      </a:solidFill>
                    </a:lnL>
                    <a:lnR w="12700">
                      <a:solidFill>
                        <a:srgbClr val="353334"/>
                      </a:solidFill>
                    </a:lnR>
                    <a:lnT w="12700">
                      <a:solidFill>
                        <a:srgbClr val="353334"/>
                      </a:solidFill>
                    </a:lnT>
                    <a:lnB w="12700">
                      <a:solidFill>
                        <a:srgbClr val="353334"/>
                      </a:solidFill>
                    </a:lnB>
                    <a:solidFill>
                      <a:srgbClr val="FFFFF1"/>
                    </a:solidFill>
                  </a:tcPr>
                </a:tc>
              </a:tr>
              <a:tr h="548640">
                <a:tc>
                  <a:txBody>
                    <a:bodyPr/>
                    <a:lstStyle/>
                    <a:p>
                      <a:pPr/>
                      <a:r>
                        <a:rPr lang="en-US" sz="1100" b="1" dirty="0">
                          <a:solidFill>
                            <a:srgbClr val="FD1485"/>
                          </a:solidFill>
                          <a:latin typeface="Fjalla One"/>
                        </a:rPr>
                        <a:t>5.  </a:t>
                      </a:r>
                      <a:r>
                        <a:rPr lang="en-US" sz="950" b="1" dirty="0">
                          <a:solidFill>
                            <a:srgbClr val="353334"/>
                          </a:solidFill>
                          <a:latin typeface="Mulish"/>
                        </a:rPr>
                        <a:t>Identify suitable career domains and highlight alignment gaps</a:t>
                      </a:r>
                      <a:endParaRPr lang="en-US" sz="950" dirty="0"/>
                    </a:p>
                  </a:txBody>
                  <a:tcPr marL="109728" marR="91440" marT="36576" marB="36576" anchor="ctr">
                    <a:lnL w="12700">
                      <a:solidFill>
                        <a:srgbClr val="353334"/>
                      </a:solidFill>
                    </a:lnL>
                    <a:lnR w="12700">
                      <a:solidFill>
                        <a:srgbClr val="353334"/>
                      </a:solidFill>
                    </a:lnR>
                    <a:lnT w="12700">
                      <a:solidFill>
                        <a:srgbClr val="353334"/>
                      </a:solidFill>
                    </a:lnT>
                    <a:lnB w="12700">
                      <a:solidFill>
                        <a:srgbClr val="353334"/>
                      </a:solidFill>
                    </a:lnB>
                    <a:solidFill>
                      <a:srgbClr val="FFFFFF"/>
                    </a:solidFill>
                  </a:tcPr>
                </a:tc>
                <a:tc>
                  <a:txBody>
                    <a:bodyPr/>
                    <a:lstStyle/>
                    <a:p>
                      <a:pPr/>
                      <a:r>
                        <a:rPr lang="en-US" sz="950" b="0" dirty="0">
                          <a:solidFill>
                            <a:srgbClr val="3C3C41"/>
                          </a:solidFill>
                          <a:latin typeface="Mulish"/>
                        </a:rPr>
                        <a:t>Domain matching with gap flags and SWOT analytics.</a:t>
                      </a:r>
                      <a:endParaRPr lang="en-US" sz="950" dirty="0"/>
                    </a:p>
                  </a:txBody>
                  <a:tcPr marL="109728" marR="91440" marT="36576" marB="36576" anchor="ctr">
                    <a:lnL w="12700">
                      <a:solidFill>
                        <a:srgbClr val="353334"/>
                      </a:solidFill>
                    </a:lnL>
                    <a:lnR w="12700">
                      <a:solidFill>
                        <a:srgbClr val="353334"/>
                      </a:solidFill>
                    </a:lnR>
                    <a:lnT w="12700">
                      <a:solidFill>
                        <a:srgbClr val="353334"/>
                      </a:solidFill>
                    </a:lnT>
                    <a:lnB w="12700">
                      <a:solidFill>
                        <a:srgbClr val="353334"/>
                      </a:solidFill>
                    </a:lnB>
                    <a:solidFill>
                      <a:srgbClr val="FFFFFF"/>
                    </a:solidFill>
                  </a:tcPr>
                </a:tc>
              </a:tr>
              <a:tr h="548640">
                <a:tc>
                  <a:txBody>
                    <a:bodyPr/>
                    <a:lstStyle/>
                    <a:p>
                      <a:pPr/>
                      <a:r>
                        <a:rPr lang="en-US" sz="1100" b="1" dirty="0">
                          <a:solidFill>
                            <a:srgbClr val="FD1485"/>
                          </a:solidFill>
                          <a:latin typeface="Fjalla One"/>
                        </a:rPr>
                        <a:t>6.  </a:t>
                      </a:r>
                      <a:r>
                        <a:rPr lang="en-US" sz="950" b="1" dirty="0">
                          <a:solidFill>
                            <a:srgbClr val="353334"/>
                          </a:solidFill>
                          <a:latin typeface="Mulish"/>
                        </a:rPr>
                        <a:t>Recommend educational pathways, examinations and development options</a:t>
                      </a:r>
                      <a:endParaRPr lang="en-US" sz="950" dirty="0"/>
                    </a:p>
                  </a:txBody>
                  <a:tcPr marL="109728" marR="91440" marT="36576" marB="36576" anchor="ctr">
                    <a:lnL w="12700">
                      <a:solidFill>
                        <a:srgbClr val="353334"/>
                      </a:solidFill>
                    </a:lnL>
                    <a:lnR w="12700">
                      <a:solidFill>
                        <a:srgbClr val="353334"/>
                      </a:solidFill>
                    </a:lnR>
                    <a:lnT w="12700">
                      <a:solidFill>
                        <a:srgbClr val="353334"/>
                      </a:solidFill>
                    </a:lnT>
                    <a:lnB w="12700">
                      <a:solidFill>
                        <a:srgbClr val="353334"/>
                      </a:solidFill>
                    </a:lnB>
                    <a:solidFill>
                      <a:srgbClr val="FFFFFF"/>
                    </a:solidFill>
                  </a:tcPr>
                </a:tc>
                <a:tc>
                  <a:txBody>
                    <a:bodyPr/>
                    <a:lstStyle/>
                    <a:p>
                      <a:pPr/>
                      <a:r>
                        <a:rPr lang="en-US" sz="950" b="0" dirty="0">
                          <a:solidFill>
                            <a:srgbClr val="3C3C41"/>
                          </a:solidFill>
                          <a:latin typeface="Mulish"/>
                        </a:rPr>
                        <a:t>A roadmap listing pathways, entrance exams, scholarships and development options.</a:t>
                      </a:r>
                      <a:endParaRPr lang="en-US" sz="950" dirty="0"/>
                    </a:p>
                  </a:txBody>
                  <a:tcPr marL="109728" marR="91440" marT="36576" marB="36576" anchor="ctr">
                    <a:lnL w="12700">
                      <a:solidFill>
                        <a:srgbClr val="353334"/>
                      </a:solidFill>
                    </a:lnL>
                    <a:lnR w="12700">
                      <a:solidFill>
                        <a:srgbClr val="353334"/>
                      </a:solidFill>
                    </a:lnR>
                    <a:lnT w="12700">
                      <a:solidFill>
                        <a:srgbClr val="353334"/>
                      </a:solidFill>
                    </a:lnT>
                    <a:lnB w="12700">
                      <a:solidFill>
                        <a:srgbClr val="353334"/>
                      </a:solidFill>
                    </a:lnB>
                    <a:solidFill>
                      <a:srgbClr val="FFFFF1"/>
                    </a:solidFill>
                  </a:tcPr>
                </a:tc>
              </a:tr>
              <a:tr h="548640">
                <a:tc>
                  <a:txBody>
                    <a:bodyPr/>
                    <a:lstStyle/>
                    <a:p>
                      <a:pPr/>
                      <a:r>
                        <a:rPr lang="en-US" sz="1100" b="1" dirty="0">
                          <a:solidFill>
                            <a:srgbClr val="FD1485"/>
                          </a:solidFill>
                          <a:latin typeface="Fjalla One"/>
                        </a:rPr>
                        <a:t>7.  </a:t>
                      </a:r>
                      <a:r>
                        <a:rPr lang="en-US" sz="950" b="1" dirty="0">
                          <a:solidFill>
                            <a:srgbClr val="353334"/>
                          </a:solidFill>
                          <a:latin typeface="Mulish"/>
                        </a:rPr>
                        <a:t>Close the five problem gaps</a:t>
                      </a:r>
                      <a:endParaRPr lang="en-US" sz="950" dirty="0"/>
                    </a:p>
                  </a:txBody>
                  <a:tcPr marL="109728" marR="91440" marT="36576" marB="36576" anchor="ctr">
                    <a:lnL w="12700">
                      <a:solidFill>
                        <a:srgbClr val="353334"/>
                      </a:solidFill>
                    </a:lnL>
                    <a:lnR w="12700">
                      <a:solidFill>
                        <a:srgbClr val="353334"/>
                      </a:solidFill>
                    </a:lnR>
                    <a:lnT w="12700">
                      <a:solidFill>
                        <a:srgbClr val="353334"/>
                      </a:solidFill>
                    </a:lnT>
                    <a:lnB w="12700">
                      <a:solidFill>
                        <a:srgbClr val="353334"/>
                      </a:solidFill>
                    </a:lnB>
                    <a:solidFill>
                      <a:srgbClr val="FFFFFF"/>
                    </a:solidFill>
                  </a:tcPr>
                </a:tc>
                <a:tc>
                  <a:txBody>
                    <a:bodyPr/>
                    <a:lstStyle/>
                    <a:p>
                      <a:pPr/>
                      <a:r>
                        <a:rPr lang="en-US" sz="950" b="0" dirty="0">
                          <a:solidFill>
                            <a:srgbClr val="3C3C41"/>
                          </a:solidFill>
                          <a:latin typeface="Mulish"/>
                        </a:rPr>
                        <a:t>Geographic demand view, salary and ROI view, parent inputs, hyper-local STEAM pathways, exam and scholarship discovery.</a:t>
                      </a:r>
                      <a:endParaRPr lang="en-US" sz="950" dirty="0"/>
                    </a:p>
                  </a:txBody>
                  <a:tcPr marL="109728" marR="91440" marT="36576" marB="36576" anchor="ctr">
                    <a:lnL w="12700">
                      <a:solidFill>
                        <a:srgbClr val="353334"/>
                      </a:solidFill>
                    </a:lnL>
                    <a:lnR w="12700">
                      <a:solidFill>
                        <a:srgbClr val="353334"/>
                      </a:solidFill>
                    </a:lnR>
                    <a:lnT w="12700">
                      <a:solidFill>
                        <a:srgbClr val="353334"/>
                      </a:solidFill>
                    </a:lnT>
                    <a:lnB w="12700">
                      <a:solidFill>
                        <a:srgbClr val="353334"/>
                      </a:solidFill>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1096</Words>
  <Application>Microsoft Office PowerPoint</Application>
  <PresentationFormat>Widescreen</PresentationFormat>
  <Paragraphs>151</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Kivin Ramesh</cp:lastModifiedBy>
  <cp:revision>7</cp:revision>
  <dcterms:created xsi:type="dcterms:W3CDTF">2013-01-27T09:14:16Z</dcterms:created>
  <dcterms:modified xsi:type="dcterms:W3CDTF">2026-10-07T06:08:27Z</dcterms:modified>
  <cp:category/>
</cp:coreProperties>
</file>