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CodeAlchemists, and this is PRISM: career guidance that sees the whole student, their family and their home town. Like light through a prism, one decision splits into six visible parts. Everything you will see today is a working product, not a mock-up.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asks for three things: guidance across many dimensions of a student, a focus on STEAM careers, and a link to hyper-local innovation, meaning real problems in the student's own district. The next slide shows why the guidance students get today falls short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most students choose from three inputs: their marks, what relatives say, and what the neighbour's child did. Aptitude tests help a little, but they stop at "you suit engineering". The real decision happens at the dinner table, around money, jobs near home, and disagreement between parent and child. PRISM is built around those three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serves four people around one decision. The student discovers their strengths. The parent enters the budget and their hopes privately. A school usually has one counsellor for a very large number of students, so PRISM does the counselling at scale and the counsellor's dashboard shows who needs a human conversation. The admin keeps an eye on fairness, data freshness and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journey in six steps. The student answers a questionnaire of about 25 minutes. That becomes a 19-dimension profile. Every career gets a six-part score. The family sees a money plan, has a guided family meeting, and leaves with a five-year roadmap. The app explains each step itself on this "How it works"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questionnaire has 74 original questions that measure 19 dimensions: interests using the RIASEC model, four aptitudes, thinking style, values, grit and risk tolerance. It catches rushed or contradictory answers, and it can be taken in two sittings. The Home page, shown small, walks the student through each step of the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PRISM. Every career gets one score, and that score splits into six weighted parts: fit, job market, affordability, return on investment, family alignment, and automation risk, which is the only part that subtracts. That is where the name comes from: like white light through a prism, one number splits into six visible colours. The same colours are used everywhere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result for our demo student Ananya. Her top path is Biomedical Engineer at 75, and the bar shows how each of the six parts contributed. One click opens "Why this score", inset, with the points for every part. We show a likely range instead of a falsely precise number, and we test how stable each rank is across 64 what-if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is usually where the conversation breaks down, so PRISM makes it concrete. Every course is costed per admission quota. We check 42 scholarship schemes against the student's profile and list the ones that actually apply, with deadlines. And the loan explainer shows the EMI against the family's monthly income, in plain words, before anyone signs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most distinctive feature: PRISM treats the family disagreement as data, not as noise. The parent joins with an invite code and enters the budget and their hopes privately. The conflict index measures where parent and child differ across six areas. Then a guided family meeting takes them through one question at a time, and suggests bridge careers that satisfy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Families can then explore. The what-if page lets them change savings, move to another city or reweight priorities, and the list re-ranks instantly. Compare puts two or three careers side by side. And the plan turns the choice into a five-year roadmap with entrance exams, deadlines and free courses from SWAYAM and NPTEL, which can be exported to a phone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hyper-local half of the brief. A student enters their pincode and sees real problems from their own district, here Dharmapuri: fluoride in village wells, and grading mangoes and millets for better prices. Each problem has a four to eight week starter project, the local partner, and the careers it builds towards. It turns "STEAM careers" from an abstract list into something a rural student can start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Guidance is only useful if families can trust it. Every figure in PRISM shows its source and whether it was checked or is an estimate, and the "How we know" page lists every dataset. Rankings are deterministic and reproducible. The AI only rephrases the summary; it never scores, and any answer containing a number that is not in the facts is rejected. Under-18s need parental approval, family money stays private, and we never collect caste or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is built for schools. A counsellor sees all their students on one dashboard, with flags for the ones who need a human conversation: high family conflict, dependence on a loan, or missed steps. Family money is never shown to them. Admins get anonymised analytics where small groups are hidden. And the whole app works on a phone, which is how most of our users will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this is a real, deployed product. A React app on Vercel talks to a FastAPI service on Render, which runs a scoring engine written as pure, fully tested functions over a PostgreSQL database. A live job-postings feed and an optional AI summary writer plug in at the side. The catalogue holds 51 careers, 101 study pathways, 41 institutions, 42 scholarships, 33 entrance exams and 20 local problems, and 120 automated tests cover the engine, fairness and data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turns a ranking on a screen into a decision a family makes together. Students choose with evidence, parents are heard and see the real cost, counsellors spend their time where it matters, and rural students find STEAM work near home. Next we want to pilot the questionnaire in real schools, switch on SMS and WhatsApp reminders, partner with Atal Tinkering Labs for more local problems, and follow up on outcomes after six to twelve months. Thank you; the live demo is at dataquest-frontend-theta.vercel.app, and all demo logins are in our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7080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24562"/>
            <a:ext cx="10566400" cy="628650"/>
          </a:xfrm>
          <a:prstGeom prst="rect">
            <a:avLst/>
          </a:prstGeom>
          <a:noFill/>
          <a:ln/>
        </p:spPr>
        <p:txBody>
          <a:bodyPr wrap="square" lIns="0" tIns="0" rIns="0" bIns="0" rtlCol="0" anchor="t"/>
          <a:lstStyle>
            <a:lvl1pPr algn="l" indent="0" marL="0">
              <a:lnSpc>
                <a:spcPct val="115000"/>
              </a:lnSpc>
              <a:buNone/>
              <a:defRPr lang="en-US" sz="3000" dirty="0">
                <a:solidFill>
                  <a:srgbClr val="F2F3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8012"/>
            <a:ext cx="10566400" cy="4187188"/>
          </a:xfrm>
          <a:prstGeom prst="rect">
            <a:avLst/>
          </a:prstGeom>
          <a:noFill/>
          <a:ln/>
        </p:spPr>
        <p:txBody>
          <a:bodyPr wrap="square" lIns="0" tIns="0" rIns="0" bIns="0" rtlCol="0" anchor="t"/>
          <a:lstStyle>
            <a:lvl1pPr algn="l" indent="0" marL="0">
              <a:lnSpc>
                <a:spcPct val="140000"/>
              </a:lnSpc>
              <a:buNone/>
              <a:defRPr lang="en-US" sz="1600" dirty="0">
                <a:solidFill>
                  <a:srgbClr val="F2F3F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080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24562"/>
            <a:ext cx="10566400" cy="628650"/>
          </a:xfrm>
          <a:prstGeom prst="rect">
            <a:avLst/>
          </a:prstGeom>
          <a:noFill/>
          <a:ln/>
        </p:spPr>
        <p:txBody>
          <a:bodyPr wrap="square" lIns="0" tIns="0" rIns="0" bIns="0" rtlCol="0" anchor="t"/>
          <a:lstStyle>
            <a:lvl1pPr algn="l" indent="0" marL="0">
              <a:lnSpc>
                <a:spcPct val="115000"/>
              </a:lnSpc>
              <a:buNone/>
              <a:defRPr lang="en-US" sz="3000" dirty="0">
                <a:solidFill>
                  <a:srgbClr val="F2F3F8"/>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58012"/>
            <a:ext cx="10566400" cy="4187188"/>
          </a:xfrm>
          <a:prstGeom prst="rect">
            <a:avLst/>
          </a:prstGeom>
          <a:noFill/>
          <a:ln/>
        </p:spPr>
        <p:txBody>
          <a:bodyPr wrap="square" lIns="0" tIns="0" rIns="0" bIns="0" rtlCol="0" anchor="t"/>
          <a:lstStyle>
            <a:lvl1pPr algn="l" indent="0" marL="0">
              <a:lnSpc>
                <a:spcPct val="140000"/>
              </a:lnSpc>
              <a:buNone/>
              <a:defRPr lang="en-US" sz="1600" dirty="0">
                <a:solidFill>
                  <a:srgbClr val="F2F3F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e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ataquest-frontend-theta.vercel.app/"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8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28000"/>
          </a:blip>
          <a:srcRect l="0" r="0" t="5000" b="500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7080D">
                  <a:alpha val="96000"/>
                </a:srgbClr>
              </a:gs>
              <a:gs pos="55000">
                <a:srgbClr val="07080D">
                  <a:alpha val="82000"/>
                </a:srgbClr>
              </a:gs>
              <a:gs pos="100000">
                <a:srgbClr val="07080D">
                  <a:alpha val="35000"/>
                </a:srgbClr>
              </a:gs>
            </a:gsLst>
            <a:lin ang="0" scaled="0"/>
          </a:gradFill>
          <a:ln/>
        </p:spPr>
      </p:sp>
      <p:sp>
        <p:nvSpPr>
          <p:cNvPr id="4" name="Shape 1"/>
          <p:cNvSpPr/>
          <p:nvPr/>
        </p:nvSpPr>
        <p:spPr>
          <a:xfrm>
            <a:off x="0" y="0"/>
            <a:ext cx="12192000" cy="508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5" name="Text 2"/>
          <p:cNvSpPr/>
          <p:nvPr/>
        </p:nvSpPr>
        <p:spPr>
          <a:xfrm>
            <a:off x="812800" y="120777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22D3EE"/>
                </a:solidFill>
                <a:latin typeface="DM Sans" pitchFamily="34" charset="0"/>
                <a:ea typeface="DM Sans" pitchFamily="34" charset="-122"/>
                <a:cs typeface="DM Sans" pitchFamily="34" charset="-120"/>
              </a:rPr>
              <a:t>DATAQUEST 3.0 · TEAM CODEALCHEMISTS</a:t>
            </a:r>
            <a:endParaRPr lang="en-US" sz="1200" dirty="0"/>
          </a:p>
        </p:txBody>
      </p:sp>
      <p:sp>
        <p:nvSpPr>
          <p:cNvPr id="6" name="Text 3"/>
          <p:cNvSpPr/>
          <p:nvPr>
            <p:ph type="title"/>
          </p:nvPr>
        </p:nvSpPr>
        <p:spPr>
          <a:xfrm>
            <a:off x="812800" y="162433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i="0" spc="1200" kern="0" dirty="0">
                <a:solidFill>
                  <a:srgbClr val="F2F3F8"/>
                </a:solidFill>
                <a:latin typeface="Space Grotesk" pitchFamily="34" charset="0"/>
                <a:ea typeface="Space Grotesk" pitchFamily="34" charset="-122"/>
                <a:cs typeface="Space Grotesk" pitchFamily="34" charset="-120"/>
              </a:rPr>
              <a:t>PRISM</a:t>
            </a:r>
            <a:endParaRPr lang="en-US" sz="10000" dirty="0"/>
          </a:p>
        </p:txBody>
      </p:sp>
      <p:sp>
        <p:nvSpPr>
          <p:cNvPr id="7" name="Text 4"/>
          <p:cNvSpPr/>
          <p:nvPr/>
        </p:nvSpPr>
        <p:spPr>
          <a:xfrm>
            <a:off x="812800" y="3097530"/>
            <a:ext cx="10883392" cy="901700"/>
          </a:xfrm>
          <a:prstGeom prst="rect">
            <a:avLst/>
          </a:prstGeom>
          <a:noFill/>
          <a:ln/>
        </p:spPr>
        <p:txBody>
          <a:bodyPr wrap="square" lIns="0" tIns="0" rIns="0" bIns="0" rtlCol="0" anchor="t">
            <a:normAutofit/>
          </a:bodyPr>
          <a:lstStyle/>
          <a:p>
            <a:pPr algn="l" indent="0" marL="0">
              <a:lnSpc>
                <a:spcPts val="3450"/>
              </a:lnSpc>
              <a:buNone/>
            </a:pPr>
            <a:r>
              <a:rPr lang="en-US" sz="3000" b="1" dirty="0">
                <a:solidFill>
                  <a:srgbClr val="F2F3F8"/>
                </a:solidFill>
                <a:latin typeface="Space Grotesk" pitchFamily="34" charset="0"/>
                <a:ea typeface="Space Grotesk" pitchFamily="34" charset="-122"/>
                <a:cs typeface="Space Grotesk" pitchFamily="34" charset="-120"/>
              </a:rPr>
              <a:t>See every path.</a:t>
            </a:r>
            <a:endParaRPr lang="en-US" sz="3000" dirty="0"/>
          </a:p>
          <a:p>
            <a:pPr algn="l" indent="0" marL="0">
              <a:lnSpc>
                <a:spcPts val="3450"/>
              </a:lnSpc>
              <a:buNone/>
            </a:pPr>
            <a:r>
              <a:rPr lang="en-US" sz="3000" b="1" dirty="0">
                <a:solidFill>
                  <a:srgbClr val="F2B01E"/>
                </a:solidFill>
                <a:latin typeface="Space Grotesk" pitchFamily="34" charset="0"/>
                <a:ea typeface="Space Grotesk" pitchFamily="34" charset="-122"/>
                <a:cs typeface="Space Grotesk" pitchFamily="34" charset="-120"/>
              </a:rPr>
              <a:t>Choose yours together.</a:t>
            </a:r>
            <a:endParaRPr lang="en-US" sz="3000" dirty="0"/>
          </a:p>
        </p:txBody>
      </p:sp>
      <p:sp>
        <p:nvSpPr>
          <p:cNvPr id="8" name="Text 5"/>
          <p:cNvSpPr/>
          <p:nvPr/>
        </p:nvSpPr>
        <p:spPr>
          <a:xfrm>
            <a:off x="812800" y="4177030"/>
            <a:ext cx="71945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BDD0"/>
                </a:solidFill>
                <a:latin typeface="DM Sans" pitchFamily="34" charset="0"/>
                <a:ea typeface="DM Sans" pitchFamily="34" charset="-122"/>
                <a:cs typeface="DM Sans" pitchFamily="34" charset="-120"/>
              </a:rPr>
              <a:t>Multi-Dimensional STEAM Career Guidance &amp; Hyper-Local Innovation Platform</a:t>
            </a:r>
            <a:endParaRPr lang="en-US" sz="1600" dirty="0"/>
          </a:p>
        </p:txBody>
      </p:sp>
      <p:sp>
        <p:nvSpPr>
          <p:cNvPr id="9" name="Text 6"/>
          <p:cNvSpPr/>
          <p:nvPr/>
        </p:nvSpPr>
        <p:spPr>
          <a:xfrm>
            <a:off x="812800" y="4949190"/>
            <a:ext cx="34010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BDD0"/>
                </a:solidFill>
                <a:latin typeface="DM Sans" pitchFamily="34" charset="0"/>
                <a:ea typeface="DM Sans" pitchFamily="34" charset="-122"/>
                <a:cs typeface="DM Sans" pitchFamily="34" charset="-120"/>
              </a:rPr>
              <a:t>Dipanshu Barua </a:t>
            </a:r>
            <a:r>
              <a:rPr lang="en-US" sz="1400" dirty="0">
                <a:solidFill>
                  <a:srgbClr val="6B7186"/>
                </a:solidFill>
                <a:latin typeface="DM Sans" pitchFamily="34" charset="0"/>
                <a:ea typeface="DM Sans" pitchFamily="34" charset="-122"/>
                <a:cs typeface="DM Sans" pitchFamily="34" charset="-120"/>
              </a:rPr>
              <a:t>· 26BAI1239</a:t>
            </a:r>
            <a:endParaRPr lang="en-US" sz="1400" dirty="0"/>
          </a:p>
        </p:txBody>
      </p:sp>
      <p:sp>
        <p:nvSpPr>
          <p:cNvPr id="10" name="Text 7"/>
          <p:cNvSpPr/>
          <p:nvPr/>
        </p:nvSpPr>
        <p:spPr>
          <a:xfrm>
            <a:off x="4114800" y="4949190"/>
            <a:ext cx="34010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BDD0"/>
                </a:solidFill>
                <a:latin typeface="DM Sans" pitchFamily="34" charset="0"/>
                <a:ea typeface="DM Sans" pitchFamily="34" charset="-122"/>
                <a:cs typeface="DM Sans" pitchFamily="34" charset="-120"/>
              </a:rPr>
              <a:t>Raag Mangukiya </a:t>
            </a:r>
            <a:r>
              <a:rPr lang="en-US" sz="1400" dirty="0">
                <a:solidFill>
                  <a:srgbClr val="6B7186"/>
                </a:solidFill>
                <a:latin typeface="DM Sans" pitchFamily="34" charset="0"/>
                <a:ea typeface="DM Sans" pitchFamily="34" charset="-122"/>
                <a:cs typeface="DM Sans" pitchFamily="34" charset="-120"/>
              </a:rPr>
              <a:t>· 26BAI1200</a:t>
            </a:r>
            <a:endParaRPr lang="en-US" sz="1400" dirty="0"/>
          </a:p>
        </p:txBody>
      </p:sp>
      <p:sp>
        <p:nvSpPr>
          <p:cNvPr id="11" name="Text 8"/>
          <p:cNvSpPr/>
          <p:nvPr/>
        </p:nvSpPr>
        <p:spPr>
          <a:xfrm>
            <a:off x="812800" y="5198110"/>
            <a:ext cx="34010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BDD0"/>
                </a:solidFill>
                <a:latin typeface="DM Sans" pitchFamily="34" charset="0"/>
                <a:ea typeface="DM Sans" pitchFamily="34" charset="-122"/>
                <a:cs typeface="DM Sans" pitchFamily="34" charset="-120"/>
              </a:rPr>
              <a:t>Aryan Verma </a:t>
            </a:r>
            <a:r>
              <a:rPr lang="en-US" sz="1400" dirty="0">
                <a:solidFill>
                  <a:srgbClr val="6B7186"/>
                </a:solidFill>
                <a:latin typeface="DM Sans" pitchFamily="34" charset="0"/>
                <a:ea typeface="DM Sans" pitchFamily="34" charset="-122"/>
                <a:cs typeface="DM Sans" pitchFamily="34" charset="-120"/>
              </a:rPr>
              <a:t>· 26BAI1206</a:t>
            </a:r>
            <a:endParaRPr lang="en-US" sz="1400" dirty="0"/>
          </a:p>
        </p:txBody>
      </p:sp>
      <p:sp>
        <p:nvSpPr>
          <p:cNvPr id="12" name="Text 9"/>
          <p:cNvSpPr/>
          <p:nvPr/>
        </p:nvSpPr>
        <p:spPr>
          <a:xfrm>
            <a:off x="4114800" y="5198110"/>
            <a:ext cx="34010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BDD0"/>
                </a:solidFill>
                <a:latin typeface="DM Sans" pitchFamily="34" charset="0"/>
                <a:ea typeface="DM Sans" pitchFamily="34" charset="-122"/>
                <a:cs typeface="DM Sans" pitchFamily="34" charset="-120"/>
              </a:rPr>
              <a:t>Aaryan Arora </a:t>
            </a:r>
            <a:r>
              <a:rPr lang="en-US" sz="1400" dirty="0">
                <a:solidFill>
                  <a:srgbClr val="6B7186"/>
                </a:solidFill>
                <a:latin typeface="DM Sans" pitchFamily="34" charset="0"/>
                <a:ea typeface="DM Sans" pitchFamily="34" charset="-122"/>
                <a:cs typeface="DM Sans" pitchFamily="34" charset="-120"/>
              </a:rPr>
              <a:t>· 26BAI1431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018"/>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THE PROBLEM STATEMENT</a:t>
            </a:r>
            <a:endParaRPr lang="en-US" sz="1200" dirty="0"/>
          </a:p>
        </p:txBody>
      </p:sp>
      <p:sp>
        <p:nvSpPr>
          <p:cNvPr id="4" name="Text 2"/>
          <p:cNvSpPr/>
          <p:nvPr>
            <p:ph type="title"/>
          </p:nvPr>
        </p:nvSpPr>
        <p:spPr>
          <a:xfrm>
            <a:off x="812800" y="92456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The brief: guidance that sees the whole student, and their home town</a:t>
            </a:r>
            <a:endParaRPr lang="en-US" sz="3000" dirty="0"/>
          </a:p>
        </p:txBody>
      </p:sp>
      <p:sp>
        <p:nvSpPr>
          <p:cNvPr id="5" name="Shape 3"/>
          <p:cNvSpPr/>
          <p:nvPr/>
        </p:nvSpPr>
        <p:spPr>
          <a:xfrm>
            <a:off x="815975" y="2121535"/>
            <a:ext cx="3380264" cy="2459990"/>
          </a:xfrm>
          <a:prstGeom prst="roundRect">
            <a:avLst>
              <a:gd name="adj" fmla="val 6066"/>
            </a:avLst>
          </a:prstGeom>
          <a:solidFill>
            <a:srgbClr val="151826"/>
          </a:solidFill>
          <a:ln w="6350">
            <a:solidFill>
              <a:srgbClr val="262A3B"/>
            </a:solidFill>
            <a:prstDash val="solid"/>
          </a:ln>
        </p:spPr>
      </p:sp>
      <p:pic>
        <p:nvPicPr>
          <p:cNvPr id="6" name="Image 0" descr="Activity">    </p:cNvPr>
          <p:cNvPicPr>
            <a:picLocks noChangeAspect="1"/>
          </p:cNvPicPr>
          <p:nvPr/>
        </p:nvPicPr>
        <p:blipFill>
          <a:blip r:embed="rId1"/>
          <a:srcRect l="0" r="0" t="0" b="0"/>
          <a:stretch/>
        </p:blipFill>
        <p:spPr>
          <a:xfrm>
            <a:off x="1122680" y="2428240"/>
            <a:ext cx="406400" cy="406400"/>
          </a:xfrm>
          <a:prstGeom prst="rect">
            <a:avLst/>
          </a:prstGeom>
        </p:spPr>
      </p:pic>
      <p:sp>
        <p:nvSpPr>
          <p:cNvPr id="7" name="Text 4"/>
          <p:cNvSpPr/>
          <p:nvPr/>
        </p:nvSpPr>
        <p:spPr>
          <a:xfrm>
            <a:off x="1122680" y="2961640"/>
            <a:ext cx="284985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Multi-dimensional</a:t>
            </a:r>
            <a:endParaRPr lang="en-US" sz="2200" dirty="0"/>
          </a:p>
        </p:txBody>
      </p:sp>
      <p:sp>
        <p:nvSpPr>
          <p:cNvPr id="8" name="Text 5"/>
          <p:cNvSpPr/>
          <p:nvPr/>
        </p:nvSpPr>
        <p:spPr>
          <a:xfrm>
            <a:off x="1122680" y="3423920"/>
            <a:ext cx="284985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Look at interests, aptitude, values, money and family, not just marks.</a:t>
            </a:r>
            <a:endParaRPr lang="en-US" sz="1400" dirty="0"/>
          </a:p>
        </p:txBody>
      </p:sp>
      <p:sp>
        <p:nvSpPr>
          <p:cNvPr id="9" name="Shape 6"/>
          <p:cNvSpPr/>
          <p:nvPr/>
        </p:nvSpPr>
        <p:spPr>
          <a:xfrm>
            <a:off x="4405789" y="2121535"/>
            <a:ext cx="3380343" cy="2459990"/>
          </a:xfrm>
          <a:prstGeom prst="roundRect">
            <a:avLst>
              <a:gd name="adj" fmla="val 6066"/>
            </a:avLst>
          </a:prstGeom>
          <a:solidFill>
            <a:srgbClr val="151826"/>
          </a:solidFill>
          <a:ln w="6350">
            <a:solidFill>
              <a:srgbClr val="262A3B"/>
            </a:solidFill>
            <a:prstDash val="solid"/>
          </a:ln>
        </p:spPr>
      </p:sp>
      <p:pic>
        <p:nvPicPr>
          <p:cNvPr id="10" name="Image 1" descr="Lightbulb">    </p:cNvPr>
          <p:cNvPicPr>
            <a:picLocks noChangeAspect="1"/>
          </p:cNvPicPr>
          <p:nvPr/>
        </p:nvPicPr>
        <p:blipFill>
          <a:blip r:embed="rId2"/>
          <a:srcRect l="0" r="0" t="0" b="0"/>
          <a:stretch/>
        </p:blipFill>
        <p:spPr>
          <a:xfrm>
            <a:off x="4712494" y="2428240"/>
            <a:ext cx="406400" cy="406400"/>
          </a:xfrm>
          <a:prstGeom prst="rect">
            <a:avLst/>
          </a:prstGeom>
        </p:spPr>
      </p:pic>
      <p:sp>
        <p:nvSpPr>
          <p:cNvPr id="11" name="Text 7"/>
          <p:cNvSpPr/>
          <p:nvPr/>
        </p:nvSpPr>
        <p:spPr>
          <a:xfrm>
            <a:off x="4712494" y="2961640"/>
            <a:ext cx="284994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STEAM careers</a:t>
            </a:r>
            <a:endParaRPr lang="en-US" sz="2200" dirty="0"/>
          </a:p>
        </p:txBody>
      </p:sp>
      <p:sp>
        <p:nvSpPr>
          <p:cNvPr id="12" name="Text 8"/>
          <p:cNvSpPr/>
          <p:nvPr/>
        </p:nvSpPr>
        <p:spPr>
          <a:xfrm>
            <a:off x="4712494" y="3423920"/>
            <a:ext cx="2849941"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Science, technology, engineering, arts and maths, explained with real costs and jobs.</a:t>
            </a:r>
            <a:endParaRPr lang="en-US" sz="1400" dirty="0"/>
          </a:p>
        </p:txBody>
      </p:sp>
      <p:sp>
        <p:nvSpPr>
          <p:cNvPr id="13" name="Shape 9"/>
          <p:cNvSpPr/>
          <p:nvPr/>
        </p:nvSpPr>
        <p:spPr>
          <a:xfrm>
            <a:off x="7995682" y="2121535"/>
            <a:ext cx="3380343" cy="2459990"/>
          </a:xfrm>
          <a:prstGeom prst="roundRect">
            <a:avLst>
              <a:gd name="adj" fmla="val 6066"/>
            </a:avLst>
          </a:prstGeom>
          <a:solidFill>
            <a:srgbClr val="151826"/>
          </a:solidFill>
          <a:ln w="6350">
            <a:solidFill>
              <a:srgbClr val="262A3B"/>
            </a:solidFill>
            <a:prstDash val="solid"/>
          </a:ln>
        </p:spPr>
      </p:sp>
      <p:pic>
        <p:nvPicPr>
          <p:cNvPr id="14" name="Image 2" descr="Globe">    </p:cNvPr>
          <p:cNvPicPr>
            <a:picLocks noChangeAspect="1"/>
          </p:cNvPicPr>
          <p:nvPr/>
        </p:nvPicPr>
        <p:blipFill>
          <a:blip r:embed="rId3"/>
          <a:srcRect l="0" r="0" t="0" b="0"/>
          <a:stretch/>
        </p:blipFill>
        <p:spPr>
          <a:xfrm>
            <a:off x="8302387" y="2428240"/>
            <a:ext cx="406400" cy="406400"/>
          </a:xfrm>
          <a:prstGeom prst="rect">
            <a:avLst/>
          </a:prstGeom>
        </p:spPr>
      </p:pic>
      <p:sp>
        <p:nvSpPr>
          <p:cNvPr id="15" name="Text 10"/>
          <p:cNvSpPr/>
          <p:nvPr/>
        </p:nvSpPr>
        <p:spPr>
          <a:xfrm>
            <a:off x="8302387" y="2961640"/>
            <a:ext cx="2849941"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Hyper-local innovation</a:t>
            </a:r>
            <a:endParaRPr lang="en-US" sz="2200" dirty="0"/>
          </a:p>
        </p:txBody>
      </p:sp>
      <p:sp>
        <p:nvSpPr>
          <p:cNvPr id="16" name="Text 11"/>
          <p:cNvSpPr/>
          <p:nvPr/>
        </p:nvSpPr>
        <p:spPr>
          <a:xfrm>
            <a:off x="8302387" y="3759200"/>
            <a:ext cx="2849941"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Connect students to real problems in their own district.</a:t>
            </a:r>
            <a:endParaRPr lang="en-US" sz="1400" dirty="0"/>
          </a:p>
        </p:txBody>
      </p:sp>
      <p:sp>
        <p:nvSpPr>
          <p:cNvPr id="17" name="Text 12"/>
          <p:cNvSpPr/>
          <p:nvPr/>
        </p:nvSpPr>
        <p:spPr>
          <a:xfrm>
            <a:off x="812800" y="49403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BDD0"/>
                </a:solidFill>
                <a:latin typeface="DM Sans" pitchFamily="34" charset="0"/>
                <a:ea typeface="DM Sans" pitchFamily="34" charset="-122"/>
                <a:cs typeface="DM Sans" pitchFamily="34" charset="-120"/>
              </a:rPr>
              <a:t>PRISM answers all three in </a:t>
            </a:r>
            <a:r>
              <a:rPr lang="en-US" sz="1600" b="1" dirty="0">
                <a:solidFill>
                  <a:srgbClr val="F2F3F8"/>
                </a:solidFill>
                <a:latin typeface="DM Sans" pitchFamily="34" charset="0"/>
                <a:ea typeface="DM Sans" pitchFamily="34" charset="-122"/>
                <a:cs typeface="DM Sans" pitchFamily="34" charset="-120"/>
              </a:rPr>
              <a:t>one working platform</a:t>
            </a:r>
            <a:r>
              <a:rPr lang="en-US" sz="1600" dirty="0">
                <a:solidFill>
                  <a:srgbClr val="B8BDD0"/>
                </a:solidFill>
                <a:latin typeface="DM Sans" pitchFamily="34" charset="0"/>
                <a:ea typeface="DM Sans" pitchFamily="34" charset="-122"/>
                <a:cs typeface="DM Sans" pitchFamily="34" charset="-120"/>
              </a:rPr>
              <a:t> for students, parents, counsellors and schools.</a:t>
            </a:r>
            <a:endParaRPr lang="en-US" sz="1600" dirty="0"/>
          </a:p>
        </p:txBody>
      </p:sp>
      <p:sp>
        <p:nvSpPr>
          <p:cNvPr id="18" name="Text 13"/>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WHY THIS MATTERS</a:t>
            </a:r>
            <a:endParaRPr lang="en-US" sz="1200" dirty="0"/>
          </a:p>
        </p:txBody>
      </p:sp>
      <p:sp>
        <p:nvSpPr>
          <p:cNvPr id="4" name="Text 2"/>
          <p:cNvSpPr/>
          <p:nvPr>
            <p:ph type="title"/>
          </p:nvPr>
        </p:nvSpPr>
        <p:spPr>
          <a:xfrm>
            <a:off x="812800" y="924561"/>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Most Class 10–12 students choose a career from three inputs</a:t>
            </a:r>
            <a:endParaRPr lang="en-US" sz="3000" dirty="0"/>
          </a:p>
        </p:txBody>
      </p:sp>
      <p:sp>
        <p:nvSpPr>
          <p:cNvPr id="5" name="Shape 3"/>
          <p:cNvSpPr/>
          <p:nvPr/>
        </p:nvSpPr>
        <p:spPr>
          <a:xfrm>
            <a:off x="812800" y="2080261"/>
            <a:ext cx="3386614" cy="0"/>
          </a:xfrm>
          <a:prstGeom prst="line">
            <a:avLst/>
          </a:prstGeom>
          <a:noFill/>
          <a:ln w="25400">
            <a:solidFill>
              <a:srgbClr val="3A3F55"/>
            </a:solidFill>
            <a:prstDash val="solid"/>
          </a:ln>
        </p:spPr>
      </p:sp>
      <p:sp>
        <p:nvSpPr>
          <p:cNvPr id="6" name="Text 4"/>
          <p:cNvSpPr/>
          <p:nvPr/>
        </p:nvSpPr>
        <p:spPr>
          <a:xfrm>
            <a:off x="812800" y="2296161"/>
            <a:ext cx="348821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F3F8"/>
                </a:solidFill>
                <a:latin typeface="Space Grotesk" pitchFamily="34" charset="0"/>
                <a:ea typeface="Space Grotesk" pitchFamily="34" charset="-122"/>
                <a:cs typeface="Space Grotesk" pitchFamily="34" charset="-120"/>
              </a:rPr>
              <a:t>Marks</a:t>
            </a:r>
            <a:endParaRPr lang="en-US" sz="2200" dirty="0"/>
          </a:p>
        </p:txBody>
      </p:sp>
      <p:sp>
        <p:nvSpPr>
          <p:cNvPr id="7" name="Text 5"/>
          <p:cNvSpPr/>
          <p:nvPr/>
        </p:nvSpPr>
        <p:spPr>
          <a:xfrm>
            <a:off x="812800" y="2763520"/>
            <a:ext cx="34882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90A6"/>
                </a:solidFill>
                <a:latin typeface="DM Sans" pitchFamily="34" charset="0"/>
                <a:ea typeface="DM Sans" pitchFamily="34" charset="-122"/>
                <a:cs typeface="DM Sans" pitchFamily="34" charset="-120"/>
              </a:rPr>
              <a:t>A single number decides the stream.</a:t>
            </a:r>
            <a:endParaRPr lang="en-US" sz="1400" dirty="0"/>
          </a:p>
        </p:txBody>
      </p:sp>
      <p:sp>
        <p:nvSpPr>
          <p:cNvPr id="8" name="Shape 6"/>
          <p:cNvSpPr/>
          <p:nvPr/>
        </p:nvSpPr>
        <p:spPr>
          <a:xfrm>
            <a:off x="4402614" y="2080261"/>
            <a:ext cx="3386693" cy="0"/>
          </a:xfrm>
          <a:prstGeom prst="line">
            <a:avLst/>
          </a:prstGeom>
          <a:noFill/>
          <a:ln w="25400">
            <a:solidFill>
              <a:srgbClr val="3A3F55"/>
            </a:solidFill>
            <a:prstDash val="solid"/>
          </a:ln>
        </p:spPr>
      </p:sp>
      <p:sp>
        <p:nvSpPr>
          <p:cNvPr id="9" name="Text 7"/>
          <p:cNvSpPr/>
          <p:nvPr/>
        </p:nvSpPr>
        <p:spPr>
          <a:xfrm>
            <a:off x="4402614" y="2296161"/>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F3F8"/>
                </a:solidFill>
                <a:latin typeface="Space Grotesk" pitchFamily="34" charset="0"/>
                <a:ea typeface="Space Grotesk" pitchFamily="34" charset="-122"/>
                <a:cs typeface="Space Grotesk" pitchFamily="34" charset="-120"/>
              </a:rPr>
              <a:t>What relatives say</a:t>
            </a:r>
            <a:endParaRPr lang="en-US" sz="2200" dirty="0"/>
          </a:p>
        </p:txBody>
      </p:sp>
      <p:sp>
        <p:nvSpPr>
          <p:cNvPr id="10" name="Text 8"/>
          <p:cNvSpPr/>
          <p:nvPr/>
        </p:nvSpPr>
        <p:spPr>
          <a:xfrm>
            <a:off x="4402614" y="2763520"/>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90A6"/>
                </a:solidFill>
                <a:latin typeface="DM Sans" pitchFamily="34" charset="0"/>
                <a:ea typeface="DM Sans" pitchFamily="34" charset="-122"/>
                <a:cs typeface="DM Sans" pitchFamily="34" charset="-120"/>
              </a:rPr>
              <a:t>Advice from a different job market.</a:t>
            </a:r>
            <a:endParaRPr lang="en-US" sz="1400" dirty="0"/>
          </a:p>
        </p:txBody>
      </p:sp>
      <p:sp>
        <p:nvSpPr>
          <p:cNvPr id="11" name="Shape 9"/>
          <p:cNvSpPr/>
          <p:nvPr/>
        </p:nvSpPr>
        <p:spPr>
          <a:xfrm>
            <a:off x="7992507" y="2080261"/>
            <a:ext cx="3386693" cy="0"/>
          </a:xfrm>
          <a:prstGeom prst="line">
            <a:avLst/>
          </a:prstGeom>
          <a:noFill/>
          <a:ln w="25400">
            <a:solidFill>
              <a:srgbClr val="3A3F55"/>
            </a:solidFill>
            <a:prstDash val="solid"/>
          </a:ln>
        </p:spPr>
      </p:sp>
      <p:sp>
        <p:nvSpPr>
          <p:cNvPr id="12" name="Text 10"/>
          <p:cNvSpPr/>
          <p:nvPr/>
        </p:nvSpPr>
        <p:spPr>
          <a:xfrm>
            <a:off x="7992507" y="2296161"/>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F3F8"/>
                </a:solidFill>
                <a:latin typeface="Space Grotesk" pitchFamily="34" charset="0"/>
                <a:ea typeface="Space Grotesk" pitchFamily="34" charset="-122"/>
                <a:cs typeface="Space Grotesk" pitchFamily="34" charset="-120"/>
              </a:rPr>
              <a:t>The neighbour's child</a:t>
            </a:r>
            <a:endParaRPr lang="en-US" sz="2200" dirty="0"/>
          </a:p>
        </p:txBody>
      </p:sp>
      <p:sp>
        <p:nvSpPr>
          <p:cNvPr id="13" name="Text 11"/>
          <p:cNvSpPr/>
          <p:nvPr/>
        </p:nvSpPr>
        <p:spPr>
          <a:xfrm>
            <a:off x="7992507" y="2763520"/>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90A6"/>
                </a:solidFill>
                <a:latin typeface="DM Sans" pitchFamily="34" charset="0"/>
                <a:ea typeface="DM Sans" pitchFamily="34" charset="-122"/>
                <a:cs typeface="DM Sans" pitchFamily="34" charset="-120"/>
              </a:rPr>
              <a:t>One example, copied.</a:t>
            </a:r>
            <a:endParaRPr lang="en-US" sz="1400" dirty="0"/>
          </a:p>
        </p:txBody>
      </p:sp>
      <p:sp>
        <p:nvSpPr>
          <p:cNvPr id="14" name="Text 12"/>
          <p:cNvSpPr/>
          <p:nvPr/>
        </p:nvSpPr>
        <p:spPr>
          <a:xfrm>
            <a:off x="812800" y="331724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BDD0"/>
                </a:solidFill>
                <a:latin typeface="DM Sans" pitchFamily="34" charset="0"/>
                <a:ea typeface="DM Sans" pitchFamily="34" charset="-122"/>
                <a:cs typeface="DM Sans" pitchFamily="34" charset="-120"/>
              </a:rPr>
              <a:t>Aptitude tests stop at </a:t>
            </a:r>
            <a:r>
              <a:rPr lang="en-US" sz="1600" i="1" dirty="0">
                <a:solidFill>
                  <a:srgbClr val="B8BDD0"/>
                </a:solidFill>
                <a:latin typeface="DM Sans" pitchFamily="34" charset="0"/>
                <a:ea typeface="DM Sans" pitchFamily="34" charset="-122"/>
                <a:cs typeface="DM Sans" pitchFamily="34" charset="-120"/>
              </a:rPr>
              <a:t>"you suit engineering"</a:t>
            </a:r>
            <a:r>
              <a:rPr lang="en-US" sz="1600" dirty="0">
                <a:solidFill>
                  <a:srgbClr val="B8BDD0"/>
                </a:solidFill>
                <a:latin typeface="DM Sans" pitchFamily="34" charset="0"/>
                <a:ea typeface="DM Sans" pitchFamily="34" charset="-122"/>
                <a:cs typeface="DM Sans" pitchFamily="34" charset="-120"/>
              </a:rPr>
              <a:t>. They ignore the questions families actually argue about:</a:t>
            </a:r>
            <a:endParaRPr lang="en-US" sz="1600" dirty="0"/>
          </a:p>
        </p:txBody>
      </p:sp>
      <p:sp>
        <p:nvSpPr>
          <p:cNvPr id="15" name="Text 13"/>
          <p:cNvSpPr/>
          <p:nvPr/>
        </p:nvSpPr>
        <p:spPr>
          <a:xfrm>
            <a:off x="812800" y="390652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DD4BF"/>
                </a:solidFill>
                <a:latin typeface="Space Grotesk" pitchFamily="34" charset="0"/>
                <a:ea typeface="Space Grotesk" pitchFamily="34" charset="-122"/>
                <a:cs typeface="Space Grotesk" pitchFamily="34" charset="-120"/>
              </a:rPr>
              <a:t>"Can we afford it, and will the loan be repaid?"</a:t>
            </a:r>
            <a:endParaRPr lang="en-US" sz="2000" dirty="0"/>
          </a:p>
        </p:txBody>
      </p:sp>
      <p:sp>
        <p:nvSpPr>
          <p:cNvPr id="16" name="Text 14"/>
          <p:cNvSpPr/>
          <p:nvPr/>
        </p:nvSpPr>
        <p:spPr>
          <a:xfrm>
            <a:off x="812800" y="438912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6FA8FF"/>
                </a:solidFill>
                <a:latin typeface="Space Grotesk" pitchFamily="34" charset="0"/>
                <a:ea typeface="Space Grotesk" pitchFamily="34" charset="-122"/>
                <a:cs typeface="Space Grotesk" pitchFamily="34" charset="-120"/>
              </a:rPr>
              <a:t>"Will there be jobs in four years, and near home?"</a:t>
            </a:r>
            <a:endParaRPr lang="en-US" sz="2000" dirty="0"/>
          </a:p>
        </p:txBody>
      </p:sp>
      <p:sp>
        <p:nvSpPr>
          <p:cNvPr id="17" name="Text 15"/>
          <p:cNvSpPr/>
          <p:nvPr/>
        </p:nvSpPr>
        <p:spPr>
          <a:xfrm>
            <a:off x="812800" y="487172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2B01E"/>
                </a:solidFill>
                <a:latin typeface="Space Grotesk" pitchFamily="34" charset="0"/>
                <a:ea typeface="Space Grotesk" pitchFamily="34" charset="-122"/>
                <a:cs typeface="Space Grotesk" pitchFamily="34" charset="-120"/>
              </a:rPr>
              <a:t>"Why does my child want design when we want medicine?"</a:t>
            </a:r>
            <a:endParaRPr lang="en-US" sz="2000" dirty="0"/>
          </a:p>
        </p:txBody>
      </p:sp>
      <p:sp>
        <p:nvSpPr>
          <p:cNvPr id="18" name="Text 16"/>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WHO IT IS FOR</a:t>
            </a:r>
            <a:endParaRPr lang="en-US" sz="1200" dirty="0"/>
          </a:p>
        </p:txBody>
      </p:sp>
      <p:sp>
        <p:nvSpPr>
          <p:cNvPr id="4" name="Text 2"/>
          <p:cNvSpPr/>
          <p:nvPr>
            <p:ph type="title"/>
          </p:nvPr>
        </p:nvSpPr>
        <p:spPr>
          <a:xfrm>
            <a:off x="812800" y="9245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Four people, one decision</a:t>
            </a:r>
            <a:endParaRPr lang="en-US" sz="3000" dirty="0"/>
          </a:p>
        </p:txBody>
      </p:sp>
      <p:sp>
        <p:nvSpPr>
          <p:cNvPr id="5" name="Shape 3"/>
          <p:cNvSpPr/>
          <p:nvPr/>
        </p:nvSpPr>
        <p:spPr>
          <a:xfrm>
            <a:off x="815975" y="1702436"/>
            <a:ext cx="2501900" cy="2589530"/>
          </a:xfrm>
          <a:prstGeom prst="roundRect">
            <a:avLst>
              <a:gd name="adj" fmla="val 5964"/>
            </a:avLst>
          </a:prstGeom>
          <a:solidFill>
            <a:srgbClr val="121521"/>
          </a:solidFill>
          <a:ln w="6350">
            <a:solidFill>
              <a:srgbClr val="262A3B"/>
            </a:solidFill>
            <a:prstDash val="solid"/>
          </a:ln>
        </p:spPr>
      </p:sp>
      <p:pic>
        <p:nvPicPr>
          <p:cNvPr id="6" name="Image 0" descr="GraduationCap">    </p:cNvPr>
          <p:cNvPicPr>
            <a:picLocks noChangeAspect="1"/>
          </p:cNvPicPr>
          <p:nvPr/>
        </p:nvPicPr>
        <p:blipFill>
          <a:blip r:embed="rId1"/>
          <a:srcRect l="0" r="0" t="0" b="0"/>
          <a:stretch/>
        </p:blipFill>
        <p:spPr>
          <a:xfrm>
            <a:off x="1046480" y="1983741"/>
            <a:ext cx="406400" cy="406400"/>
          </a:xfrm>
          <a:prstGeom prst="rect">
            <a:avLst/>
          </a:prstGeom>
        </p:spPr>
      </p:pic>
      <p:sp>
        <p:nvSpPr>
          <p:cNvPr id="7" name="Text 4"/>
          <p:cNvSpPr/>
          <p:nvPr/>
        </p:nvSpPr>
        <p:spPr>
          <a:xfrm>
            <a:off x="1046480" y="2517141"/>
            <a:ext cx="210211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Student</a:t>
            </a:r>
            <a:endParaRPr lang="en-US" sz="2200" dirty="0"/>
          </a:p>
        </p:txBody>
      </p:sp>
      <p:sp>
        <p:nvSpPr>
          <p:cNvPr id="8" name="Text 5"/>
          <p:cNvSpPr/>
          <p:nvPr/>
        </p:nvSpPr>
        <p:spPr>
          <a:xfrm>
            <a:off x="1046480" y="2979420"/>
            <a:ext cx="2102117"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Discovers strengths and sees why each career fits.</a:t>
            </a:r>
            <a:endParaRPr lang="en-US" sz="1400" dirty="0"/>
          </a:p>
        </p:txBody>
      </p:sp>
      <p:sp>
        <p:nvSpPr>
          <p:cNvPr id="9" name="Shape 6"/>
          <p:cNvSpPr/>
          <p:nvPr/>
        </p:nvSpPr>
        <p:spPr>
          <a:xfrm>
            <a:off x="3502025" y="1702436"/>
            <a:ext cx="2501900" cy="2589530"/>
          </a:xfrm>
          <a:prstGeom prst="roundRect">
            <a:avLst>
              <a:gd name="adj" fmla="val 5964"/>
            </a:avLst>
          </a:prstGeom>
          <a:solidFill>
            <a:srgbClr val="121521"/>
          </a:solidFill>
          <a:ln w="6350">
            <a:solidFill>
              <a:srgbClr val="262A3B"/>
            </a:solidFill>
            <a:prstDash val="solid"/>
          </a:ln>
        </p:spPr>
      </p:sp>
      <p:pic>
        <p:nvPicPr>
          <p:cNvPr id="10" name="Image 1" descr="Users">    </p:cNvPr>
          <p:cNvPicPr>
            <a:picLocks noChangeAspect="1"/>
          </p:cNvPicPr>
          <p:nvPr/>
        </p:nvPicPr>
        <p:blipFill>
          <a:blip r:embed="rId2"/>
          <a:srcRect l="0" r="0" t="0" b="0"/>
          <a:stretch/>
        </p:blipFill>
        <p:spPr>
          <a:xfrm>
            <a:off x="3732530" y="1983741"/>
            <a:ext cx="406400" cy="406400"/>
          </a:xfrm>
          <a:prstGeom prst="rect">
            <a:avLst/>
          </a:prstGeom>
        </p:spPr>
      </p:pic>
      <p:sp>
        <p:nvSpPr>
          <p:cNvPr id="11" name="Text 7"/>
          <p:cNvSpPr/>
          <p:nvPr/>
        </p:nvSpPr>
        <p:spPr>
          <a:xfrm>
            <a:off x="3732530" y="2517141"/>
            <a:ext cx="210211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Parent</a:t>
            </a:r>
            <a:endParaRPr lang="en-US" sz="2200" dirty="0"/>
          </a:p>
        </p:txBody>
      </p:sp>
      <p:sp>
        <p:nvSpPr>
          <p:cNvPr id="12" name="Text 8"/>
          <p:cNvSpPr/>
          <p:nvPr/>
        </p:nvSpPr>
        <p:spPr>
          <a:xfrm>
            <a:off x="3732530" y="2979420"/>
            <a:ext cx="2102117"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Enters the budget and hopes privately, and sees where they and their child differ.</a:t>
            </a:r>
            <a:endParaRPr lang="en-US" sz="1400" dirty="0"/>
          </a:p>
        </p:txBody>
      </p:sp>
      <p:sp>
        <p:nvSpPr>
          <p:cNvPr id="13" name="Shape 9"/>
          <p:cNvSpPr/>
          <p:nvPr/>
        </p:nvSpPr>
        <p:spPr>
          <a:xfrm>
            <a:off x="6188075" y="1702436"/>
            <a:ext cx="2501900" cy="2589530"/>
          </a:xfrm>
          <a:prstGeom prst="roundRect">
            <a:avLst>
              <a:gd name="adj" fmla="val 5964"/>
            </a:avLst>
          </a:prstGeom>
          <a:solidFill>
            <a:srgbClr val="121521"/>
          </a:solidFill>
          <a:ln w="6350">
            <a:solidFill>
              <a:srgbClr val="262A3B"/>
            </a:solidFill>
            <a:prstDash val="solid"/>
          </a:ln>
        </p:spPr>
      </p:sp>
      <p:pic>
        <p:nvPicPr>
          <p:cNvPr id="14" name="Image 2" descr="Chat">    </p:cNvPr>
          <p:cNvPicPr>
            <a:picLocks noChangeAspect="1"/>
          </p:cNvPicPr>
          <p:nvPr/>
        </p:nvPicPr>
        <p:blipFill>
          <a:blip r:embed="rId3"/>
          <a:srcRect l="0" r="0" t="0" b="0"/>
          <a:stretch/>
        </p:blipFill>
        <p:spPr>
          <a:xfrm>
            <a:off x="6418580" y="1983741"/>
            <a:ext cx="406400" cy="406400"/>
          </a:xfrm>
          <a:prstGeom prst="rect">
            <a:avLst/>
          </a:prstGeom>
        </p:spPr>
      </p:pic>
      <p:sp>
        <p:nvSpPr>
          <p:cNvPr id="15" name="Text 10"/>
          <p:cNvSpPr/>
          <p:nvPr/>
        </p:nvSpPr>
        <p:spPr>
          <a:xfrm>
            <a:off x="6418580" y="2517141"/>
            <a:ext cx="210211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Counsellor</a:t>
            </a:r>
            <a:endParaRPr lang="en-US" sz="2200" dirty="0"/>
          </a:p>
        </p:txBody>
      </p:sp>
      <p:sp>
        <p:nvSpPr>
          <p:cNvPr id="16" name="Text 11"/>
          <p:cNvSpPr/>
          <p:nvPr/>
        </p:nvSpPr>
        <p:spPr>
          <a:xfrm>
            <a:off x="6418580" y="2979420"/>
            <a:ext cx="2102117"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Supervises hundreds of students and sees who needs a conversation.</a:t>
            </a:r>
            <a:endParaRPr lang="en-US" sz="1400" dirty="0"/>
          </a:p>
        </p:txBody>
      </p:sp>
      <p:sp>
        <p:nvSpPr>
          <p:cNvPr id="17" name="Shape 12"/>
          <p:cNvSpPr/>
          <p:nvPr/>
        </p:nvSpPr>
        <p:spPr>
          <a:xfrm>
            <a:off x="8874125" y="1702436"/>
            <a:ext cx="2501900" cy="2589530"/>
          </a:xfrm>
          <a:prstGeom prst="roundRect">
            <a:avLst>
              <a:gd name="adj" fmla="val 5964"/>
            </a:avLst>
          </a:prstGeom>
          <a:solidFill>
            <a:srgbClr val="121521"/>
          </a:solidFill>
          <a:ln w="6350">
            <a:solidFill>
              <a:srgbClr val="262A3B"/>
            </a:solidFill>
            <a:prstDash val="solid"/>
          </a:ln>
        </p:spPr>
      </p:sp>
      <p:pic>
        <p:nvPicPr>
          <p:cNvPr id="18" name="Image 3" descr="Chart">    </p:cNvPr>
          <p:cNvPicPr>
            <a:picLocks noChangeAspect="1"/>
          </p:cNvPicPr>
          <p:nvPr/>
        </p:nvPicPr>
        <p:blipFill>
          <a:blip r:embed="rId4"/>
          <a:srcRect l="0" r="0" t="0" b="0"/>
          <a:stretch/>
        </p:blipFill>
        <p:spPr>
          <a:xfrm>
            <a:off x="9104630" y="1983741"/>
            <a:ext cx="406400" cy="406400"/>
          </a:xfrm>
          <a:prstGeom prst="rect">
            <a:avLst/>
          </a:prstGeom>
        </p:spPr>
      </p:pic>
      <p:sp>
        <p:nvSpPr>
          <p:cNvPr id="19" name="Text 13"/>
          <p:cNvSpPr/>
          <p:nvPr/>
        </p:nvSpPr>
        <p:spPr>
          <a:xfrm>
            <a:off x="9104630" y="2517141"/>
            <a:ext cx="210211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Admin</a:t>
            </a:r>
            <a:endParaRPr lang="en-US" sz="2200" dirty="0"/>
          </a:p>
        </p:txBody>
      </p:sp>
      <p:sp>
        <p:nvSpPr>
          <p:cNvPr id="20" name="Text 14"/>
          <p:cNvSpPr/>
          <p:nvPr/>
        </p:nvSpPr>
        <p:spPr>
          <a:xfrm>
            <a:off x="9104630" y="2979420"/>
            <a:ext cx="2102117"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Monitors fairness, data freshness and outcomes.</a:t>
            </a:r>
            <a:endParaRPr lang="en-US" sz="1400" dirty="0"/>
          </a:p>
        </p:txBody>
      </p:sp>
      <p:sp>
        <p:nvSpPr>
          <p:cNvPr id="21"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WHAT PRISM DOES, END TO END</a:t>
            </a:r>
            <a:endParaRPr lang="en-US" sz="1200" dirty="0"/>
          </a:p>
        </p:txBody>
      </p:sp>
      <p:sp>
        <p:nvSpPr>
          <p:cNvPr id="4" name="Text 2"/>
          <p:cNvSpPr/>
          <p:nvPr>
            <p:ph type="title"/>
          </p:nvPr>
        </p:nvSpPr>
        <p:spPr>
          <a:xfrm>
            <a:off x="812800" y="9245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From a 25-minute questionnaire to a family plan</a:t>
            </a:r>
            <a:endParaRPr lang="en-US" sz="3000" dirty="0"/>
          </a:p>
        </p:txBody>
      </p:sp>
      <p:sp>
        <p:nvSpPr>
          <p:cNvPr id="5" name="Shape 3"/>
          <p:cNvSpPr/>
          <p:nvPr/>
        </p:nvSpPr>
        <p:spPr>
          <a:xfrm>
            <a:off x="815975" y="1696086"/>
            <a:ext cx="1416050" cy="648970"/>
          </a:xfrm>
          <a:prstGeom prst="roundRect">
            <a:avLst>
              <a:gd name="adj" fmla="val 15166"/>
            </a:avLst>
          </a:prstGeom>
          <a:solidFill>
            <a:srgbClr val="121521"/>
          </a:solidFill>
          <a:ln w="6350">
            <a:solidFill>
              <a:srgbClr val="262A3B"/>
            </a:solidFill>
            <a:prstDash val="solid"/>
          </a:ln>
        </p:spPr>
      </p:sp>
      <p:sp>
        <p:nvSpPr>
          <p:cNvPr id="6" name="Text 4"/>
          <p:cNvSpPr/>
          <p:nvPr/>
        </p:nvSpPr>
        <p:spPr>
          <a:xfrm>
            <a:off x="894080" y="1799589"/>
            <a:ext cx="1310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01</a:t>
            </a:r>
            <a:endParaRPr lang="en-US" sz="1200" dirty="0"/>
          </a:p>
        </p:txBody>
      </p:sp>
      <p:sp>
        <p:nvSpPr>
          <p:cNvPr id="7" name="Text 5"/>
          <p:cNvSpPr/>
          <p:nvPr/>
        </p:nvSpPr>
        <p:spPr>
          <a:xfrm>
            <a:off x="894080" y="2051050"/>
            <a:ext cx="13106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2F3F8"/>
                </a:solidFill>
                <a:latin typeface="DM Sans" pitchFamily="34" charset="0"/>
                <a:ea typeface="DM Sans" pitchFamily="34" charset="-122"/>
                <a:cs typeface="DM Sans" pitchFamily="34" charset="-120"/>
              </a:rPr>
              <a:t>Questionnaire</a:t>
            </a:r>
            <a:endParaRPr lang="en-US" sz="1200" dirty="0"/>
          </a:p>
        </p:txBody>
      </p:sp>
      <p:pic>
        <p:nvPicPr>
          <p:cNvPr id="8" name="Image 0" descr="connector">    </p:cNvPr>
          <p:cNvPicPr>
            <a:picLocks noChangeAspect="1"/>
          </p:cNvPicPr>
          <p:nvPr/>
        </p:nvPicPr>
        <p:blipFill>
          <a:blip r:embed="rId1"/>
          <a:srcRect l="0" r="0" t="0" b="0"/>
          <a:stretch/>
        </p:blipFill>
        <p:spPr>
          <a:xfrm>
            <a:off x="2311400" y="1982471"/>
            <a:ext cx="254000" cy="76200"/>
          </a:xfrm>
          <a:prstGeom prst="rect">
            <a:avLst/>
          </a:prstGeom>
        </p:spPr>
      </p:pic>
      <p:sp>
        <p:nvSpPr>
          <p:cNvPr id="9" name="Shape 6"/>
          <p:cNvSpPr/>
          <p:nvPr/>
        </p:nvSpPr>
        <p:spPr>
          <a:xfrm>
            <a:off x="2644775" y="1600836"/>
            <a:ext cx="1416050" cy="839470"/>
          </a:xfrm>
          <a:prstGeom prst="roundRect">
            <a:avLst>
              <a:gd name="adj" fmla="val 11725"/>
            </a:avLst>
          </a:prstGeom>
          <a:solidFill>
            <a:srgbClr val="121521"/>
          </a:solidFill>
          <a:ln w="6350">
            <a:solidFill>
              <a:srgbClr val="262A3B"/>
            </a:solidFill>
            <a:prstDash val="solid"/>
          </a:ln>
        </p:spPr>
      </p:sp>
      <p:sp>
        <p:nvSpPr>
          <p:cNvPr id="10" name="Text 7"/>
          <p:cNvSpPr/>
          <p:nvPr/>
        </p:nvSpPr>
        <p:spPr>
          <a:xfrm>
            <a:off x="2722880" y="1704339"/>
            <a:ext cx="1310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02</a:t>
            </a:r>
            <a:endParaRPr lang="en-US" sz="1200" dirty="0"/>
          </a:p>
        </p:txBody>
      </p:sp>
      <p:sp>
        <p:nvSpPr>
          <p:cNvPr id="11" name="Text 8"/>
          <p:cNvSpPr/>
          <p:nvPr/>
        </p:nvSpPr>
        <p:spPr>
          <a:xfrm>
            <a:off x="2722880" y="1955800"/>
            <a:ext cx="131064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2F3F8"/>
                </a:solidFill>
                <a:latin typeface="DM Sans" pitchFamily="34" charset="0"/>
                <a:ea typeface="DM Sans" pitchFamily="34" charset="-122"/>
                <a:cs typeface="DM Sans" pitchFamily="34" charset="-120"/>
              </a:rPr>
              <a:t>19-dimension profile</a:t>
            </a:r>
            <a:endParaRPr lang="en-US" sz="1200" dirty="0"/>
          </a:p>
        </p:txBody>
      </p:sp>
      <p:pic>
        <p:nvPicPr>
          <p:cNvPr id="12" name="Image 1" descr="connector">    </p:cNvPr>
          <p:cNvPicPr>
            <a:picLocks noChangeAspect="1"/>
          </p:cNvPicPr>
          <p:nvPr/>
        </p:nvPicPr>
        <p:blipFill>
          <a:blip r:embed="rId2"/>
          <a:srcRect l="0" r="0" t="0" b="0"/>
          <a:stretch/>
        </p:blipFill>
        <p:spPr>
          <a:xfrm>
            <a:off x="4140200" y="1982471"/>
            <a:ext cx="254000" cy="76200"/>
          </a:xfrm>
          <a:prstGeom prst="rect">
            <a:avLst/>
          </a:prstGeom>
        </p:spPr>
      </p:pic>
      <p:sp>
        <p:nvSpPr>
          <p:cNvPr id="13" name="Shape 9"/>
          <p:cNvSpPr/>
          <p:nvPr/>
        </p:nvSpPr>
        <p:spPr>
          <a:xfrm>
            <a:off x="4473575" y="1696086"/>
            <a:ext cx="1416050" cy="648970"/>
          </a:xfrm>
          <a:prstGeom prst="roundRect">
            <a:avLst>
              <a:gd name="adj" fmla="val 15166"/>
            </a:avLst>
          </a:prstGeom>
          <a:solidFill>
            <a:srgbClr val="121521"/>
          </a:solidFill>
          <a:ln w="6350">
            <a:solidFill>
              <a:srgbClr val="262A3B"/>
            </a:solidFill>
            <a:prstDash val="solid"/>
          </a:ln>
        </p:spPr>
      </p:sp>
      <p:sp>
        <p:nvSpPr>
          <p:cNvPr id="14" name="Text 10"/>
          <p:cNvSpPr/>
          <p:nvPr/>
        </p:nvSpPr>
        <p:spPr>
          <a:xfrm>
            <a:off x="4551680" y="1799589"/>
            <a:ext cx="1310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03</a:t>
            </a:r>
            <a:endParaRPr lang="en-US" sz="1200" dirty="0"/>
          </a:p>
        </p:txBody>
      </p:sp>
      <p:sp>
        <p:nvSpPr>
          <p:cNvPr id="15" name="Text 11"/>
          <p:cNvSpPr/>
          <p:nvPr/>
        </p:nvSpPr>
        <p:spPr>
          <a:xfrm>
            <a:off x="4551680" y="2051050"/>
            <a:ext cx="13106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2F3F8"/>
                </a:solidFill>
                <a:latin typeface="DM Sans" pitchFamily="34" charset="0"/>
                <a:ea typeface="DM Sans" pitchFamily="34" charset="-122"/>
                <a:cs typeface="DM Sans" pitchFamily="34" charset="-120"/>
              </a:rPr>
              <a:t>Six-part score</a:t>
            </a:r>
            <a:endParaRPr lang="en-US" sz="1200" dirty="0"/>
          </a:p>
        </p:txBody>
      </p:sp>
      <p:pic>
        <p:nvPicPr>
          <p:cNvPr id="16" name="Image 2" descr="connector">    </p:cNvPr>
          <p:cNvPicPr>
            <a:picLocks noChangeAspect="1"/>
          </p:cNvPicPr>
          <p:nvPr/>
        </p:nvPicPr>
        <p:blipFill>
          <a:blip r:embed="rId3"/>
          <a:srcRect l="0" r="0" t="0" b="0"/>
          <a:stretch/>
        </p:blipFill>
        <p:spPr>
          <a:xfrm>
            <a:off x="5969000" y="1982471"/>
            <a:ext cx="254000" cy="76200"/>
          </a:xfrm>
          <a:prstGeom prst="rect">
            <a:avLst/>
          </a:prstGeom>
        </p:spPr>
      </p:pic>
      <p:sp>
        <p:nvSpPr>
          <p:cNvPr id="17" name="Shape 12"/>
          <p:cNvSpPr/>
          <p:nvPr/>
        </p:nvSpPr>
        <p:spPr>
          <a:xfrm>
            <a:off x="6302375" y="1696086"/>
            <a:ext cx="1416050" cy="648970"/>
          </a:xfrm>
          <a:prstGeom prst="roundRect">
            <a:avLst>
              <a:gd name="adj" fmla="val 15166"/>
            </a:avLst>
          </a:prstGeom>
          <a:solidFill>
            <a:srgbClr val="121521"/>
          </a:solidFill>
          <a:ln w="6350">
            <a:solidFill>
              <a:srgbClr val="262A3B"/>
            </a:solidFill>
            <a:prstDash val="solid"/>
          </a:ln>
        </p:spPr>
      </p:sp>
      <p:sp>
        <p:nvSpPr>
          <p:cNvPr id="18" name="Text 13"/>
          <p:cNvSpPr/>
          <p:nvPr/>
        </p:nvSpPr>
        <p:spPr>
          <a:xfrm>
            <a:off x="6380480" y="1799589"/>
            <a:ext cx="1310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04</a:t>
            </a:r>
            <a:endParaRPr lang="en-US" sz="1200" dirty="0"/>
          </a:p>
        </p:txBody>
      </p:sp>
      <p:sp>
        <p:nvSpPr>
          <p:cNvPr id="19" name="Text 14"/>
          <p:cNvSpPr/>
          <p:nvPr/>
        </p:nvSpPr>
        <p:spPr>
          <a:xfrm>
            <a:off x="6380480" y="2051050"/>
            <a:ext cx="13106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2F3F8"/>
                </a:solidFill>
                <a:latin typeface="DM Sans" pitchFamily="34" charset="0"/>
                <a:ea typeface="DM Sans" pitchFamily="34" charset="-122"/>
                <a:cs typeface="DM Sans" pitchFamily="34" charset="-120"/>
              </a:rPr>
              <a:t>Money plan</a:t>
            </a:r>
            <a:endParaRPr lang="en-US" sz="1200" dirty="0"/>
          </a:p>
        </p:txBody>
      </p:sp>
      <p:pic>
        <p:nvPicPr>
          <p:cNvPr id="20" name="Image 3" descr="connector">    </p:cNvPr>
          <p:cNvPicPr>
            <a:picLocks noChangeAspect="1"/>
          </p:cNvPicPr>
          <p:nvPr/>
        </p:nvPicPr>
        <p:blipFill>
          <a:blip r:embed="rId4"/>
          <a:srcRect l="0" r="0" t="0" b="0"/>
          <a:stretch/>
        </p:blipFill>
        <p:spPr>
          <a:xfrm>
            <a:off x="7797800" y="1982471"/>
            <a:ext cx="254000" cy="76200"/>
          </a:xfrm>
          <a:prstGeom prst="rect">
            <a:avLst/>
          </a:prstGeom>
        </p:spPr>
      </p:pic>
      <p:sp>
        <p:nvSpPr>
          <p:cNvPr id="21" name="Shape 15"/>
          <p:cNvSpPr/>
          <p:nvPr/>
        </p:nvSpPr>
        <p:spPr>
          <a:xfrm>
            <a:off x="8131175" y="1696086"/>
            <a:ext cx="1416050" cy="648970"/>
          </a:xfrm>
          <a:prstGeom prst="roundRect">
            <a:avLst>
              <a:gd name="adj" fmla="val 15166"/>
            </a:avLst>
          </a:prstGeom>
          <a:solidFill>
            <a:srgbClr val="121521"/>
          </a:solidFill>
          <a:ln w="6350">
            <a:solidFill>
              <a:srgbClr val="262A3B"/>
            </a:solidFill>
            <a:prstDash val="solid"/>
          </a:ln>
        </p:spPr>
      </p:sp>
      <p:sp>
        <p:nvSpPr>
          <p:cNvPr id="22" name="Text 16"/>
          <p:cNvSpPr/>
          <p:nvPr/>
        </p:nvSpPr>
        <p:spPr>
          <a:xfrm>
            <a:off x="8209280" y="1799589"/>
            <a:ext cx="1310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05</a:t>
            </a:r>
            <a:endParaRPr lang="en-US" sz="1200" dirty="0"/>
          </a:p>
        </p:txBody>
      </p:sp>
      <p:sp>
        <p:nvSpPr>
          <p:cNvPr id="23" name="Text 17"/>
          <p:cNvSpPr/>
          <p:nvPr/>
        </p:nvSpPr>
        <p:spPr>
          <a:xfrm>
            <a:off x="8209280" y="2051050"/>
            <a:ext cx="13106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2F3F8"/>
                </a:solidFill>
                <a:latin typeface="DM Sans" pitchFamily="34" charset="0"/>
                <a:ea typeface="DM Sans" pitchFamily="34" charset="-122"/>
                <a:cs typeface="DM Sans" pitchFamily="34" charset="-120"/>
              </a:rPr>
              <a:t>Family meeting</a:t>
            </a:r>
            <a:endParaRPr lang="en-US" sz="1200" dirty="0"/>
          </a:p>
        </p:txBody>
      </p:sp>
      <p:pic>
        <p:nvPicPr>
          <p:cNvPr id="24" name="Image 4" descr="connector">    </p:cNvPr>
          <p:cNvPicPr>
            <a:picLocks noChangeAspect="1"/>
          </p:cNvPicPr>
          <p:nvPr/>
        </p:nvPicPr>
        <p:blipFill>
          <a:blip r:embed="rId5"/>
          <a:srcRect l="0" r="0" t="0" b="0"/>
          <a:stretch/>
        </p:blipFill>
        <p:spPr>
          <a:xfrm>
            <a:off x="9626600" y="1982471"/>
            <a:ext cx="254000" cy="76200"/>
          </a:xfrm>
          <a:prstGeom prst="rect">
            <a:avLst/>
          </a:prstGeom>
        </p:spPr>
      </p:pic>
      <p:sp>
        <p:nvSpPr>
          <p:cNvPr id="25" name="Shape 18"/>
          <p:cNvSpPr/>
          <p:nvPr/>
        </p:nvSpPr>
        <p:spPr>
          <a:xfrm>
            <a:off x="9959975" y="1696086"/>
            <a:ext cx="1416050" cy="648970"/>
          </a:xfrm>
          <a:prstGeom prst="roundRect">
            <a:avLst>
              <a:gd name="adj" fmla="val 15166"/>
            </a:avLst>
          </a:prstGeom>
          <a:solidFill>
            <a:srgbClr val="121521"/>
          </a:solidFill>
          <a:ln w="6350">
            <a:solidFill>
              <a:srgbClr val="262A3B"/>
            </a:solidFill>
            <a:prstDash val="solid"/>
          </a:ln>
        </p:spPr>
      </p:sp>
      <p:sp>
        <p:nvSpPr>
          <p:cNvPr id="26" name="Text 19"/>
          <p:cNvSpPr/>
          <p:nvPr/>
        </p:nvSpPr>
        <p:spPr>
          <a:xfrm>
            <a:off x="10038080" y="1799589"/>
            <a:ext cx="1310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06</a:t>
            </a:r>
            <a:endParaRPr lang="en-US" sz="1200" dirty="0"/>
          </a:p>
        </p:txBody>
      </p:sp>
      <p:sp>
        <p:nvSpPr>
          <p:cNvPr id="27" name="Text 20"/>
          <p:cNvSpPr/>
          <p:nvPr/>
        </p:nvSpPr>
        <p:spPr>
          <a:xfrm>
            <a:off x="10038080" y="2051050"/>
            <a:ext cx="13106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2F3F8"/>
                </a:solidFill>
                <a:latin typeface="DM Sans" pitchFamily="34" charset="0"/>
                <a:ea typeface="DM Sans" pitchFamily="34" charset="-122"/>
                <a:cs typeface="DM Sans" pitchFamily="34" charset="-120"/>
              </a:rPr>
              <a:t>5-year roadmap</a:t>
            </a:r>
            <a:endParaRPr lang="en-US" sz="1200" dirty="0"/>
          </a:p>
        </p:txBody>
      </p:sp>
      <p:sp>
        <p:nvSpPr>
          <p:cNvPr id="28" name="Shape 21"/>
          <p:cNvSpPr/>
          <p:nvPr/>
        </p:nvSpPr>
        <p:spPr>
          <a:xfrm>
            <a:off x="3683000" y="2697482"/>
            <a:ext cx="4826000" cy="3016250"/>
          </a:xfrm>
          <a:prstGeom prst="roundRect">
            <a:avLst>
              <a:gd name="adj" fmla="val 4211"/>
            </a:avLst>
          </a:prstGeom>
          <a:solidFill>
            <a:srgbClr val="0E1018"/>
          </a:solidFill>
          <a:ln/>
          <a:effectLst>
            <a:outerShdw sx="100000" sy="100000" kx="0" ky="0" algn="bl" rotWithShape="0" blurRad="406400" dist="152400" dir="5400000">
              <a:srgbClr val="000000">
                <a:alpha val="50000"/>
              </a:srgbClr>
            </a:outerShdw>
          </a:effectLst>
        </p:spPr>
      </p:sp>
      <p:pic>
        <p:nvPicPr>
          <p:cNvPr id="29" name="Image 5" descr="PRISM's How it works page, showing the six steps from answers to roadmap">    </p:cNvPr>
          <p:cNvPicPr>
            <a:picLocks noChangeAspect="1"/>
          </p:cNvPicPr>
          <p:nvPr/>
        </p:nvPicPr>
        <p:blipFill>
          <a:blip r:embed="rId6"/>
          <a:srcRect l="-79" r="-79" t="0" b="0"/>
          <a:stretch/>
        </p:blipFill>
        <p:spPr>
          <a:xfrm>
            <a:off x="3689350" y="2703832"/>
            <a:ext cx="4813300" cy="3003550"/>
          </a:xfrm>
          <a:prstGeom prst="roundRect">
            <a:avLst>
              <a:gd name="adj" fmla="val 4017"/>
            </a:avLst>
          </a:prstGeom>
        </p:spPr>
      </p:pic>
      <p:sp>
        <p:nvSpPr>
          <p:cNvPr id="30" name="Shape 22"/>
          <p:cNvSpPr/>
          <p:nvPr/>
        </p:nvSpPr>
        <p:spPr>
          <a:xfrm>
            <a:off x="3686175" y="2700657"/>
            <a:ext cx="4819650" cy="3009900"/>
          </a:xfrm>
          <a:prstGeom prst="roundRect">
            <a:avLst>
              <a:gd name="adj" fmla="val 4114"/>
            </a:avLst>
          </a:prstGeom>
          <a:noFill/>
          <a:ln w="6350">
            <a:solidFill>
              <a:srgbClr val="2A2E3D"/>
            </a:solidFill>
            <a:prstDash val="solid"/>
          </a:ln>
        </p:spPr>
      </p:sp>
      <p:sp>
        <p:nvSpPr>
          <p:cNvPr id="31" name="Text 2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STEP 1 · UNDERSTANDING THE STUDENT</a:t>
            </a:r>
            <a:endParaRPr lang="en-US" sz="1200" dirty="0"/>
          </a:p>
        </p:txBody>
      </p:sp>
      <p:sp>
        <p:nvSpPr>
          <p:cNvPr id="4" name="Text 2"/>
          <p:cNvSpPr/>
          <p:nvPr>
            <p:ph type="title"/>
          </p:nvPr>
        </p:nvSpPr>
        <p:spPr>
          <a:xfrm>
            <a:off x="812800" y="924561"/>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74 original questions measure 19 dimensions, not just marks</a:t>
            </a:r>
            <a:endParaRPr lang="en-US" sz="3000" dirty="0"/>
          </a:p>
        </p:txBody>
      </p:sp>
      <p:sp>
        <p:nvSpPr>
          <p:cNvPr id="5" name="Text 3"/>
          <p:cNvSpPr/>
          <p:nvPr/>
        </p:nvSpPr>
        <p:spPr>
          <a:xfrm>
            <a:off x="812800" y="2528571"/>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D90FF"/>
                </a:solidFill>
                <a:latin typeface="DM Sans" pitchFamily="34" charset="0"/>
                <a:ea typeface="DM Sans" pitchFamily="34" charset="-122"/>
                <a:cs typeface="DM Sans" pitchFamily="34" charset="-120"/>
              </a:rPr>
              <a:t>What it measures</a:t>
            </a:r>
            <a:endParaRPr lang="en-US" sz="1600" dirty="0"/>
          </a:p>
        </p:txBody>
      </p:sp>
      <p:sp>
        <p:nvSpPr>
          <p:cNvPr id="6" name="Text 4"/>
          <p:cNvSpPr/>
          <p:nvPr/>
        </p:nvSpPr>
        <p:spPr>
          <a:xfrm>
            <a:off x="812800" y="2823211"/>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Interests (RIASEC), four aptitudes, thinking style, work values, grit and risk tolerance.</a:t>
            </a:r>
            <a:endParaRPr lang="en-US" sz="1400" dirty="0"/>
          </a:p>
        </p:txBody>
      </p:sp>
      <p:sp>
        <p:nvSpPr>
          <p:cNvPr id="7" name="Text 5"/>
          <p:cNvSpPr/>
          <p:nvPr/>
        </p:nvSpPr>
        <p:spPr>
          <a:xfrm>
            <a:off x="812800" y="3516632"/>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D90FF"/>
                </a:solidFill>
                <a:latin typeface="DM Sans" pitchFamily="34" charset="0"/>
                <a:ea typeface="DM Sans" pitchFamily="34" charset="-122"/>
                <a:cs typeface="DM Sans" pitchFamily="34" charset="-120"/>
              </a:rPr>
              <a:t>Quality checks built in</a:t>
            </a:r>
            <a:endParaRPr lang="en-US" sz="1600" dirty="0"/>
          </a:p>
        </p:txBody>
      </p:sp>
      <p:sp>
        <p:nvSpPr>
          <p:cNvPr id="8" name="Text 6"/>
          <p:cNvSpPr/>
          <p:nvPr/>
        </p:nvSpPr>
        <p:spPr>
          <a:xfrm>
            <a:off x="812800" y="3811271"/>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Rushed or contradictory answers are caught and flagged.</a:t>
            </a:r>
            <a:endParaRPr lang="en-US" sz="1400" dirty="0"/>
          </a:p>
        </p:txBody>
      </p:sp>
      <p:sp>
        <p:nvSpPr>
          <p:cNvPr id="9" name="Text 7"/>
          <p:cNvSpPr/>
          <p:nvPr/>
        </p:nvSpPr>
        <p:spPr>
          <a:xfrm>
            <a:off x="812800" y="4504689"/>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D90FF"/>
                </a:solidFill>
                <a:latin typeface="DM Sans" pitchFamily="34" charset="0"/>
                <a:ea typeface="DM Sans" pitchFamily="34" charset="-122"/>
                <a:cs typeface="DM Sans" pitchFamily="34" charset="-120"/>
              </a:rPr>
              <a:t>Fits a school day</a:t>
            </a:r>
            <a:endParaRPr lang="en-US" sz="1600" dirty="0"/>
          </a:p>
        </p:txBody>
      </p:sp>
      <p:sp>
        <p:nvSpPr>
          <p:cNvPr id="10" name="Text 8"/>
          <p:cNvSpPr/>
          <p:nvPr/>
        </p:nvSpPr>
        <p:spPr>
          <a:xfrm>
            <a:off x="812800" y="4799332"/>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Take it in two sittings; progress is saved, and the Home page shows the next step.</a:t>
            </a:r>
            <a:endParaRPr lang="en-US" sz="1400" dirty="0"/>
          </a:p>
        </p:txBody>
      </p:sp>
      <p:sp>
        <p:nvSpPr>
          <p:cNvPr id="11" name="Shape 9"/>
          <p:cNvSpPr/>
          <p:nvPr/>
        </p:nvSpPr>
        <p:spPr>
          <a:xfrm>
            <a:off x="5283200" y="2016761"/>
            <a:ext cx="5461000" cy="3416300"/>
          </a:xfrm>
          <a:prstGeom prst="roundRect">
            <a:avLst>
              <a:gd name="adj" fmla="val 3717"/>
            </a:avLst>
          </a:prstGeom>
          <a:solidFill>
            <a:srgbClr val="0E1018"/>
          </a:solidFill>
          <a:ln/>
          <a:effectLst>
            <a:outerShdw sx="100000" sy="100000" kx="0" ky="0" algn="bl" rotWithShape="0" blurRad="406400" dist="152400" dir="5400000">
              <a:srgbClr val="000000">
                <a:alpha val="50000"/>
              </a:srgbClr>
            </a:outerShdw>
          </a:effectLst>
        </p:spPr>
      </p:sp>
      <p:pic>
        <p:nvPicPr>
          <p:cNvPr id="12" name="Image 0" descr="The questionnaire page with four sections and progress">    </p:cNvPr>
          <p:cNvPicPr>
            <a:picLocks noChangeAspect="1"/>
          </p:cNvPicPr>
          <p:nvPr/>
        </p:nvPicPr>
        <p:blipFill>
          <a:blip r:embed="rId1"/>
          <a:srcRect l="-23" r="-23" t="0" b="0"/>
          <a:stretch/>
        </p:blipFill>
        <p:spPr>
          <a:xfrm>
            <a:off x="5289550" y="2023111"/>
            <a:ext cx="5448300" cy="3403600"/>
          </a:xfrm>
          <a:prstGeom prst="roundRect">
            <a:avLst>
              <a:gd name="adj" fmla="val 3545"/>
            </a:avLst>
          </a:prstGeom>
        </p:spPr>
      </p:pic>
      <p:sp>
        <p:nvSpPr>
          <p:cNvPr id="13" name="Shape 10"/>
          <p:cNvSpPr/>
          <p:nvPr/>
        </p:nvSpPr>
        <p:spPr>
          <a:xfrm>
            <a:off x="5286375" y="2019936"/>
            <a:ext cx="5454650" cy="3409950"/>
          </a:xfrm>
          <a:prstGeom prst="roundRect">
            <a:avLst>
              <a:gd name="adj" fmla="val 3631"/>
            </a:avLst>
          </a:prstGeom>
          <a:noFill/>
          <a:ln w="6350">
            <a:solidFill>
              <a:srgbClr val="2A2E3D"/>
            </a:solidFill>
            <a:prstDash val="solid"/>
          </a:ln>
        </p:spPr>
      </p:sp>
      <p:sp>
        <p:nvSpPr>
          <p:cNvPr id="14" name="Shape 11"/>
          <p:cNvSpPr/>
          <p:nvPr/>
        </p:nvSpPr>
        <p:spPr>
          <a:xfrm>
            <a:off x="8839200" y="4239261"/>
            <a:ext cx="2540000" cy="1587500"/>
          </a:xfrm>
          <a:prstGeom prst="roundRect">
            <a:avLst>
              <a:gd name="adj" fmla="val 6400"/>
            </a:avLst>
          </a:prstGeom>
          <a:solidFill>
            <a:srgbClr val="0E1018"/>
          </a:solidFill>
          <a:ln/>
          <a:effectLst>
            <a:outerShdw sx="100000" sy="100000" kx="0" ky="0" algn="bl" rotWithShape="0" blurRad="406400" dist="152400" dir="5400000">
              <a:srgbClr val="000000">
                <a:alpha val="70000"/>
              </a:srgbClr>
            </a:outerShdw>
          </a:effectLst>
        </p:spPr>
      </p:sp>
      <p:pic>
        <p:nvPicPr>
          <p:cNvPr id="15" name="Image 1" descr="The student's Home page with the journey checklist">    </p:cNvPr>
          <p:cNvPicPr>
            <a:picLocks noChangeAspect="1"/>
          </p:cNvPicPr>
          <p:nvPr/>
        </p:nvPicPr>
        <p:blipFill>
          <a:blip r:embed="rId2"/>
          <a:srcRect l="-305" r="-305" t="0" b="0"/>
          <a:stretch/>
        </p:blipFill>
        <p:spPr>
          <a:xfrm>
            <a:off x="8851900" y="4251961"/>
            <a:ext cx="2514600" cy="1562100"/>
          </a:xfrm>
          <a:prstGeom prst="roundRect">
            <a:avLst>
              <a:gd name="adj" fmla="val 5691"/>
            </a:avLst>
          </a:prstGeom>
        </p:spPr>
      </p:pic>
      <p:sp>
        <p:nvSpPr>
          <p:cNvPr id="16" name="Shape 12"/>
          <p:cNvSpPr/>
          <p:nvPr/>
        </p:nvSpPr>
        <p:spPr>
          <a:xfrm>
            <a:off x="8845550" y="4245611"/>
            <a:ext cx="2527300" cy="1574800"/>
          </a:xfrm>
          <a:prstGeom prst="roundRect">
            <a:avLst>
              <a:gd name="adj" fmla="val 6048"/>
            </a:avLst>
          </a:prstGeom>
          <a:noFill/>
          <a:ln w="12700">
            <a:solidFill>
              <a:srgbClr val="3A3F55"/>
            </a:solidFill>
            <a:prstDash val="solid"/>
          </a:ln>
        </p:spPr>
      </p:sp>
      <p:sp>
        <p:nvSpPr>
          <p:cNvPr id="17" name="Text 1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018"/>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STEP 2 · THE CORE IDEA</a:t>
            </a:r>
            <a:endParaRPr lang="en-US" sz="1200" dirty="0"/>
          </a:p>
        </p:txBody>
      </p:sp>
      <p:sp>
        <p:nvSpPr>
          <p:cNvPr id="4" name="Text 2"/>
          <p:cNvSpPr/>
          <p:nvPr>
            <p:ph type="title"/>
          </p:nvPr>
        </p:nvSpPr>
        <p:spPr>
          <a:xfrm>
            <a:off x="812800" y="9245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Every career gets one score, split into six visible parts</a:t>
            </a:r>
            <a:endParaRPr lang="en-US" sz="3000" dirty="0"/>
          </a:p>
        </p:txBody>
      </p:sp>
      <p:sp>
        <p:nvSpPr>
          <p:cNvPr id="5" name="Text 3"/>
          <p:cNvSpPr/>
          <p:nvPr/>
        </p:nvSpPr>
        <p:spPr>
          <a:xfrm>
            <a:off x="815975" y="1550036"/>
            <a:ext cx="10560050" cy="1010920"/>
          </a:xfrm>
          <a:prstGeom prst="roundRect">
            <a:avLst>
              <a:gd name="adj" fmla="val 12249"/>
            </a:avLst>
          </a:prstGeom>
          <a:solidFill>
            <a:srgbClr val="07080D"/>
          </a:solidFill>
          <a:ln w="6350">
            <a:solidFill>
              <a:srgbClr val="262A3B"/>
            </a:solidFill>
            <a:prstDash val="solid"/>
          </a:ln>
        </p:spPr>
        <p:txBody>
          <a:bodyPr wrap="square" lIns="194238" tIns="143438" rIns="0" bIns="118038" rtlCol="0" anchor="t">
            <a:normAutofit/>
          </a:bodyPr>
          <a:lstStyle/>
          <a:p>
            <a:pPr algn="l" indent="0" marL="0">
              <a:lnSpc>
                <a:spcPts val="2565"/>
              </a:lnSpc>
              <a:buNone/>
            </a:pPr>
            <a:r>
              <a:rPr lang="en-US" sz="1900" b="1" dirty="0">
                <a:solidFill>
                  <a:srgbClr val="F2F3F8"/>
                </a:solidFill>
                <a:latin typeface="Space Grotesk" pitchFamily="34" charset="0"/>
                <a:ea typeface="Space Grotesk" pitchFamily="34" charset="-122"/>
                <a:cs typeface="Space Grotesk" pitchFamily="34" charset="-120"/>
              </a:rPr>
              <a:t>Score = </a:t>
            </a:r>
            <a:r>
              <a:rPr lang="en-US" sz="1900" b="1" dirty="0">
                <a:solidFill>
                  <a:srgbClr val="9D90FF"/>
                </a:solidFill>
                <a:latin typeface="Space Grotesk" pitchFamily="34" charset="0"/>
                <a:ea typeface="Space Grotesk" pitchFamily="34" charset="-122"/>
                <a:cs typeface="Space Grotesk" pitchFamily="34" charset="-120"/>
              </a:rPr>
              <a:t>0.30 Fit</a:t>
            </a:r>
            <a:r>
              <a:rPr lang="en-US" sz="1900" b="1" dirty="0">
                <a:solidFill>
                  <a:srgbClr val="F2F3F8"/>
                </a:solidFill>
                <a:latin typeface="Space Grotesk" pitchFamily="34" charset="0"/>
                <a:ea typeface="Space Grotesk" pitchFamily="34" charset="-122"/>
                <a:cs typeface="Space Grotesk" pitchFamily="34" charset="-120"/>
              </a:rPr>
              <a:t> + </a:t>
            </a:r>
            <a:r>
              <a:rPr lang="en-US" sz="1900" b="1" dirty="0">
                <a:solidFill>
                  <a:srgbClr val="6FA8FF"/>
                </a:solidFill>
                <a:latin typeface="Space Grotesk" pitchFamily="34" charset="0"/>
                <a:ea typeface="Space Grotesk" pitchFamily="34" charset="-122"/>
                <a:cs typeface="Space Grotesk" pitchFamily="34" charset="-120"/>
              </a:rPr>
              <a:t>0.15 Market</a:t>
            </a:r>
            <a:r>
              <a:rPr lang="en-US" sz="1900" b="1" dirty="0">
                <a:solidFill>
                  <a:srgbClr val="F2F3F8"/>
                </a:solidFill>
                <a:latin typeface="Space Grotesk" pitchFamily="34" charset="0"/>
                <a:ea typeface="Space Grotesk" pitchFamily="34" charset="-122"/>
                <a:cs typeface="Space Grotesk" pitchFamily="34" charset="-120"/>
              </a:rPr>
              <a:t> + </a:t>
            </a:r>
            <a:r>
              <a:rPr lang="en-US" sz="1900" b="1" dirty="0">
                <a:solidFill>
                  <a:srgbClr val="2DD4BF"/>
                </a:solidFill>
                <a:latin typeface="Space Grotesk" pitchFamily="34" charset="0"/>
                <a:ea typeface="Space Grotesk" pitchFamily="34" charset="-122"/>
                <a:cs typeface="Space Grotesk" pitchFamily="34" charset="-120"/>
              </a:rPr>
              <a:t>0.20 Affordability</a:t>
            </a:r>
            <a:r>
              <a:rPr lang="en-US" sz="1900" b="1" dirty="0">
                <a:solidFill>
                  <a:srgbClr val="F2F3F8"/>
                </a:solidFill>
                <a:latin typeface="Space Grotesk" pitchFamily="34" charset="0"/>
                <a:ea typeface="Space Grotesk" pitchFamily="34" charset="-122"/>
                <a:cs typeface="Space Grotesk" pitchFamily="34" charset="-120"/>
              </a:rPr>
              <a:t> + </a:t>
            </a:r>
            <a:r>
              <a:rPr lang="en-US" sz="1900" b="1" dirty="0">
                <a:solidFill>
                  <a:srgbClr val="7FD34E"/>
                </a:solidFill>
                <a:latin typeface="Space Grotesk" pitchFamily="34" charset="0"/>
                <a:ea typeface="Space Grotesk" pitchFamily="34" charset="-122"/>
                <a:cs typeface="Space Grotesk" pitchFamily="34" charset="-120"/>
              </a:rPr>
              <a:t>0.15 ROI</a:t>
            </a:r>
            <a:r>
              <a:rPr lang="en-US" sz="1900" b="1" dirty="0">
                <a:solidFill>
                  <a:srgbClr val="F2F3F8"/>
                </a:solidFill>
                <a:latin typeface="Space Grotesk" pitchFamily="34" charset="0"/>
                <a:ea typeface="Space Grotesk" pitchFamily="34" charset="-122"/>
                <a:cs typeface="Space Grotesk" pitchFamily="34" charset="-120"/>
              </a:rPr>
              <a:t> + </a:t>
            </a:r>
            <a:r>
              <a:rPr lang="en-US" sz="1900" b="1" dirty="0">
                <a:solidFill>
                  <a:srgbClr val="F2B01E"/>
                </a:solidFill>
                <a:latin typeface="Space Grotesk" pitchFamily="34" charset="0"/>
                <a:ea typeface="Space Grotesk" pitchFamily="34" charset="-122"/>
                <a:cs typeface="Space Grotesk" pitchFamily="34" charset="-120"/>
              </a:rPr>
              <a:t>0.15 Family</a:t>
            </a:r>
            <a:r>
              <a:rPr lang="en-US" sz="1900" b="1" dirty="0">
                <a:solidFill>
                  <a:srgbClr val="F2F3F8"/>
                </a:solidFill>
                <a:latin typeface="Space Grotesk" pitchFamily="34" charset="0"/>
                <a:ea typeface="Space Grotesk" pitchFamily="34" charset="-122"/>
                <a:cs typeface="Space Grotesk" pitchFamily="34" charset="-120"/>
              </a:rPr>
              <a:t> − </a:t>
            </a:r>
            <a:r>
              <a:rPr lang="en-US" sz="1900" b="1" dirty="0">
                <a:solidFill>
                  <a:srgbClr val="FF7A75"/>
                </a:solidFill>
                <a:latin typeface="Space Grotesk" pitchFamily="34" charset="0"/>
                <a:ea typeface="Space Grotesk" pitchFamily="34" charset="-122"/>
                <a:cs typeface="Space Grotesk" pitchFamily="34" charset="-120"/>
              </a:rPr>
              <a:t>0.05 Automation risk</a:t>
            </a:r>
            <a:endParaRPr lang="en-US" sz="1900" dirty="0"/>
          </a:p>
        </p:txBody>
      </p:sp>
      <p:sp>
        <p:nvSpPr>
          <p:cNvPr id="6" name="Shape 4"/>
          <p:cNvSpPr/>
          <p:nvPr/>
        </p:nvSpPr>
        <p:spPr>
          <a:xfrm>
            <a:off x="812800" y="2767332"/>
            <a:ext cx="3420507" cy="1061720"/>
          </a:xfrm>
          <a:prstGeom prst="roundRect">
            <a:avLst>
              <a:gd name="adj" fmla="val 9569"/>
            </a:avLst>
          </a:prstGeom>
          <a:solidFill>
            <a:srgbClr val="151826"/>
          </a:solidFill>
          <a:ln/>
        </p:spPr>
      </p:sp>
      <p:sp>
        <p:nvSpPr>
          <p:cNvPr id="7" name="Shape 5"/>
          <p:cNvSpPr/>
          <p:nvPr/>
        </p:nvSpPr>
        <p:spPr>
          <a:xfrm>
            <a:off x="812800" y="2767332"/>
            <a:ext cx="3420507" cy="1061720"/>
          </a:xfrm>
          <a:custGeom>
            <a:avLst/>
            <a:gdLst/>
            <a:ahLst/>
            <a:cxnLst/>
            <a:rect l="l" t="t" r="r" b="b"/>
            <a:pathLst>
              <a:path w="3420507" h="1061720">
                <a:moveTo>
                  <a:pt x="101600" y="1061720"/>
                </a:moveTo>
                <a:lnTo>
                  <a:pt x="101600" y="1061720"/>
                </a:lnTo>
                <a:arcTo hR="101600" wR="101600" stAng="5400000" swAng="5400000"/>
                <a:lnTo>
                  <a:pt x="0" y="101600"/>
                </a:lnTo>
                <a:arcTo hR="101600" wR="101600" stAng="10800000" swAng="5400000"/>
                <a:lnTo>
                  <a:pt x="101600" y="0"/>
                </a:lnTo>
                <a:arcTo hR="101600" wR="63500" stAng="16200000" swAng="-5400000"/>
                <a:lnTo>
                  <a:pt x="38100" y="960120"/>
                </a:lnTo>
                <a:arcTo hR="101600" wR="63500" stAng="10800000" swAng="-5400000"/>
                <a:close/>
              </a:path>
            </a:pathLst>
          </a:custGeom>
          <a:solidFill>
            <a:srgbClr val="7C6CFF"/>
          </a:solidFill>
          <a:ln/>
        </p:spPr>
      </p:sp>
      <p:sp>
        <p:nvSpPr>
          <p:cNvPr id="8" name="Text 6"/>
          <p:cNvSpPr/>
          <p:nvPr/>
        </p:nvSpPr>
        <p:spPr>
          <a:xfrm>
            <a:off x="1026160" y="2919732"/>
            <a:ext cx="31202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3F8"/>
                </a:solidFill>
                <a:latin typeface="DM Sans" pitchFamily="34" charset="0"/>
                <a:ea typeface="DM Sans" pitchFamily="34" charset="-122"/>
                <a:cs typeface="DM Sans" pitchFamily="34" charset="-120"/>
              </a:rPr>
              <a:t>Fit · 30%</a:t>
            </a:r>
            <a:endParaRPr lang="en-US" sz="1500" dirty="0"/>
          </a:p>
        </p:txBody>
      </p:sp>
      <p:sp>
        <p:nvSpPr>
          <p:cNvPr id="9" name="Text 7"/>
          <p:cNvSpPr/>
          <p:nvPr/>
        </p:nvSpPr>
        <p:spPr>
          <a:xfrm>
            <a:off x="1026160" y="3249932"/>
            <a:ext cx="31202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The 19-dimension profile matched to each career.</a:t>
            </a:r>
            <a:endParaRPr lang="en-US" sz="1200" dirty="0"/>
          </a:p>
        </p:txBody>
      </p:sp>
      <p:sp>
        <p:nvSpPr>
          <p:cNvPr id="10" name="Shape 8"/>
          <p:cNvSpPr/>
          <p:nvPr/>
        </p:nvSpPr>
        <p:spPr>
          <a:xfrm>
            <a:off x="4385707" y="2767332"/>
            <a:ext cx="3420507" cy="1061720"/>
          </a:xfrm>
          <a:prstGeom prst="roundRect">
            <a:avLst>
              <a:gd name="adj" fmla="val 9569"/>
            </a:avLst>
          </a:prstGeom>
          <a:solidFill>
            <a:srgbClr val="151826"/>
          </a:solidFill>
          <a:ln/>
        </p:spPr>
      </p:sp>
      <p:sp>
        <p:nvSpPr>
          <p:cNvPr id="11" name="Shape 9"/>
          <p:cNvSpPr/>
          <p:nvPr/>
        </p:nvSpPr>
        <p:spPr>
          <a:xfrm>
            <a:off x="4385707" y="2767332"/>
            <a:ext cx="3420507" cy="1061720"/>
          </a:xfrm>
          <a:custGeom>
            <a:avLst/>
            <a:gdLst/>
            <a:ahLst/>
            <a:cxnLst/>
            <a:rect l="l" t="t" r="r" b="b"/>
            <a:pathLst>
              <a:path w="3420507" h="1061720">
                <a:moveTo>
                  <a:pt x="101600" y="1061720"/>
                </a:moveTo>
                <a:lnTo>
                  <a:pt x="101600" y="1061720"/>
                </a:lnTo>
                <a:arcTo hR="101600" wR="101600" stAng="5400000" swAng="5400000"/>
                <a:lnTo>
                  <a:pt x="0" y="101600"/>
                </a:lnTo>
                <a:arcTo hR="101600" wR="101600" stAng="10800000" swAng="5400000"/>
                <a:lnTo>
                  <a:pt x="101600" y="0"/>
                </a:lnTo>
                <a:arcTo hR="101600" wR="63500" stAng="16200000" swAng="-5400000"/>
                <a:lnTo>
                  <a:pt x="38100" y="960120"/>
                </a:lnTo>
                <a:arcTo hR="101600" wR="63500" stAng="10800000" swAng="-5400000"/>
                <a:close/>
              </a:path>
            </a:pathLst>
          </a:custGeom>
          <a:solidFill>
            <a:srgbClr val="3B8BFF"/>
          </a:solidFill>
          <a:ln/>
        </p:spPr>
      </p:sp>
      <p:sp>
        <p:nvSpPr>
          <p:cNvPr id="12" name="Text 10"/>
          <p:cNvSpPr/>
          <p:nvPr/>
        </p:nvSpPr>
        <p:spPr>
          <a:xfrm>
            <a:off x="4599067" y="2919732"/>
            <a:ext cx="31202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3F8"/>
                </a:solidFill>
                <a:latin typeface="DM Sans" pitchFamily="34" charset="0"/>
                <a:ea typeface="DM Sans" pitchFamily="34" charset="-122"/>
                <a:cs typeface="DM Sans" pitchFamily="34" charset="-120"/>
              </a:rPr>
              <a:t>Job market · 15%</a:t>
            </a:r>
            <a:endParaRPr lang="en-US" sz="1500" dirty="0"/>
          </a:p>
        </p:txBody>
      </p:sp>
      <p:sp>
        <p:nvSpPr>
          <p:cNvPr id="13" name="Text 11"/>
          <p:cNvSpPr/>
          <p:nvPr/>
        </p:nvSpPr>
        <p:spPr>
          <a:xfrm>
            <a:off x="4599067" y="3249932"/>
            <a:ext cx="31202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Salaries and live job postings by region.</a:t>
            </a:r>
            <a:endParaRPr lang="en-US" sz="1200" dirty="0"/>
          </a:p>
        </p:txBody>
      </p:sp>
      <p:sp>
        <p:nvSpPr>
          <p:cNvPr id="14" name="Shape 12"/>
          <p:cNvSpPr/>
          <p:nvPr/>
        </p:nvSpPr>
        <p:spPr>
          <a:xfrm>
            <a:off x="7958614" y="2767332"/>
            <a:ext cx="3420507" cy="1061720"/>
          </a:xfrm>
          <a:prstGeom prst="roundRect">
            <a:avLst>
              <a:gd name="adj" fmla="val 9569"/>
            </a:avLst>
          </a:prstGeom>
          <a:solidFill>
            <a:srgbClr val="151826"/>
          </a:solidFill>
          <a:ln/>
        </p:spPr>
      </p:sp>
      <p:sp>
        <p:nvSpPr>
          <p:cNvPr id="15" name="Shape 13"/>
          <p:cNvSpPr/>
          <p:nvPr/>
        </p:nvSpPr>
        <p:spPr>
          <a:xfrm>
            <a:off x="7958614" y="2767332"/>
            <a:ext cx="3420507" cy="1061720"/>
          </a:xfrm>
          <a:custGeom>
            <a:avLst/>
            <a:gdLst/>
            <a:ahLst/>
            <a:cxnLst/>
            <a:rect l="l" t="t" r="r" b="b"/>
            <a:pathLst>
              <a:path w="3420507" h="1061720">
                <a:moveTo>
                  <a:pt x="101600" y="1061720"/>
                </a:moveTo>
                <a:lnTo>
                  <a:pt x="101600" y="1061720"/>
                </a:lnTo>
                <a:arcTo hR="101600" wR="101600" stAng="5400000" swAng="5400000"/>
                <a:lnTo>
                  <a:pt x="0" y="101600"/>
                </a:lnTo>
                <a:arcTo hR="101600" wR="101600" stAng="10800000" swAng="5400000"/>
                <a:lnTo>
                  <a:pt x="101600" y="0"/>
                </a:lnTo>
                <a:arcTo hR="101600" wR="63500" stAng="16200000" swAng="-5400000"/>
                <a:lnTo>
                  <a:pt x="38100" y="960120"/>
                </a:lnTo>
                <a:arcTo hR="101600" wR="63500" stAng="10800000" swAng="-5400000"/>
                <a:close/>
              </a:path>
            </a:pathLst>
          </a:custGeom>
          <a:solidFill>
            <a:srgbClr val="14B8A6"/>
          </a:solidFill>
          <a:ln/>
        </p:spPr>
      </p:sp>
      <p:sp>
        <p:nvSpPr>
          <p:cNvPr id="16" name="Text 14"/>
          <p:cNvSpPr/>
          <p:nvPr/>
        </p:nvSpPr>
        <p:spPr>
          <a:xfrm>
            <a:off x="8171974" y="2919732"/>
            <a:ext cx="31202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3F8"/>
                </a:solidFill>
                <a:latin typeface="DM Sans" pitchFamily="34" charset="0"/>
                <a:ea typeface="DM Sans" pitchFamily="34" charset="-122"/>
                <a:cs typeface="DM Sans" pitchFamily="34" charset="-120"/>
              </a:rPr>
              <a:t>Affordability · 20%</a:t>
            </a:r>
            <a:endParaRPr lang="en-US" sz="1500" dirty="0"/>
          </a:p>
        </p:txBody>
      </p:sp>
      <p:sp>
        <p:nvSpPr>
          <p:cNvPr id="17" name="Text 15"/>
          <p:cNvSpPr/>
          <p:nvPr/>
        </p:nvSpPr>
        <p:spPr>
          <a:xfrm>
            <a:off x="8171974" y="3249932"/>
            <a:ext cx="31202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Cost after scholarships against family income.</a:t>
            </a:r>
            <a:endParaRPr lang="en-US" sz="1200" dirty="0"/>
          </a:p>
        </p:txBody>
      </p:sp>
      <p:sp>
        <p:nvSpPr>
          <p:cNvPr id="18" name="Shape 16"/>
          <p:cNvSpPr/>
          <p:nvPr/>
        </p:nvSpPr>
        <p:spPr>
          <a:xfrm>
            <a:off x="812800" y="3981450"/>
            <a:ext cx="3420507" cy="1061720"/>
          </a:xfrm>
          <a:prstGeom prst="roundRect">
            <a:avLst>
              <a:gd name="adj" fmla="val 9569"/>
            </a:avLst>
          </a:prstGeom>
          <a:solidFill>
            <a:srgbClr val="151826"/>
          </a:solidFill>
          <a:ln/>
        </p:spPr>
      </p:sp>
      <p:sp>
        <p:nvSpPr>
          <p:cNvPr id="19" name="Shape 17"/>
          <p:cNvSpPr/>
          <p:nvPr/>
        </p:nvSpPr>
        <p:spPr>
          <a:xfrm>
            <a:off x="812800" y="3981450"/>
            <a:ext cx="3420507" cy="1061720"/>
          </a:xfrm>
          <a:custGeom>
            <a:avLst/>
            <a:gdLst/>
            <a:ahLst/>
            <a:cxnLst/>
            <a:rect l="l" t="t" r="r" b="b"/>
            <a:pathLst>
              <a:path w="3420507" h="1061720">
                <a:moveTo>
                  <a:pt x="101600" y="1061720"/>
                </a:moveTo>
                <a:lnTo>
                  <a:pt x="101600" y="1061720"/>
                </a:lnTo>
                <a:arcTo hR="101600" wR="101600" stAng="5400000" swAng="5400000"/>
                <a:lnTo>
                  <a:pt x="0" y="101600"/>
                </a:lnTo>
                <a:arcTo hR="101600" wR="101600" stAng="10800000" swAng="5400000"/>
                <a:lnTo>
                  <a:pt x="101600" y="0"/>
                </a:lnTo>
                <a:arcTo hR="101600" wR="63500" stAng="16200000" swAng="-5400000"/>
                <a:lnTo>
                  <a:pt x="38100" y="960120"/>
                </a:lnTo>
                <a:arcTo hR="101600" wR="63500" stAng="10800000" swAng="-5400000"/>
                <a:close/>
              </a:path>
            </a:pathLst>
          </a:custGeom>
          <a:solidFill>
            <a:srgbClr val="65C23A"/>
          </a:solidFill>
          <a:ln/>
        </p:spPr>
      </p:sp>
      <p:sp>
        <p:nvSpPr>
          <p:cNvPr id="20" name="Text 18"/>
          <p:cNvSpPr/>
          <p:nvPr/>
        </p:nvSpPr>
        <p:spPr>
          <a:xfrm>
            <a:off x="1026160" y="4133850"/>
            <a:ext cx="31202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3F8"/>
                </a:solidFill>
                <a:latin typeface="DM Sans" pitchFamily="34" charset="0"/>
                <a:ea typeface="DM Sans" pitchFamily="34" charset="-122"/>
                <a:cs typeface="DM Sans" pitchFamily="34" charset="-120"/>
              </a:rPr>
              <a:t>Return on investment · 15%</a:t>
            </a:r>
            <a:endParaRPr lang="en-US" sz="1500" dirty="0"/>
          </a:p>
        </p:txBody>
      </p:sp>
      <p:sp>
        <p:nvSpPr>
          <p:cNvPr id="21" name="Text 19"/>
          <p:cNvSpPr/>
          <p:nvPr/>
        </p:nvSpPr>
        <p:spPr>
          <a:xfrm>
            <a:off x="1026160" y="4464050"/>
            <a:ext cx="31202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10-year earnings against starting work after Class 12.</a:t>
            </a:r>
            <a:endParaRPr lang="en-US" sz="1200" dirty="0"/>
          </a:p>
        </p:txBody>
      </p:sp>
      <p:sp>
        <p:nvSpPr>
          <p:cNvPr id="22" name="Shape 20"/>
          <p:cNvSpPr/>
          <p:nvPr/>
        </p:nvSpPr>
        <p:spPr>
          <a:xfrm>
            <a:off x="4385707" y="3981450"/>
            <a:ext cx="3420507" cy="1061720"/>
          </a:xfrm>
          <a:prstGeom prst="roundRect">
            <a:avLst>
              <a:gd name="adj" fmla="val 9569"/>
            </a:avLst>
          </a:prstGeom>
          <a:solidFill>
            <a:srgbClr val="151826"/>
          </a:solidFill>
          <a:ln/>
        </p:spPr>
      </p:sp>
      <p:sp>
        <p:nvSpPr>
          <p:cNvPr id="23" name="Shape 21"/>
          <p:cNvSpPr/>
          <p:nvPr/>
        </p:nvSpPr>
        <p:spPr>
          <a:xfrm>
            <a:off x="4385707" y="3981450"/>
            <a:ext cx="3420507" cy="1061720"/>
          </a:xfrm>
          <a:custGeom>
            <a:avLst/>
            <a:gdLst/>
            <a:ahLst/>
            <a:cxnLst/>
            <a:rect l="l" t="t" r="r" b="b"/>
            <a:pathLst>
              <a:path w="3420507" h="1061720">
                <a:moveTo>
                  <a:pt x="101600" y="1061720"/>
                </a:moveTo>
                <a:lnTo>
                  <a:pt x="101600" y="1061720"/>
                </a:lnTo>
                <a:arcTo hR="101600" wR="101600" stAng="5400000" swAng="5400000"/>
                <a:lnTo>
                  <a:pt x="0" y="101600"/>
                </a:lnTo>
                <a:arcTo hR="101600" wR="101600" stAng="10800000" swAng="5400000"/>
                <a:lnTo>
                  <a:pt x="101600" y="0"/>
                </a:lnTo>
                <a:arcTo hR="101600" wR="63500" stAng="16200000" swAng="-5400000"/>
                <a:lnTo>
                  <a:pt x="38100" y="960120"/>
                </a:lnTo>
                <a:arcTo hR="101600" wR="63500" stAng="10800000" swAng="-5400000"/>
                <a:close/>
              </a:path>
            </a:pathLst>
          </a:custGeom>
          <a:solidFill>
            <a:srgbClr val="F2B01E"/>
          </a:solidFill>
          <a:ln/>
        </p:spPr>
      </p:sp>
      <p:sp>
        <p:nvSpPr>
          <p:cNvPr id="24" name="Text 22"/>
          <p:cNvSpPr/>
          <p:nvPr/>
        </p:nvSpPr>
        <p:spPr>
          <a:xfrm>
            <a:off x="4599067" y="4133850"/>
            <a:ext cx="31202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3F8"/>
                </a:solidFill>
                <a:latin typeface="DM Sans" pitchFamily="34" charset="0"/>
                <a:ea typeface="DM Sans" pitchFamily="34" charset="-122"/>
                <a:cs typeface="DM Sans" pitchFamily="34" charset="-120"/>
              </a:rPr>
              <a:t>Family alignment · 15%</a:t>
            </a:r>
            <a:endParaRPr lang="en-US" sz="1500" dirty="0"/>
          </a:p>
        </p:txBody>
      </p:sp>
      <p:sp>
        <p:nvSpPr>
          <p:cNvPr id="25" name="Text 23"/>
          <p:cNvSpPr/>
          <p:nvPr/>
        </p:nvSpPr>
        <p:spPr>
          <a:xfrm>
            <a:off x="4599067" y="4464050"/>
            <a:ext cx="31202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How far parent and child agree, across six areas.</a:t>
            </a:r>
            <a:endParaRPr lang="en-US" sz="1200" dirty="0"/>
          </a:p>
        </p:txBody>
      </p:sp>
      <p:sp>
        <p:nvSpPr>
          <p:cNvPr id="26" name="Shape 24"/>
          <p:cNvSpPr/>
          <p:nvPr/>
        </p:nvSpPr>
        <p:spPr>
          <a:xfrm>
            <a:off x="7958614" y="3981450"/>
            <a:ext cx="3420507" cy="1061720"/>
          </a:xfrm>
          <a:prstGeom prst="roundRect">
            <a:avLst>
              <a:gd name="adj" fmla="val 9569"/>
            </a:avLst>
          </a:prstGeom>
          <a:solidFill>
            <a:srgbClr val="151826"/>
          </a:solidFill>
          <a:ln/>
        </p:spPr>
      </p:sp>
      <p:sp>
        <p:nvSpPr>
          <p:cNvPr id="27" name="Shape 25"/>
          <p:cNvSpPr/>
          <p:nvPr/>
        </p:nvSpPr>
        <p:spPr>
          <a:xfrm>
            <a:off x="7958614" y="3981450"/>
            <a:ext cx="3420507" cy="1061720"/>
          </a:xfrm>
          <a:custGeom>
            <a:avLst/>
            <a:gdLst/>
            <a:ahLst/>
            <a:cxnLst/>
            <a:rect l="l" t="t" r="r" b="b"/>
            <a:pathLst>
              <a:path w="3420507" h="1061720">
                <a:moveTo>
                  <a:pt x="101600" y="1061720"/>
                </a:moveTo>
                <a:lnTo>
                  <a:pt x="101600" y="1061720"/>
                </a:lnTo>
                <a:arcTo hR="101600" wR="101600" stAng="5400000" swAng="5400000"/>
                <a:lnTo>
                  <a:pt x="0" y="101600"/>
                </a:lnTo>
                <a:arcTo hR="101600" wR="101600" stAng="10800000" swAng="5400000"/>
                <a:lnTo>
                  <a:pt x="101600" y="0"/>
                </a:lnTo>
                <a:arcTo hR="101600" wR="63500" stAng="16200000" swAng="-5400000"/>
                <a:lnTo>
                  <a:pt x="38100" y="960120"/>
                </a:lnTo>
                <a:arcTo hR="101600" wR="63500" stAng="10800000" swAng="-5400000"/>
                <a:close/>
              </a:path>
            </a:pathLst>
          </a:custGeom>
          <a:solidFill>
            <a:srgbClr val="F0544F"/>
          </a:solidFill>
          <a:ln/>
        </p:spPr>
      </p:sp>
      <p:sp>
        <p:nvSpPr>
          <p:cNvPr id="28" name="Text 26"/>
          <p:cNvSpPr/>
          <p:nvPr/>
        </p:nvSpPr>
        <p:spPr>
          <a:xfrm>
            <a:off x="8171974" y="4133850"/>
            <a:ext cx="31202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F3F8"/>
                </a:solidFill>
                <a:latin typeface="DM Sans" pitchFamily="34" charset="0"/>
                <a:ea typeface="DM Sans" pitchFamily="34" charset="-122"/>
                <a:cs typeface="DM Sans" pitchFamily="34" charset="-120"/>
              </a:rPr>
              <a:t>Automation risk · −5%</a:t>
            </a:r>
            <a:endParaRPr lang="en-US" sz="1500" dirty="0"/>
          </a:p>
        </p:txBody>
      </p:sp>
      <p:sp>
        <p:nvSpPr>
          <p:cNvPr id="29" name="Text 27"/>
          <p:cNvSpPr/>
          <p:nvPr/>
        </p:nvSpPr>
        <p:spPr>
          <a:xfrm>
            <a:off x="8171974" y="4464050"/>
            <a:ext cx="31202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Exposure to automation; the only part that subtracts.</a:t>
            </a:r>
            <a:endParaRPr lang="en-US" sz="1200" dirty="0"/>
          </a:p>
        </p:txBody>
      </p:sp>
      <p:sp>
        <p:nvSpPr>
          <p:cNvPr id="30" name="Text 2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STEP 3 · NOTHING IS A BLACK BOX</a:t>
            </a:r>
            <a:endParaRPr lang="en-US" sz="1200" dirty="0"/>
          </a:p>
        </p:txBody>
      </p:sp>
      <p:sp>
        <p:nvSpPr>
          <p:cNvPr id="4" name="Text 2"/>
          <p:cNvSpPr/>
          <p:nvPr>
            <p:ph type="title"/>
          </p:nvPr>
        </p:nvSpPr>
        <p:spPr>
          <a:xfrm>
            <a:off x="812800" y="924561"/>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Click any career to see exactly why it scored what it did</a:t>
            </a:r>
            <a:endParaRPr lang="en-US" sz="3000" dirty="0"/>
          </a:p>
        </p:txBody>
      </p:sp>
      <p:sp>
        <p:nvSpPr>
          <p:cNvPr id="5" name="Text 3"/>
          <p:cNvSpPr/>
          <p:nvPr/>
        </p:nvSpPr>
        <p:spPr>
          <a:xfrm>
            <a:off x="812800" y="2109471"/>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D90FF"/>
                </a:solidFill>
                <a:latin typeface="DM Sans" pitchFamily="34" charset="0"/>
                <a:ea typeface="DM Sans" pitchFamily="34" charset="-122"/>
                <a:cs typeface="DM Sans" pitchFamily="34" charset="-120"/>
              </a:rPr>
              <a:t>Points, part by part</a:t>
            </a:r>
            <a:endParaRPr lang="en-US" sz="1600" dirty="0"/>
          </a:p>
        </p:txBody>
      </p:sp>
      <p:sp>
        <p:nvSpPr>
          <p:cNvPr id="6" name="Text 4"/>
          <p:cNvSpPr/>
          <p:nvPr/>
        </p:nvSpPr>
        <p:spPr>
          <a:xfrm>
            <a:off x="812800" y="2404111"/>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Each of the six parts shows its contribution to the final score.</a:t>
            </a:r>
            <a:endParaRPr lang="en-US" sz="1400" dirty="0"/>
          </a:p>
        </p:txBody>
      </p:sp>
      <p:sp>
        <p:nvSpPr>
          <p:cNvPr id="7" name="Text 5"/>
          <p:cNvSpPr/>
          <p:nvPr/>
        </p:nvSpPr>
        <p:spPr>
          <a:xfrm>
            <a:off x="812800" y="3097532"/>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D90FF"/>
                </a:solidFill>
                <a:latin typeface="DM Sans" pitchFamily="34" charset="0"/>
                <a:ea typeface="DM Sans" pitchFamily="34" charset="-122"/>
                <a:cs typeface="DM Sans" pitchFamily="34" charset="-120"/>
              </a:rPr>
              <a:t>A range, not false precision</a:t>
            </a:r>
            <a:endParaRPr lang="en-US" sz="1600" dirty="0"/>
          </a:p>
        </p:txBody>
      </p:sp>
      <p:sp>
        <p:nvSpPr>
          <p:cNvPr id="8" name="Text 6"/>
          <p:cNvSpPr/>
          <p:nvPr/>
        </p:nvSpPr>
        <p:spPr>
          <a:xfrm>
            <a:off x="812800" y="3392171"/>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"75 · likely 63–87": the range widens when inputs are estimates.</a:t>
            </a:r>
            <a:endParaRPr lang="en-US" sz="1400" dirty="0"/>
          </a:p>
        </p:txBody>
      </p:sp>
      <p:sp>
        <p:nvSpPr>
          <p:cNvPr id="9" name="Text 7"/>
          <p:cNvSpPr/>
          <p:nvPr/>
        </p:nvSpPr>
        <p:spPr>
          <a:xfrm>
            <a:off x="812800" y="4085592"/>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D90FF"/>
                </a:solidFill>
                <a:latin typeface="DM Sans" pitchFamily="34" charset="0"/>
                <a:ea typeface="DM Sans" pitchFamily="34" charset="-122"/>
                <a:cs typeface="DM Sans" pitchFamily="34" charset="-120"/>
              </a:rPr>
              <a:t>Stability tested</a:t>
            </a:r>
            <a:endParaRPr lang="en-US" sz="1600" dirty="0"/>
          </a:p>
        </p:txBody>
      </p:sp>
      <p:sp>
        <p:nvSpPr>
          <p:cNvPr id="10" name="Text 8"/>
          <p:cNvSpPr/>
          <p:nvPr/>
        </p:nvSpPr>
        <p:spPr>
          <a:xfrm>
            <a:off x="812800" y="4380229"/>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Each rank is re-checked across 64 what-if scenarios.</a:t>
            </a:r>
            <a:endParaRPr lang="en-US" sz="1400" dirty="0"/>
          </a:p>
        </p:txBody>
      </p:sp>
      <p:sp>
        <p:nvSpPr>
          <p:cNvPr id="11" name="Shape 9"/>
          <p:cNvSpPr/>
          <p:nvPr/>
        </p:nvSpPr>
        <p:spPr>
          <a:xfrm>
            <a:off x="5283200" y="1597661"/>
            <a:ext cx="5461000" cy="3416300"/>
          </a:xfrm>
          <a:prstGeom prst="roundRect">
            <a:avLst>
              <a:gd name="adj" fmla="val 3717"/>
            </a:avLst>
          </a:prstGeom>
          <a:solidFill>
            <a:srgbClr val="0E1018"/>
          </a:solidFill>
          <a:ln/>
          <a:effectLst>
            <a:outerShdw sx="100000" sy="100000" kx="0" ky="0" algn="bl" rotWithShape="0" blurRad="406400" dist="152400" dir="5400000">
              <a:srgbClr val="000000">
                <a:alpha val="50000"/>
              </a:srgbClr>
            </a:outerShdw>
          </a:effectLst>
        </p:spPr>
      </p:sp>
      <p:pic>
        <p:nvPicPr>
          <p:cNvPr id="12" name="Image 0" descr="Results page: Biomedical Engineer scores 75, with the six-colour score bar and readiness ring">    </p:cNvPr>
          <p:cNvPicPr>
            <a:picLocks noChangeAspect="1"/>
          </p:cNvPicPr>
          <p:nvPr/>
        </p:nvPicPr>
        <p:blipFill>
          <a:blip r:embed="rId1"/>
          <a:srcRect l="-23" r="-23" t="0" b="0"/>
          <a:stretch/>
        </p:blipFill>
        <p:spPr>
          <a:xfrm>
            <a:off x="5289550" y="1604011"/>
            <a:ext cx="5448300" cy="3403600"/>
          </a:xfrm>
          <a:prstGeom prst="roundRect">
            <a:avLst>
              <a:gd name="adj" fmla="val 3545"/>
            </a:avLst>
          </a:prstGeom>
        </p:spPr>
      </p:pic>
      <p:sp>
        <p:nvSpPr>
          <p:cNvPr id="13" name="Shape 10"/>
          <p:cNvSpPr/>
          <p:nvPr/>
        </p:nvSpPr>
        <p:spPr>
          <a:xfrm>
            <a:off x="5286375" y="1600836"/>
            <a:ext cx="5454650" cy="3409950"/>
          </a:xfrm>
          <a:prstGeom prst="roundRect">
            <a:avLst>
              <a:gd name="adj" fmla="val 3631"/>
            </a:avLst>
          </a:prstGeom>
          <a:noFill/>
          <a:ln w="6350">
            <a:solidFill>
              <a:srgbClr val="2A2E3D"/>
            </a:solidFill>
            <a:prstDash val="solid"/>
          </a:ln>
        </p:spPr>
      </p:sp>
      <p:sp>
        <p:nvSpPr>
          <p:cNvPr id="14" name="Shape 11"/>
          <p:cNvSpPr/>
          <p:nvPr/>
        </p:nvSpPr>
        <p:spPr>
          <a:xfrm>
            <a:off x="8839200" y="3820161"/>
            <a:ext cx="2540000" cy="1587500"/>
          </a:xfrm>
          <a:prstGeom prst="roundRect">
            <a:avLst>
              <a:gd name="adj" fmla="val 6400"/>
            </a:avLst>
          </a:prstGeom>
          <a:solidFill>
            <a:srgbClr val="0E1018"/>
          </a:solidFill>
          <a:ln/>
          <a:effectLst>
            <a:outerShdw sx="100000" sy="100000" kx="0" ky="0" algn="bl" rotWithShape="0" blurRad="406400" dist="152400" dir="5400000">
              <a:srgbClr val="000000">
                <a:alpha val="70000"/>
              </a:srgbClr>
            </a:outerShdw>
          </a:effectLst>
        </p:spPr>
      </p:sp>
      <p:pic>
        <p:nvPicPr>
          <p:cNvPr id="15" name="Image 1" descr="Why this score: each part's points for Biomedical Engineer">    </p:cNvPr>
          <p:cNvPicPr>
            <a:picLocks noChangeAspect="1"/>
          </p:cNvPicPr>
          <p:nvPr/>
        </p:nvPicPr>
        <p:blipFill>
          <a:blip r:embed="rId2"/>
          <a:srcRect l="-305" r="-305" t="0" b="0"/>
          <a:stretch/>
        </p:blipFill>
        <p:spPr>
          <a:xfrm>
            <a:off x="8851900" y="3832861"/>
            <a:ext cx="2514600" cy="1562100"/>
          </a:xfrm>
          <a:prstGeom prst="roundRect">
            <a:avLst>
              <a:gd name="adj" fmla="val 5691"/>
            </a:avLst>
          </a:prstGeom>
        </p:spPr>
      </p:pic>
      <p:sp>
        <p:nvSpPr>
          <p:cNvPr id="16" name="Shape 12"/>
          <p:cNvSpPr/>
          <p:nvPr/>
        </p:nvSpPr>
        <p:spPr>
          <a:xfrm>
            <a:off x="8845550" y="3826511"/>
            <a:ext cx="2527300" cy="1574800"/>
          </a:xfrm>
          <a:prstGeom prst="roundRect">
            <a:avLst>
              <a:gd name="adj" fmla="val 6048"/>
            </a:avLst>
          </a:prstGeom>
          <a:noFill/>
          <a:ln w="12700">
            <a:solidFill>
              <a:srgbClr val="3A3F55"/>
            </a:solidFill>
            <a:prstDash val="solid"/>
          </a:ln>
        </p:spPr>
      </p:sp>
      <p:sp>
        <p:nvSpPr>
          <p:cNvPr id="17"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STEP 4 · MONEY MADE CONCRETE</a:t>
            </a:r>
            <a:endParaRPr lang="en-US" sz="1200" dirty="0"/>
          </a:p>
        </p:txBody>
      </p:sp>
      <p:sp>
        <p:nvSpPr>
          <p:cNvPr id="4" name="Text 2"/>
          <p:cNvSpPr/>
          <p:nvPr>
            <p:ph type="title"/>
          </p:nvPr>
        </p:nvSpPr>
        <p:spPr>
          <a:xfrm>
            <a:off x="812800" y="924564"/>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The real cost, scholarships and loan EMI, before the family commits</a:t>
            </a:r>
            <a:endParaRPr lang="en-US" sz="3000" dirty="0"/>
          </a:p>
        </p:txBody>
      </p:sp>
      <p:sp>
        <p:nvSpPr>
          <p:cNvPr id="5" name="Text 3"/>
          <p:cNvSpPr/>
          <p:nvPr/>
        </p:nvSpPr>
        <p:spPr>
          <a:xfrm>
            <a:off x="812800" y="2528571"/>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Fees per quota</a:t>
            </a:r>
            <a:endParaRPr lang="en-US" sz="1600" dirty="0"/>
          </a:p>
        </p:txBody>
      </p:sp>
      <p:sp>
        <p:nvSpPr>
          <p:cNvPr id="6" name="Text 4"/>
          <p:cNvSpPr/>
          <p:nvPr/>
        </p:nvSpPr>
        <p:spPr>
          <a:xfrm>
            <a:off x="812800" y="2823214"/>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Government and management seats, costed separately.</a:t>
            </a:r>
            <a:endParaRPr lang="en-US" sz="1400" dirty="0"/>
          </a:p>
        </p:txBody>
      </p:sp>
      <p:sp>
        <p:nvSpPr>
          <p:cNvPr id="7" name="Text 5"/>
          <p:cNvSpPr/>
          <p:nvPr/>
        </p:nvSpPr>
        <p:spPr>
          <a:xfrm>
            <a:off x="812800" y="3516629"/>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Scholarships that apply</a:t>
            </a:r>
            <a:endParaRPr lang="en-US" sz="1600" dirty="0"/>
          </a:p>
        </p:txBody>
      </p:sp>
      <p:sp>
        <p:nvSpPr>
          <p:cNvPr id="8" name="Text 6"/>
          <p:cNvSpPr/>
          <p:nvPr/>
        </p:nvSpPr>
        <p:spPr>
          <a:xfrm>
            <a:off x="812800" y="3811271"/>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42 schemes checked against the student's own profile.</a:t>
            </a:r>
            <a:endParaRPr lang="en-US" sz="1400" dirty="0"/>
          </a:p>
        </p:txBody>
      </p:sp>
      <p:sp>
        <p:nvSpPr>
          <p:cNvPr id="9" name="Text 7"/>
          <p:cNvSpPr/>
          <p:nvPr/>
        </p:nvSpPr>
        <p:spPr>
          <a:xfrm>
            <a:off x="812800" y="4504692"/>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Loans in plain words</a:t>
            </a:r>
            <a:endParaRPr lang="en-US" sz="1600" dirty="0"/>
          </a:p>
        </p:txBody>
      </p:sp>
      <p:sp>
        <p:nvSpPr>
          <p:cNvPr id="10" name="Text 8"/>
          <p:cNvSpPr/>
          <p:nvPr/>
        </p:nvSpPr>
        <p:spPr>
          <a:xfrm>
            <a:off x="812800" y="4799329"/>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The EMI against monthly income, with a warning when it strains the family.</a:t>
            </a:r>
            <a:endParaRPr lang="en-US" sz="1400" dirty="0"/>
          </a:p>
        </p:txBody>
      </p:sp>
      <p:sp>
        <p:nvSpPr>
          <p:cNvPr id="11" name="Shape 9"/>
          <p:cNvSpPr/>
          <p:nvPr/>
        </p:nvSpPr>
        <p:spPr>
          <a:xfrm>
            <a:off x="5283200" y="2016764"/>
            <a:ext cx="4318000" cy="2698750"/>
          </a:xfrm>
          <a:prstGeom prst="roundRect">
            <a:avLst>
              <a:gd name="adj" fmla="val 4706"/>
            </a:avLst>
          </a:prstGeom>
          <a:solidFill>
            <a:srgbClr val="0E1018"/>
          </a:solidFill>
          <a:ln/>
          <a:effectLst>
            <a:outerShdw sx="100000" sy="100000" kx="0" ky="0" algn="bl" rotWithShape="0" blurRad="406400" dist="152400" dir="5400000">
              <a:srgbClr val="000000">
                <a:alpha val="50000"/>
              </a:srgbClr>
            </a:outerShdw>
          </a:effectLst>
        </p:spPr>
      </p:sp>
      <p:pic>
        <p:nvPicPr>
          <p:cNvPr id="12" name="Image 0" descr="What it costs: course fees, quota and scholarships for Biomedical Engineering">    </p:cNvPr>
          <p:cNvPicPr>
            <a:picLocks noChangeAspect="1"/>
          </p:cNvPicPr>
          <p:nvPr/>
        </p:nvPicPr>
        <p:blipFill>
          <a:blip r:embed="rId1"/>
          <a:srcRect l="-89" r="-89" t="0" b="0"/>
          <a:stretch/>
        </p:blipFill>
        <p:spPr>
          <a:xfrm>
            <a:off x="5289550" y="2023114"/>
            <a:ext cx="4305300" cy="2686050"/>
          </a:xfrm>
          <a:prstGeom prst="roundRect">
            <a:avLst>
              <a:gd name="adj" fmla="val 4492"/>
            </a:avLst>
          </a:prstGeom>
        </p:spPr>
      </p:pic>
      <p:sp>
        <p:nvSpPr>
          <p:cNvPr id="13" name="Shape 10"/>
          <p:cNvSpPr/>
          <p:nvPr/>
        </p:nvSpPr>
        <p:spPr>
          <a:xfrm>
            <a:off x="5286375" y="2019939"/>
            <a:ext cx="4311650" cy="2692400"/>
          </a:xfrm>
          <a:prstGeom prst="roundRect">
            <a:avLst>
              <a:gd name="adj" fmla="val 4599"/>
            </a:avLst>
          </a:prstGeom>
          <a:noFill/>
          <a:ln w="6350">
            <a:solidFill>
              <a:srgbClr val="2A2E3D"/>
            </a:solidFill>
            <a:prstDash val="solid"/>
          </a:ln>
        </p:spPr>
      </p:sp>
      <p:sp>
        <p:nvSpPr>
          <p:cNvPr id="14" name="Shape 11"/>
          <p:cNvSpPr/>
          <p:nvPr/>
        </p:nvSpPr>
        <p:spPr>
          <a:xfrm>
            <a:off x="8077200" y="3128014"/>
            <a:ext cx="3302000" cy="2063750"/>
          </a:xfrm>
          <a:prstGeom prst="roundRect">
            <a:avLst>
              <a:gd name="adj" fmla="val 4923"/>
            </a:avLst>
          </a:prstGeom>
          <a:solidFill>
            <a:srgbClr val="0E1018"/>
          </a:solidFill>
          <a:ln/>
          <a:effectLst>
            <a:outerShdw sx="100000" sy="100000" kx="0" ky="0" algn="bl" rotWithShape="0" blurRad="406400" dist="152400" dir="5400000">
              <a:srgbClr val="000000">
                <a:alpha val="70000"/>
              </a:srgbClr>
            </a:outerShdw>
          </a:effectLst>
        </p:spPr>
      </p:sp>
      <p:pic>
        <p:nvPicPr>
          <p:cNvPr id="15" name="Image 1" descr="Education loan explainer with EMI and total repayment">    </p:cNvPr>
          <p:cNvPicPr>
            <a:picLocks noChangeAspect="1"/>
          </p:cNvPicPr>
          <p:nvPr/>
        </p:nvPicPr>
        <p:blipFill>
          <a:blip r:embed="rId2"/>
          <a:srcRect l="-234" r="-234" t="0" b="0"/>
          <a:stretch/>
        </p:blipFill>
        <p:spPr>
          <a:xfrm>
            <a:off x="8089900" y="3140714"/>
            <a:ext cx="3276600" cy="2038350"/>
          </a:xfrm>
          <a:prstGeom prst="roundRect">
            <a:avLst>
              <a:gd name="adj" fmla="val 4361"/>
            </a:avLst>
          </a:prstGeom>
        </p:spPr>
      </p:pic>
      <p:sp>
        <p:nvSpPr>
          <p:cNvPr id="16" name="Shape 12"/>
          <p:cNvSpPr/>
          <p:nvPr/>
        </p:nvSpPr>
        <p:spPr>
          <a:xfrm>
            <a:off x="8083550" y="3134364"/>
            <a:ext cx="3289300" cy="2051050"/>
          </a:xfrm>
          <a:prstGeom prst="roundRect">
            <a:avLst>
              <a:gd name="adj" fmla="val 4644"/>
            </a:avLst>
          </a:prstGeom>
          <a:noFill/>
          <a:ln w="12700">
            <a:solidFill>
              <a:srgbClr val="3A3F55"/>
            </a:solidFill>
            <a:prstDash val="solid"/>
          </a:ln>
        </p:spPr>
      </p:sp>
      <p:sp>
        <p:nvSpPr>
          <p:cNvPr id="17" name="Shape 13"/>
          <p:cNvSpPr/>
          <p:nvPr/>
        </p:nvSpPr>
        <p:spPr>
          <a:xfrm>
            <a:off x="5283200" y="4239264"/>
            <a:ext cx="2540000" cy="1587500"/>
          </a:xfrm>
          <a:prstGeom prst="roundRect">
            <a:avLst>
              <a:gd name="adj" fmla="val 6400"/>
            </a:avLst>
          </a:prstGeom>
          <a:solidFill>
            <a:srgbClr val="0E1018"/>
          </a:solidFill>
          <a:ln/>
          <a:effectLst>
            <a:outerShdw sx="100000" sy="100000" kx="0" ky="0" algn="bl" rotWithShape="0" blurRad="406400" dist="152400" dir="5400000">
              <a:srgbClr val="000000">
                <a:alpha val="70000"/>
              </a:srgbClr>
            </a:outerShdw>
          </a:effectLst>
        </p:spPr>
      </p:sp>
      <p:pic>
        <p:nvPicPr>
          <p:cNvPr id="18" name="Image 2" descr="Scholarships the student qualifies for, sorted by deadline">    </p:cNvPr>
          <p:cNvPicPr>
            <a:picLocks noChangeAspect="1"/>
          </p:cNvPicPr>
          <p:nvPr/>
        </p:nvPicPr>
        <p:blipFill>
          <a:blip r:embed="rId3"/>
          <a:srcRect l="-305" r="-305" t="0" b="0"/>
          <a:stretch/>
        </p:blipFill>
        <p:spPr>
          <a:xfrm>
            <a:off x="5295900" y="4251964"/>
            <a:ext cx="2514600" cy="1562100"/>
          </a:xfrm>
          <a:prstGeom prst="roundRect">
            <a:avLst>
              <a:gd name="adj" fmla="val 5691"/>
            </a:avLst>
          </a:prstGeom>
        </p:spPr>
      </p:pic>
      <p:sp>
        <p:nvSpPr>
          <p:cNvPr id="19" name="Shape 14"/>
          <p:cNvSpPr/>
          <p:nvPr/>
        </p:nvSpPr>
        <p:spPr>
          <a:xfrm>
            <a:off x="5289550" y="4245614"/>
            <a:ext cx="2527300" cy="1574800"/>
          </a:xfrm>
          <a:prstGeom prst="roundRect">
            <a:avLst>
              <a:gd name="adj" fmla="val 6048"/>
            </a:avLst>
          </a:prstGeom>
          <a:noFill/>
          <a:ln w="12700">
            <a:solidFill>
              <a:srgbClr val="3A3F55"/>
            </a:solidFill>
            <a:prstDash val="solid"/>
          </a:ln>
        </p:spPr>
      </p:sp>
      <p:sp>
        <p:nvSpPr>
          <p:cNvPr id="20"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018"/>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2B01E"/>
                </a:solidFill>
                <a:latin typeface="DM Sans" pitchFamily="34" charset="0"/>
                <a:ea typeface="DM Sans" pitchFamily="34" charset="-122"/>
                <a:cs typeface="DM Sans" pitchFamily="34" charset="-120"/>
              </a:rPr>
              <a:t>STEP 5 · THE FAMILY, BUILT IN</a:t>
            </a:r>
            <a:endParaRPr lang="en-US" sz="1200" dirty="0"/>
          </a:p>
        </p:txBody>
      </p:sp>
      <p:sp>
        <p:nvSpPr>
          <p:cNvPr id="4" name="Text 2"/>
          <p:cNvSpPr/>
          <p:nvPr>
            <p:ph type="title"/>
          </p:nvPr>
        </p:nvSpPr>
        <p:spPr>
          <a:xfrm>
            <a:off x="812800" y="924564"/>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Parents see exactly where they and their child disagree</a:t>
            </a:r>
            <a:endParaRPr lang="en-US" sz="3000" dirty="0"/>
          </a:p>
        </p:txBody>
      </p:sp>
      <p:sp>
        <p:nvSpPr>
          <p:cNvPr id="5" name="Text 3"/>
          <p:cNvSpPr/>
          <p:nvPr/>
        </p:nvSpPr>
        <p:spPr>
          <a:xfrm>
            <a:off x="812800" y="2134871"/>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01E"/>
                </a:solidFill>
                <a:latin typeface="DM Sans" pitchFamily="34" charset="0"/>
                <a:ea typeface="DM Sans" pitchFamily="34" charset="-122"/>
                <a:cs typeface="DM Sans" pitchFamily="34" charset="-120"/>
              </a:rPr>
              <a:t>Private parent input</a:t>
            </a:r>
            <a:endParaRPr lang="en-US" sz="1600" dirty="0"/>
          </a:p>
        </p:txBody>
      </p:sp>
      <p:sp>
        <p:nvSpPr>
          <p:cNvPr id="6" name="Text 4"/>
          <p:cNvSpPr/>
          <p:nvPr/>
        </p:nvSpPr>
        <p:spPr>
          <a:xfrm>
            <a:off x="812800" y="2429514"/>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Joins with an invite code; budget and hopes stay private.</a:t>
            </a:r>
            <a:endParaRPr lang="en-US" sz="1400" dirty="0"/>
          </a:p>
        </p:txBody>
      </p:sp>
      <p:sp>
        <p:nvSpPr>
          <p:cNvPr id="7" name="Text 5"/>
          <p:cNvSpPr/>
          <p:nvPr/>
        </p:nvSpPr>
        <p:spPr>
          <a:xfrm>
            <a:off x="812800" y="3097529"/>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01E"/>
                </a:solidFill>
                <a:latin typeface="DM Sans" pitchFamily="34" charset="0"/>
                <a:ea typeface="DM Sans" pitchFamily="34" charset="-122"/>
                <a:cs typeface="DM Sans" pitchFamily="34" charset="-120"/>
              </a:rPr>
              <a:t>Conflict index</a:t>
            </a:r>
            <a:endParaRPr lang="en-US" sz="1600" dirty="0"/>
          </a:p>
        </p:txBody>
      </p:sp>
      <p:sp>
        <p:nvSpPr>
          <p:cNvPr id="8" name="Text 6"/>
          <p:cNvSpPr/>
          <p:nvPr/>
        </p:nvSpPr>
        <p:spPr>
          <a:xfrm>
            <a:off x="812800" y="3392171"/>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Field, risk, distance from home, budget, time to earn, prestige vs stability.</a:t>
            </a:r>
            <a:endParaRPr lang="en-US" sz="1400" dirty="0"/>
          </a:p>
        </p:txBody>
      </p:sp>
      <p:sp>
        <p:nvSpPr>
          <p:cNvPr id="9" name="Text 7"/>
          <p:cNvSpPr/>
          <p:nvPr/>
        </p:nvSpPr>
        <p:spPr>
          <a:xfrm>
            <a:off x="812800" y="4060192"/>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01E"/>
                </a:solidFill>
                <a:latin typeface="DM Sans" pitchFamily="34" charset="0"/>
                <a:ea typeface="DM Sans" pitchFamily="34" charset="-122"/>
                <a:cs typeface="DM Sans" pitchFamily="34" charset="-120"/>
              </a:rPr>
              <a:t>Guided family meeting</a:t>
            </a:r>
            <a:endParaRPr lang="en-US" sz="1600" dirty="0"/>
          </a:p>
        </p:txBody>
      </p:sp>
      <p:sp>
        <p:nvSpPr>
          <p:cNvPr id="10" name="Text 8"/>
          <p:cNvSpPr/>
          <p:nvPr/>
        </p:nvSpPr>
        <p:spPr>
          <a:xfrm>
            <a:off x="812800" y="4354829"/>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One question at a time, "We agree" or "Discuss later", plus bridge careers both sides accept.</a:t>
            </a:r>
            <a:endParaRPr lang="en-US" sz="1400" dirty="0"/>
          </a:p>
        </p:txBody>
      </p:sp>
      <p:sp>
        <p:nvSpPr>
          <p:cNvPr id="11" name="Shape 9"/>
          <p:cNvSpPr/>
          <p:nvPr/>
        </p:nvSpPr>
        <p:spPr>
          <a:xfrm>
            <a:off x="5918200" y="1597664"/>
            <a:ext cx="5461000" cy="3416300"/>
          </a:xfrm>
          <a:prstGeom prst="roundRect">
            <a:avLst>
              <a:gd name="adj" fmla="val 3717"/>
            </a:avLst>
          </a:prstGeom>
          <a:solidFill>
            <a:srgbClr val="07080D"/>
          </a:solidFill>
          <a:ln/>
          <a:effectLst>
            <a:outerShdw sx="100000" sy="100000" kx="0" ky="0" algn="bl" rotWithShape="0" blurRad="406400" dist="152400" dir="5400000">
              <a:srgbClr val="000000">
                <a:alpha val="50000"/>
              </a:srgbClr>
            </a:outerShdw>
          </a:effectLst>
        </p:spPr>
      </p:sp>
      <p:pic>
        <p:nvPicPr>
          <p:cNvPr id="12" name="Image 0" descr="Family page: how close the student's and parents' hopes are, with a conflict gauge">    </p:cNvPr>
          <p:cNvPicPr>
            <a:picLocks noChangeAspect="1"/>
          </p:cNvPicPr>
          <p:nvPr/>
        </p:nvPicPr>
        <p:blipFill>
          <a:blip r:embed="rId1"/>
          <a:srcRect l="-23" r="-23" t="0" b="0"/>
          <a:stretch/>
        </p:blipFill>
        <p:spPr>
          <a:xfrm>
            <a:off x="5924550" y="1604014"/>
            <a:ext cx="5448300" cy="3403600"/>
          </a:xfrm>
          <a:prstGeom prst="roundRect">
            <a:avLst>
              <a:gd name="adj" fmla="val 3545"/>
            </a:avLst>
          </a:prstGeom>
        </p:spPr>
      </p:pic>
      <p:sp>
        <p:nvSpPr>
          <p:cNvPr id="13" name="Shape 10"/>
          <p:cNvSpPr/>
          <p:nvPr/>
        </p:nvSpPr>
        <p:spPr>
          <a:xfrm>
            <a:off x="5921375" y="1600839"/>
            <a:ext cx="5454650" cy="3409950"/>
          </a:xfrm>
          <a:prstGeom prst="roundRect">
            <a:avLst>
              <a:gd name="adj" fmla="val 3631"/>
            </a:avLst>
          </a:prstGeom>
          <a:noFill/>
          <a:ln w="6350">
            <a:solidFill>
              <a:srgbClr val="2A2E3D"/>
            </a:solidFill>
            <a:prstDash val="solid"/>
          </a:ln>
        </p:spPr>
      </p:sp>
      <p:sp>
        <p:nvSpPr>
          <p:cNvPr id="14" name="Shape 11"/>
          <p:cNvSpPr/>
          <p:nvPr/>
        </p:nvSpPr>
        <p:spPr>
          <a:xfrm>
            <a:off x="5283200" y="3820164"/>
            <a:ext cx="2540000" cy="1587500"/>
          </a:xfrm>
          <a:prstGeom prst="roundRect">
            <a:avLst>
              <a:gd name="adj" fmla="val 6400"/>
            </a:avLst>
          </a:prstGeom>
          <a:solidFill>
            <a:srgbClr val="07080D"/>
          </a:solidFill>
          <a:ln/>
          <a:effectLst>
            <a:outerShdw sx="100000" sy="100000" kx="0" ky="0" algn="bl" rotWithShape="0" blurRad="406400" dist="152400" dir="5400000">
              <a:srgbClr val="000000">
                <a:alpha val="70000"/>
              </a:srgbClr>
            </a:outerShdw>
          </a:effectLst>
        </p:spPr>
      </p:sp>
      <p:pic>
        <p:nvPicPr>
          <p:cNvPr id="15" name="Image 1" descr="Parent's budget and career hopes form">    </p:cNvPr>
          <p:cNvPicPr>
            <a:picLocks noChangeAspect="1"/>
          </p:cNvPicPr>
          <p:nvPr/>
        </p:nvPicPr>
        <p:blipFill>
          <a:blip r:embed="rId2"/>
          <a:srcRect l="-305" r="-305" t="0" b="0"/>
          <a:stretch/>
        </p:blipFill>
        <p:spPr>
          <a:xfrm>
            <a:off x="5295900" y="3832864"/>
            <a:ext cx="2514600" cy="1562100"/>
          </a:xfrm>
          <a:prstGeom prst="roundRect">
            <a:avLst>
              <a:gd name="adj" fmla="val 5691"/>
            </a:avLst>
          </a:prstGeom>
        </p:spPr>
      </p:pic>
      <p:sp>
        <p:nvSpPr>
          <p:cNvPr id="16" name="Shape 12"/>
          <p:cNvSpPr/>
          <p:nvPr/>
        </p:nvSpPr>
        <p:spPr>
          <a:xfrm>
            <a:off x="5289550" y="3826514"/>
            <a:ext cx="2527300" cy="1574800"/>
          </a:xfrm>
          <a:prstGeom prst="roundRect">
            <a:avLst>
              <a:gd name="adj" fmla="val 6048"/>
            </a:avLst>
          </a:prstGeom>
          <a:noFill/>
          <a:ln w="12700">
            <a:solidFill>
              <a:srgbClr val="3A3F55"/>
            </a:solidFill>
            <a:prstDash val="solid"/>
          </a:ln>
        </p:spPr>
      </p:sp>
      <p:sp>
        <p:nvSpPr>
          <p:cNvPr id="17" name="Shape 13"/>
          <p:cNvSpPr/>
          <p:nvPr/>
        </p:nvSpPr>
        <p:spPr>
          <a:xfrm>
            <a:off x="8839200" y="3820164"/>
            <a:ext cx="2540000" cy="1587500"/>
          </a:xfrm>
          <a:prstGeom prst="roundRect">
            <a:avLst>
              <a:gd name="adj" fmla="val 6400"/>
            </a:avLst>
          </a:prstGeom>
          <a:solidFill>
            <a:srgbClr val="07080D"/>
          </a:solidFill>
          <a:ln/>
          <a:effectLst>
            <a:outerShdw sx="100000" sy="100000" kx="0" ky="0" algn="bl" rotWithShape="0" blurRad="406400" dist="152400" dir="5400000">
              <a:srgbClr val="000000">
                <a:alpha val="70000"/>
              </a:srgbClr>
            </a:outerShdw>
          </a:effectLst>
        </p:spPr>
      </p:sp>
      <p:pic>
        <p:nvPicPr>
          <p:cNvPr id="18" name="Image 2" descr="Family meeting card asking both sides a question, with We agree and Discuss later">    </p:cNvPr>
          <p:cNvPicPr>
            <a:picLocks noChangeAspect="1"/>
          </p:cNvPicPr>
          <p:nvPr/>
        </p:nvPicPr>
        <p:blipFill>
          <a:blip r:embed="rId3"/>
          <a:srcRect l="-305" r="-305" t="0" b="0"/>
          <a:stretch/>
        </p:blipFill>
        <p:spPr>
          <a:xfrm>
            <a:off x="8851900" y="3832864"/>
            <a:ext cx="2514600" cy="1562100"/>
          </a:xfrm>
          <a:prstGeom prst="roundRect">
            <a:avLst>
              <a:gd name="adj" fmla="val 5691"/>
            </a:avLst>
          </a:prstGeom>
        </p:spPr>
      </p:pic>
      <p:sp>
        <p:nvSpPr>
          <p:cNvPr id="19" name="Shape 14"/>
          <p:cNvSpPr/>
          <p:nvPr/>
        </p:nvSpPr>
        <p:spPr>
          <a:xfrm>
            <a:off x="8845550" y="3826514"/>
            <a:ext cx="2527300" cy="1574800"/>
          </a:xfrm>
          <a:prstGeom prst="roundRect">
            <a:avLst>
              <a:gd name="adj" fmla="val 6048"/>
            </a:avLst>
          </a:prstGeom>
          <a:noFill/>
          <a:ln w="12700">
            <a:solidFill>
              <a:srgbClr val="3A3F55"/>
            </a:solidFill>
            <a:prstDash val="solid"/>
          </a:ln>
        </p:spPr>
      </p:sp>
      <p:sp>
        <p:nvSpPr>
          <p:cNvPr id="20"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STEP 6 · EXPLORE AND DECIDE</a:t>
            </a:r>
            <a:endParaRPr lang="en-US" sz="1200" dirty="0"/>
          </a:p>
        </p:txBody>
      </p:sp>
      <p:sp>
        <p:nvSpPr>
          <p:cNvPr id="4" name="Text 2"/>
          <p:cNvSpPr/>
          <p:nvPr>
            <p:ph type="title"/>
          </p:nvPr>
        </p:nvSpPr>
        <p:spPr>
          <a:xfrm>
            <a:off x="812800" y="9245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Change one thing and watch the list re-rank instantly</a:t>
            </a:r>
            <a:endParaRPr lang="en-US" sz="3000" dirty="0"/>
          </a:p>
        </p:txBody>
      </p:sp>
      <p:sp>
        <p:nvSpPr>
          <p:cNvPr id="5" name="Text 3"/>
          <p:cNvSpPr/>
          <p:nvPr/>
        </p:nvSpPr>
        <p:spPr>
          <a:xfrm>
            <a:off x="812800" y="2238375"/>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FA8FF"/>
                </a:solidFill>
                <a:latin typeface="DM Sans" pitchFamily="34" charset="0"/>
                <a:ea typeface="DM Sans" pitchFamily="34" charset="-122"/>
                <a:cs typeface="DM Sans" pitchFamily="34" charset="-120"/>
              </a:rPr>
              <a:t>What-if</a:t>
            </a:r>
            <a:endParaRPr lang="en-US" sz="1600" dirty="0"/>
          </a:p>
        </p:txBody>
      </p:sp>
      <p:sp>
        <p:nvSpPr>
          <p:cNvPr id="6" name="Text 4"/>
          <p:cNvSpPr/>
          <p:nvPr/>
        </p:nvSpPr>
        <p:spPr>
          <a:xfrm>
            <a:off x="812800" y="2533017"/>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More savings, a different city, different priorities: the ranking updates live.</a:t>
            </a:r>
            <a:endParaRPr lang="en-US" sz="1400" dirty="0"/>
          </a:p>
        </p:txBody>
      </p:sp>
      <p:sp>
        <p:nvSpPr>
          <p:cNvPr id="7" name="Text 5"/>
          <p:cNvSpPr/>
          <p:nvPr/>
        </p:nvSpPr>
        <p:spPr>
          <a:xfrm>
            <a:off x="812800" y="3226439"/>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FA8FF"/>
                </a:solidFill>
                <a:latin typeface="DM Sans" pitchFamily="34" charset="0"/>
                <a:ea typeface="DM Sans" pitchFamily="34" charset="-122"/>
                <a:cs typeface="DM Sans" pitchFamily="34" charset="-120"/>
              </a:rPr>
              <a:t>Compare</a:t>
            </a:r>
            <a:endParaRPr lang="en-US" sz="1600" dirty="0"/>
          </a:p>
        </p:txBody>
      </p:sp>
      <p:sp>
        <p:nvSpPr>
          <p:cNvPr id="8" name="Text 6"/>
          <p:cNvSpPr/>
          <p:nvPr/>
        </p:nvSpPr>
        <p:spPr>
          <a:xfrm>
            <a:off x="812800" y="3521075"/>
            <a:ext cx="4238244"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Two or three careers side by side, part by part.</a:t>
            </a:r>
            <a:endParaRPr lang="en-US" sz="1400" dirty="0"/>
          </a:p>
        </p:txBody>
      </p:sp>
      <p:sp>
        <p:nvSpPr>
          <p:cNvPr id="9" name="Text 7"/>
          <p:cNvSpPr/>
          <p:nvPr/>
        </p:nvSpPr>
        <p:spPr>
          <a:xfrm>
            <a:off x="812800" y="3956689"/>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FA8FF"/>
                </a:solidFill>
                <a:latin typeface="DM Sans" pitchFamily="34" charset="0"/>
                <a:ea typeface="DM Sans" pitchFamily="34" charset="-122"/>
                <a:cs typeface="DM Sans" pitchFamily="34" charset="-120"/>
              </a:rPr>
              <a:t>Plan</a:t>
            </a:r>
            <a:endParaRPr lang="en-US" sz="1600" dirty="0"/>
          </a:p>
        </p:txBody>
      </p:sp>
      <p:sp>
        <p:nvSpPr>
          <p:cNvPr id="10" name="Text 8"/>
          <p:cNvSpPr/>
          <p:nvPr/>
        </p:nvSpPr>
        <p:spPr>
          <a:xfrm>
            <a:off x="812800" y="4251325"/>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Entrance exams, deadlines and free courses (SWAYAM, NPTEL) on a 5-year roadmap.</a:t>
            </a:r>
            <a:endParaRPr lang="en-US" sz="1400" dirty="0"/>
          </a:p>
        </p:txBody>
      </p:sp>
      <p:sp>
        <p:nvSpPr>
          <p:cNvPr id="11" name="Shape 9"/>
          <p:cNvSpPr/>
          <p:nvPr/>
        </p:nvSpPr>
        <p:spPr>
          <a:xfrm>
            <a:off x="5918200" y="1597664"/>
            <a:ext cx="5461000" cy="3416300"/>
          </a:xfrm>
          <a:prstGeom prst="roundRect">
            <a:avLst>
              <a:gd name="adj" fmla="val 3717"/>
            </a:avLst>
          </a:prstGeom>
          <a:solidFill>
            <a:srgbClr val="0E1018"/>
          </a:solidFill>
          <a:ln/>
          <a:effectLst>
            <a:outerShdw sx="100000" sy="100000" kx="0" ky="0" algn="bl" rotWithShape="0" blurRad="406400" dist="152400" dir="5400000">
              <a:srgbClr val="000000">
                <a:alpha val="50000"/>
              </a:srgbClr>
            </a:outerShdw>
          </a:effectLst>
        </p:spPr>
      </p:sp>
      <p:pic>
        <p:nvPicPr>
          <p:cNvPr id="12" name="Image 0" descr="The road to Biomedical Engineer: a five-year roadmap with exams and deadlines">    </p:cNvPr>
          <p:cNvPicPr>
            <a:picLocks noChangeAspect="1"/>
          </p:cNvPicPr>
          <p:nvPr/>
        </p:nvPicPr>
        <p:blipFill>
          <a:blip r:embed="rId1"/>
          <a:srcRect l="-23" r="-23" t="0" b="0"/>
          <a:stretch/>
        </p:blipFill>
        <p:spPr>
          <a:xfrm>
            <a:off x="5924550" y="1604014"/>
            <a:ext cx="5448300" cy="3403600"/>
          </a:xfrm>
          <a:prstGeom prst="roundRect">
            <a:avLst>
              <a:gd name="adj" fmla="val 3545"/>
            </a:avLst>
          </a:prstGeom>
        </p:spPr>
      </p:pic>
      <p:sp>
        <p:nvSpPr>
          <p:cNvPr id="13" name="Shape 10"/>
          <p:cNvSpPr/>
          <p:nvPr/>
        </p:nvSpPr>
        <p:spPr>
          <a:xfrm>
            <a:off x="5921375" y="1600839"/>
            <a:ext cx="5454650" cy="3409950"/>
          </a:xfrm>
          <a:prstGeom prst="roundRect">
            <a:avLst>
              <a:gd name="adj" fmla="val 3631"/>
            </a:avLst>
          </a:prstGeom>
          <a:noFill/>
          <a:ln w="6350">
            <a:solidFill>
              <a:srgbClr val="2A2E3D"/>
            </a:solidFill>
            <a:prstDash val="solid"/>
          </a:ln>
        </p:spPr>
      </p:sp>
      <p:sp>
        <p:nvSpPr>
          <p:cNvPr id="14" name="Shape 11"/>
          <p:cNvSpPr/>
          <p:nvPr/>
        </p:nvSpPr>
        <p:spPr>
          <a:xfrm>
            <a:off x="5283200" y="3820164"/>
            <a:ext cx="2540000" cy="1587500"/>
          </a:xfrm>
          <a:prstGeom prst="roundRect">
            <a:avLst>
              <a:gd name="adj" fmla="val 6400"/>
            </a:avLst>
          </a:prstGeom>
          <a:solidFill>
            <a:srgbClr val="0E1018"/>
          </a:solidFill>
          <a:ln/>
          <a:effectLst>
            <a:outerShdw sx="100000" sy="100000" kx="0" ky="0" algn="bl" rotWithShape="0" blurRad="406400" dist="152400" dir="5400000">
              <a:srgbClr val="000000">
                <a:alpha val="70000"/>
              </a:srgbClr>
            </a:outerShdw>
          </a:effectLst>
        </p:spPr>
      </p:sp>
      <p:pic>
        <p:nvPicPr>
          <p:cNvPr id="15" name="Image 1" descr="What-if page with sliders for savings, moving city and priorities">    </p:cNvPr>
          <p:cNvPicPr>
            <a:picLocks noChangeAspect="1"/>
          </p:cNvPicPr>
          <p:nvPr/>
        </p:nvPicPr>
        <p:blipFill>
          <a:blip r:embed="rId2"/>
          <a:srcRect l="-305" r="-305" t="0" b="0"/>
          <a:stretch/>
        </p:blipFill>
        <p:spPr>
          <a:xfrm>
            <a:off x="5295900" y="3832864"/>
            <a:ext cx="2514600" cy="1562100"/>
          </a:xfrm>
          <a:prstGeom prst="roundRect">
            <a:avLst>
              <a:gd name="adj" fmla="val 5691"/>
            </a:avLst>
          </a:prstGeom>
        </p:spPr>
      </p:pic>
      <p:sp>
        <p:nvSpPr>
          <p:cNvPr id="16" name="Shape 12"/>
          <p:cNvSpPr/>
          <p:nvPr/>
        </p:nvSpPr>
        <p:spPr>
          <a:xfrm>
            <a:off x="5289550" y="3826514"/>
            <a:ext cx="2527300" cy="1574800"/>
          </a:xfrm>
          <a:prstGeom prst="roundRect">
            <a:avLst>
              <a:gd name="adj" fmla="val 6048"/>
            </a:avLst>
          </a:prstGeom>
          <a:noFill/>
          <a:ln w="12700">
            <a:solidFill>
              <a:srgbClr val="3A3F55"/>
            </a:solidFill>
            <a:prstDash val="solid"/>
          </a:ln>
        </p:spPr>
      </p:sp>
      <p:sp>
        <p:nvSpPr>
          <p:cNvPr id="17" name="Shape 13"/>
          <p:cNvSpPr/>
          <p:nvPr/>
        </p:nvSpPr>
        <p:spPr>
          <a:xfrm>
            <a:off x="8839200" y="3820164"/>
            <a:ext cx="2540000" cy="1587500"/>
          </a:xfrm>
          <a:prstGeom prst="roundRect">
            <a:avLst>
              <a:gd name="adj" fmla="val 6400"/>
            </a:avLst>
          </a:prstGeom>
          <a:solidFill>
            <a:srgbClr val="0E1018"/>
          </a:solidFill>
          <a:ln/>
          <a:effectLst>
            <a:outerShdw sx="100000" sy="100000" kx="0" ky="0" algn="bl" rotWithShape="0" blurRad="406400" dist="152400" dir="5400000">
              <a:srgbClr val="000000">
                <a:alpha val="70000"/>
              </a:srgbClr>
            </a:outerShdw>
          </a:effectLst>
        </p:spPr>
      </p:sp>
      <p:pic>
        <p:nvPicPr>
          <p:cNvPr id="18" name="Image 2" descr="Three careers compared side by side">    </p:cNvPr>
          <p:cNvPicPr>
            <a:picLocks noChangeAspect="1"/>
          </p:cNvPicPr>
          <p:nvPr/>
        </p:nvPicPr>
        <p:blipFill>
          <a:blip r:embed="rId3"/>
          <a:srcRect l="-305" r="-305" t="0" b="0"/>
          <a:stretch/>
        </p:blipFill>
        <p:spPr>
          <a:xfrm>
            <a:off x="8851900" y="3832864"/>
            <a:ext cx="2514600" cy="1562100"/>
          </a:xfrm>
          <a:prstGeom prst="roundRect">
            <a:avLst>
              <a:gd name="adj" fmla="val 5691"/>
            </a:avLst>
          </a:prstGeom>
        </p:spPr>
      </p:pic>
      <p:sp>
        <p:nvSpPr>
          <p:cNvPr id="19" name="Shape 14"/>
          <p:cNvSpPr/>
          <p:nvPr/>
        </p:nvSpPr>
        <p:spPr>
          <a:xfrm>
            <a:off x="8845550" y="3826514"/>
            <a:ext cx="2527300" cy="1574800"/>
          </a:xfrm>
          <a:prstGeom prst="roundRect">
            <a:avLst>
              <a:gd name="adj" fmla="val 6048"/>
            </a:avLst>
          </a:prstGeom>
          <a:noFill/>
          <a:ln w="12700">
            <a:solidFill>
              <a:srgbClr val="3A3F55"/>
            </a:solidFill>
            <a:prstDash val="solid"/>
          </a:ln>
        </p:spPr>
      </p:sp>
      <p:sp>
        <p:nvSpPr>
          <p:cNvPr id="20" name="Text 1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018"/>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5C23A"/>
                </a:solidFill>
                <a:latin typeface="DM Sans" pitchFamily="34" charset="0"/>
                <a:ea typeface="DM Sans" pitchFamily="34" charset="-122"/>
                <a:cs typeface="DM Sans" pitchFamily="34" charset="-120"/>
              </a:rPr>
              <a:t>HYPER-LOCAL INNOVATION · THE SECOND HALF OF THE BRIEF</a:t>
            </a:r>
            <a:endParaRPr lang="en-US" sz="1200" dirty="0"/>
          </a:p>
        </p:txBody>
      </p:sp>
      <p:sp>
        <p:nvSpPr>
          <p:cNvPr id="4" name="Text 2"/>
          <p:cNvSpPr/>
          <p:nvPr>
            <p:ph type="title"/>
          </p:nvPr>
        </p:nvSpPr>
        <p:spPr>
          <a:xfrm>
            <a:off x="812800" y="924564"/>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Real problems in the student's own district become starter projects</a:t>
            </a:r>
            <a:endParaRPr lang="en-US" sz="3000" dirty="0"/>
          </a:p>
        </p:txBody>
      </p:sp>
      <p:sp>
        <p:nvSpPr>
          <p:cNvPr id="5" name="Text 3"/>
          <p:cNvSpPr/>
          <p:nvPr/>
        </p:nvSpPr>
        <p:spPr>
          <a:xfrm>
            <a:off x="812800" y="2523492"/>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34E"/>
                </a:solidFill>
                <a:latin typeface="DM Sans" pitchFamily="34" charset="0"/>
                <a:ea typeface="DM Sans" pitchFamily="34" charset="-122"/>
                <a:cs typeface="DM Sans" pitchFamily="34" charset="-120"/>
              </a:rPr>
              <a:t>Enter a pincode</a:t>
            </a:r>
            <a:endParaRPr lang="en-US" sz="1600" dirty="0"/>
          </a:p>
        </p:txBody>
      </p:sp>
      <p:sp>
        <p:nvSpPr>
          <p:cNvPr id="6" name="Text 4"/>
          <p:cNvSpPr/>
          <p:nvPr/>
        </p:nvSpPr>
        <p:spPr>
          <a:xfrm>
            <a:off x="812800" y="2818129"/>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See real problems from your district, with the local partner behind each.</a:t>
            </a:r>
            <a:endParaRPr lang="en-US" sz="1400" dirty="0"/>
          </a:p>
        </p:txBody>
      </p:sp>
      <p:sp>
        <p:nvSpPr>
          <p:cNvPr id="7" name="Text 5"/>
          <p:cNvSpPr/>
          <p:nvPr/>
        </p:nvSpPr>
        <p:spPr>
          <a:xfrm>
            <a:off x="812800" y="3511550"/>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FD34E"/>
                </a:solidFill>
                <a:latin typeface="DM Sans" pitchFamily="34" charset="0"/>
                <a:ea typeface="DM Sans" pitchFamily="34" charset="-122"/>
                <a:cs typeface="DM Sans" pitchFamily="34" charset="-120"/>
              </a:rPr>
              <a:t>A 4–8 week starter project</a:t>
            </a:r>
            <a:endParaRPr lang="en-US" sz="1600" dirty="0"/>
          </a:p>
        </p:txBody>
      </p:sp>
      <p:sp>
        <p:nvSpPr>
          <p:cNvPr id="8" name="Text 6"/>
          <p:cNvSpPr/>
          <p:nvPr/>
        </p:nvSpPr>
        <p:spPr>
          <a:xfrm>
            <a:off x="812800" y="3806192"/>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Each problem comes with a first project and the careers it leads to.</a:t>
            </a:r>
            <a:endParaRPr lang="en-US" sz="1400" dirty="0"/>
          </a:p>
        </p:txBody>
      </p:sp>
      <p:sp>
        <p:nvSpPr>
          <p:cNvPr id="9" name="Text 7"/>
          <p:cNvSpPr/>
          <p:nvPr/>
        </p:nvSpPr>
        <p:spPr>
          <a:xfrm>
            <a:off x="812800" y="4499614"/>
            <a:ext cx="4114800" cy="820420"/>
          </a:xfrm>
          <a:prstGeom prst="roundRect">
            <a:avLst>
              <a:gd name="adj" fmla="val 12384"/>
            </a:avLst>
          </a:prstGeom>
          <a:solidFill>
            <a:srgbClr val="151826"/>
          </a:solidFill>
          <a:ln/>
        </p:spPr>
        <p:txBody>
          <a:bodyPr wrap="square" lIns="183602" tIns="122642" rIns="36333" bIns="97242" rtlCol="0" anchor="t">
            <a:normAutofit/>
          </a:bodyPr>
          <a:lstStyle/>
          <a:p>
            <a:pPr algn="l" indent="0" marL="0">
              <a:lnSpc>
                <a:spcPts val="2030"/>
              </a:lnSpc>
              <a:buNone/>
            </a:pPr>
            <a:r>
              <a:rPr lang="en-US" sz="1400" dirty="0">
                <a:solidFill>
                  <a:srgbClr val="E8EAF2"/>
                </a:solidFill>
                <a:latin typeface="DM Sans" pitchFamily="34" charset="0"/>
                <a:ea typeface="DM Sans" pitchFamily="34" charset="-122"/>
                <a:cs typeface="DM Sans" pitchFamily="34" charset="-120"/>
              </a:rPr>
              <a:t>Dharmapuri students test 20 village wells for fluoride and publish a water map.</a:t>
            </a:r>
            <a:endParaRPr lang="en-US" sz="1400" dirty="0"/>
          </a:p>
        </p:txBody>
      </p:sp>
      <p:sp>
        <p:nvSpPr>
          <p:cNvPr id="10" name="Shape 8"/>
          <p:cNvSpPr/>
          <p:nvPr/>
        </p:nvSpPr>
        <p:spPr>
          <a:xfrm>
            <a:off x="812800" y="4499614"/>
            <a:ext cx="4114800" cy="820420"/>
          </a:xfrm>
          <a:custGeom>
            <a:avLst/>
            <a:gdLst/>
            <a:ahLst/>
            <a:cxnLst/>
            <a:rect l="l" t="t" r="r" b="b"/>
            <a:pathLst>
              <a:path w="4114800" h="820420">
                <a:moveTo>
                  <a:pt x="101600" y="820420"/>
                </a:moveTo>
                <a:lnTo>
                  <a:pt x="101600" y="820420"/>
                </a:lnTo>
                <a:arcTo hR="101600" wR="101600" stAng="5400000" swAng="5400000"/>
                <a:lnTo>
                  <a:pt x="0" y="101600"/>
                </a:lnTo>
                <a:arcTo hR="101600" wR="101600" stAng="10800000" swAng="5400000"/>
                <a:lnTo>
                  <a:pt x="101600" y="0"/>
                </a:lnTo>
                <a:arcTo hR="101600" wR="63500" stAng="16200000" swAng="-5400000"/>
                <a:lnTo>
                  <a:pt x="38100" y="718820"/>
                </a:lnTo>
                <a:arcTo hR="101600" wR="63500" stAng="10800000" swAng="-5400000"/>
                <a:close/>
              </a:path>
            </a:pathLst>
          </a:custGeom>
          <a:solidFill>
            <a:srgbClr val="65C23A"/>
          </a:solidFill>
          <a:ln/>
        </p:spPr>
      </p:sp>
      <p:sp>
        <p:nvSpPr>
          <p:cNvPr id="11" name="Shape 9"/>
          <p:cNvSpPr/>
          <p:nvPr/>
        </p:nvSpPr>
        <p:spPr>
          <a:xfrm>
            <a:off x="5283200" y="2016764"/>
            <a:ext cx="6096000" cy="3810000"/>
          </a:xfrm>
          <a:prstGeom prst="roundRect">
            <a:avLst>
              <a:gd name="adj" fmla="val 3333"/>
            </a:avLst>
          </a:prstGeom>
          <a:solidFill>
            <a:srgbClr val="07080D"/>
          </a:solidFill>
          <a:ln/>
          <a:effectLst>
            <a:outerShdw sx="100000" sy="100000" kx="0" ky="0" algn="bl" rotWithShape="0" blurRad="406400" dist="152400" dir="5400000">
              <a:srgbClr val="000000">
                <a:alpha val="50000"/>
              </a:srgbClr>
            </a:outerShdw>
          </a:effectLst>
        </p:spPr>
      </p:sp>
      <p:pic>
        <p:nvPicPr>
          <p:cNvPr id="12" name="Image 0" descr="Near you: problems in Dharmapuri, fluoride in village wells and grading mangoes, each with a starter project">    </p:cNvPr>
          <p:cNvPicPr>
            <a:picLocks noChangeAspect="1"/>
          </p:cNvPicPr>
          <p:nvPr/>
        </p:nvPicPr>
        <p:blipFill>
          <a:blip r:embed="rId1"/>
          <a:srcRect l="-63" r="-63" t="0" b="0"/>
          <a:stretch/>
        </p:blipFill>
        <p:spPr>
          <a:xfrm>
            <a:off x="5289550" y="2023114"/>
            <a:ext cx="6083300" cy="3797300"/>
          </a:xfrm>
          <a:prstGeom prst="roundRect">
            <a:avLst>
              <a:gd name="adj" fmla="val 3177"/>
            </a:avLst>
          </a:prstGeom>
        </p:spPr>
      </p:pic>
      <p:sp>
        <p:nvSpPr>
          <p:cNvPr id="13" name="Shape 10"/>
          <p:cNvSpPr/>
          <p:nvPr/>
        </p:nvSpPr>
        <p:spPr>
          <a:xfrm>
            <a:off x="5286375" y="2019939"/>
            <a:ext cx="6089650" cy="3803650"/>
          </a:xfrm>
          <a:prstGeom prst="roundRect">
            <a:avLst>
              <a:gd name="adj" fmla="val 3255"/>
            </a:avLst>
          </a:prstGeom>
          <a:noFill/>
          <a:ln w="6350">
            <a:solidFill>
              <a:srgbClr val="2A2E3D"/>
            </a:solidFill>
            <a:prstDash val="solid"/>
          </a:ln>
        </p:spPr>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TRUST, PRIVACY AND FAIRNESS</a:t>
            </a:r>
            <a:endParaRPr lang="en-US" sz="1200" dirty="0"/>
          </a:p>
        </p:txBody>
      </p:sp>
      <p:sp>
        <p:nvSpPr>
          <p:cNvPr id="4" name="Text 2"/>
          <p:cNvSpPr/>
          <p:nvPr>
            <p:ph type="title"/>
          </p:nvPr>
        </p:nvSpPr>
        <p:spPr>
          <a:xfrm>
            <a:off x="812800" y="924564"/>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Every number shows its source, and whether it has been checked</a:t>
            </a:r>
            <a:endParaRPr lang="en-US" sz="3000" dirty="0"/>
          </a:p>
        </p:txBody>
      </p:sp>
      <p:sp>
        <p:nvSpPr>
          <p:cNvPr id="5" name="Text 3"/>
          <p:cNvSpPr/>
          <p:nvPr/>
        </p:nvSpPr>
        <p:spPr>
          <a:xfrm>
            <a:off x="812800" y="2296164"/>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Honest data</a:t>
            </a:r>
            <a:endParaRPr lang="en-US" sz="1600" dirty="0"/>
          </a:p>
        </p:txBody>
      </p:sp>
      <p:sp>
        <p:nvSpPr>
          <p:cNvPr id="6" name="Text 4"/>
          <p:cNvSpPr/>
          <p:nvPr/>
        </p:nvSpPr>
        <p:spPr>
          <a:xfrm>
            <a:off x="812800" y="2590800"/>
            <a:ext cx="423824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Each figure is labelled Checked or Estimate. Rankings are reproducible from stored data versions.</a:t>
            </a:r>
            <a:endParaRPr lang="en-US" sz="1400" dirty="0"/>
          </a:p>
        </p:txBody>
      </p:sp>
      <p:sp>
        <p:nvSpPr>
          <p:cNvPr id="7" name="Text 5"/>
          <p:cNvSpPr/>
          <p:nvPr/>
        </p:nvSpPr>
        <p:spPr>
          <a:xfrm>
            <a:off x="812800" y="3516629"/>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AI that cannot invent</a:t>
            </a:r>
            <a:endParaRPr lang="en-US" sz="1600" dirty="0"/>
          </a:p>
        </p:txBody>
      </p:sp>
      <p:sp>
        <p:nvSpPr>
          <p:cNvPr id="8" name="Text 6"/>
          <p:cNvSpPr/>
          <p:nvPr/>
        </p:nvSpPr>
        <p:spPr>
          <a:xfrm>
            <a:off x="812800" y="3811271"/>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The AI only rephrases summaries, never scores; an answer with a made-up number is rejected.</a:t>
            </a:r>
            <a:endParaRPr lang="en-US" sz="1400" dirty="0"/>
          </a:p>
        </p:txBody>
      </p:sp>
      <p:sp>
        <p:nvSpPr>
          <p:cNvPr id="9" name="Text 7"/>
          <p:cNvSpPr/>
          <p:nvPr/>
        </p:nvSpPr>
        <p:spPr>
          <a:xfrm>
            <a:off x="812800" y="4479292"/>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Privacy and fairness</a:t>
            </a:r>
            <a:endParaRPr lang="en-US" sz="1600" dirty="0"/>
          </a:p>
        </p:txBody>
      </p:sp>
      <p:sp>
        <p:nvSpPr>
          <p:cNvPr id="10" name="Text 8"/>
          <p:cNvSpPr/>
          <p:nvPr/>
        </p:nvSpPr>
        <p:spPr>
          <a:xfrm>
            <a:off x="812800" y="4773929"/>
            <a:ext cx="423824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Parental consent under 18, family money private, no caste data collected, automated fairness checks.</a:t>
            </a:r>
            <a:endParaRPr lang="en-US" sz="1400" dirty="0"/>
          </a:p>
        </p:txBody>
      </p:sp>
      <p:sp>
        <p:nvSpPr>
          <p:cNvPr id="11" name="Shape 9"/>
          <p:cNvSpPr/>
          <p:nvPr/>
        </p:nvSpPr>
        <p:spPr>
          <a:xfrm>
            <a:off x="5283200" y="2016764"/>
            <a:ext cx="5461000" cy="3416300"/>
          </a:xfrm>
          <a:prstGeom prst="roundRect">
            <a:avLst>
              <a:gd name="adj" fmla="val 3717"/>
            </a:avLst>
          </a:prstGeom>
          <a:solidFill>
            <a:srgbClr val="0E1018"/>
          </a:solidFill>
          <a:ln/>
          <a:effectLst>
            <a:outerShdw sx="100000" sy="100000" kx="0" ky="0" algn="bl" rotWithShape="0" blurRad="406400" dist="152400" dir="5400000">
              <a:srgbClr val="000000">
                <a:alpha val="50000"/>
              </a:srgbClr>
            </a:outerShdw>
          </a:effectLst>
        </p:spPr>
      </p:sp>
      <p:pic>
        <p:nvPicPr>
          <p:cNvPr id="12" name="Image 0" descr="How we know page: datasets with their sources, checked status and freshness">    </p:cNvPr>
          <p:cNvPicPr>
            <a:picLocks noChangeAspect="1"/>
          </p:cNvPicPr>
          <p:nvPr/>
        </p:nvPicPr>
        <p:blipFill>
          <a:blip r:embed="rId1"/>
          <a:srcRect l="-23" r="-23" t="0" b="0"/>
          <a:stretch/>
        </p:blipFill>
        <p:spPr>
          <a:xfrm>
            <a:off x="5289550" y="2023114"/>
            <a:ext cx="5448300" cy="3403600"/>
          </a:xfrm>
          <a:prstGeom prst="roundRect">
            <a:avLst>
              <a:gd name="adj" fmla="val 3545"/>
            </a:avLst>
          </a:prstGeom>
        </p:spPr>
      </p:pic>
      <p:sp>
        <p:nvSpPr>
          <p:cNvPr id="13" name="Shape 10"/>
          <p:cNvSpPr/>
          <p:nvPr/>
        </p:nvSpPr>
        <p:spPr>
          <a:xfrm>
            <a:off x="5286375" y="2019939"/>
            <a:ext cx="5454650" cy="3409950"/>
          </a:xfrm>
          <a:prstGeom prst="roundRect">
            <a:avLst>
              <a:gd name="adj" fmla="val 3631"/>
            </a:avLst>
          </a:prstGeom>
          <a:noFill/>
          <a:ln w="6350">
            <a:solidFill>
              <a:srgbClr val="2A2E3D"/>
            </a:solidFill>
            <a:prstDash val="solid"/>
          </a:ln>
        </p:spPr>
      </p:sp>
      <p:sp>
        <p:nvSpPr>
          <p:cNvPr id="14" name="Shape 11"/>
          <p:cNvSpPr/>
          <p:nvPr/>
        </p:nvSpPr>
        <p:spPr>
          <a:xfrm>
            <a:off x="8839200" y="4239264"/>
            <a:ext cx="2540000" cy="1587500"/>
          </a:xfrm>
          <a:prstGeom prst="roundRect">
            <a:avLst>
              <a:gd name="adj" fmla="val 6400"/>
            </a:avLst>
          </a:prstGeom>
          <a:solidFill>
            <a:srgbClr val="0E1018"/>
          </a:solidFill>
          <a:ln/>
          <a:effectLst>
            <a:outerShdw sx="100000" sy="100000" kx="0" ky="0" algn="bl" rotWithShape="0" blurRad="406400" dist="152400" dir="5400000">
              <a:srgbClr val="000000">
                <a:alpha val="70000"/>
              </a:srgbClr>
            </a:outerShdw>
          </a:effectLst>
        </p:spPr>
      </p:sp>
      <p:pic>
        <p:nvPicPr>
          <p:cNvPr id="15" name="Image 1" descr="Parental approval page listing what PRISM uses and why">    </p:cNvPr>
          <p:cNvPicPr>
            <a:picLocks noChangeAspect="1"/>
          </p:cNvPicPr>
          <p:nvPr/>
        </p:nvPicPr>
        <p:blipFill>
          <a:blip r:embed="rId2"/>
          <a:srcRect l="-305" r="-305" t="0" b="0"/>
          <a:stretch/>
        </p:blipFill>
        <p:spPr>
          <a:xfrm>
            <a:off x="8851900" y="4251964"/>
            <a:ext cx="2514600" cy="1562100"/>
          </a:xfrm>
          <a:prstGeom prst="roundRect">
            <a:avLst>
              <a:gd name="adj" fmla="val 5691"/>
            </a:avLst>
          </a:prstGeom>
        </p:spPr>
      </p:pic>
      <p:sp>
        <p:nvSpPr>
          <p:cNvPr id="16" name="Shape 12"/>
          <p:cNvSpPr/>
          <p:nvPr/>
        </p:nvSpPr>
        <p:spPr>
          <a:xfrm>
            <a:off x="8845550" y="4245614"/>
            <a:ext cx="2527300" cy="1574800"/>
          </a:xfrm>
          <a:prstGeom prst="roundRect">
            <a:avLst>
              <a:gd name="adj" fmla="val 6048"/>
            </a:avLst>
          </a:prstGeom>
          <a:noFill/>
          <a:ln w="12700">
            <a:solidFill>
              <a:srgbClr val="3A3F55"/>
            </a:solidFill>
            <a:prstDash val="solid"/>
          </a:ln>
        </p:spPr>
      </p:sp>
      <p:sp>
        <p:nvSpPr>
          <p:cNvPr id="17"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018"/>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BUILT FOR SCHOOLS TO USE AT SCALE</a:t>
            </a:r>
            <a:endParaRPr lang="en-US" sz="1200" dirty="0"/>
          </a:p>
        </p:txBody>
      </p:sp>
      <p:sp>
        <p:nvSpPr>
          <p:cNvPr id="4" name="Text 2"/>
          <p:cNvSpPr/>
          <p:nvPr>
            <p:ph type="title"/>
          </p:nvPr>
        </p:nvSpPr>
        <p:spPr>
          <a:xfrm>
            <a:off x="812800" y="924564"/>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One counsellor, hundreds of students, attention where it is needed</a:t>
            </a:r>
            <a:endParaRPr lang="en-US" sz="3000" dirty="0"/>
          </a:p>
        </p:txBody>
      </p:sp>
      <p:sp>
        <p:nvSpPr>
          <p:cNvPr id="5" name="Text 3"/>
          <p:cNvSpPr/>
          <p:nvPr/>
        </p:nvSpPr>
        <p:spPr>
          <a:xfrm>
            <a:off x="812800" y="2657475"/>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Counsellor dashboard</a:t>
            </a:r>
            <a:endParaRPr lang="en-US" sz="1600" dirty="0"/>
          </a:p>
        </p:txBody>
      </p:sp>
      <p:sp>
        <p:nvSpPr>
          <p:cNvPr id="6" name="Text 4"/>
          <p:cNvSpPr/>
          <p:nvPr/>
        </p:nvSpPr>
        <p:spPr>
          <a:xfrm>
            <a:off x="812800" y="2952117"/>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Flags high family conflict, loan dependence and missed steps. Family money is never shown.</a:t>
            </a:r>
            <a:endParaRPr lang="en-US" sz="1400" dirty="0"/>
          </a:p>
        </p:txBody>
      </p:sp>
      <p:sp>
        <p:nvSpPr>
          <p:cNvPr id="7" name="Text 5"/>
          <p:cNvSpPr/>
          <p:nvPr/>
        </p:nvSpPr>
        <p:spPr>
          <a:xfrm>
            <a:off x="812800" y="3645539"/>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Anonymised analytics</a:t>
            </a:r>
            <a:endParaRPr lang="en-US" sz="1600" dirty="0"/>
          </a:p>
        </p:txBody>
      </p:sp>
      <p:sp>
        <p:nvSpPr>
          <p:cNvPr id="8" name="Text 6"/>
          <p:cNvSpPr/>
          <p:nvPr/>
        </p:nvSpPr>
        <p:spPr>
          <a:xfrm>
            <a:off x="812800" y="3940175"/>
            <a:ext cx="423824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School-wide trends, with small groups hidden to protect privacy.</a:t>
            </a:r>
            <a:endParaRPr lang="en-US" sz="1400" dirty="0"/>
          </a:p>
        </p:txBody>
      </p:sp>
      <p:sp>
        <p:nvSpPr>
          <p:cNvPr id="9" name="Text 7"/>
          <p:cNvSpPr/>
          <p:nvPr/>
        </p:nvSpPr>
        <p:spPr>
          <a:xfrm>
            <a:off x="812800" y="4633596"/>
            <a:ext cx="42382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Phone first</a:t>
            </a:r>
            <a:endParaRPr lang="en-US" sz="1600" dirty="0"/>
          </a:p>
        </p:txBody>
      </p:sp>
      <p:sp>
        <p:nvSpPr>
          <p:cNvPr id="10" name="Text 8"/>
          <p:cNvSpPr/>
          <p:nvPr/>
        </p:nvSpPr>
        <p:spPr>
          <a:xfrm>
            <a:off x="812800" y="4928239"/>
            <a:ext cx="4470400"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BDD0"/>
                </a:solidFill>
                <a:latin typeface="DM Sans" pitchFamily="34" charset="0"/>
                <a:ea typeface="DM Sans" pitchFamily="34" charset="-122"/>
                <a:cs typeface="DM Sans" pitchFamily="34" charset="-120"/>
              </a:rPr>
              <a:t>Works on low-end phones and slow connections.</a:t>
            </a:r>
            <a:endParaRPr lang="en-US" sz="1400" dirty="0"/>
          </a:p>
        </p:txBody>
      </p:sp>
      <p:sp>
        <p:nvSpPr>
          <p:cNvPr id="11" name="Shape 9"/>
          <p:cNvSpPr/>
          <p:nvPr/>
        </p:nvSpPr>
        <p:spPr>
          <a:xfrm>
            <a:off x="5283200" y="2016764"/>
            <a:ext cx="4445000" cy="2781300"/>
          </a:xfrm>
          <a:prstGeom prst="roundRect">
            <a:avLst>
              <a:gd name="adj" fmla="val 4566"/>
            </a:avLst>
          </a:prstGeom>
          <a:solidFill>
            <a:srgbClr val="07080D"/>
          </a:solidFill>
          <a:ln/>
          <a:effectLst>
            <a:outerShdw sx="100000" sy="100000" kx="0" ky="0" algn="bl" rotWithShape="0" blurRad="406400" dist="152400" dir="5400000">
              <a:srgbClr val="000000">
                <a:alpha val="50000"/>
              </a:srgbClr>
            </a:outerShdw>
          </a:effectLst>
        </p:spPr>
      </p:sp>
      <p:pic>
        <p:nvPicPr>
          <p:cNvPr id="12" name="Image 0" descr="Counsellor dashboard listing five students with their top career and family agreement">    </p:cNvPr>
          <p:cNvPicPr>
            <a:picLocks noChangeAspect="1"/>
          </p:cNvPicPr>
          <p:nvPr/>
        </p:nvPicPr>
        <p:blipFill>
          <a:blip r:embed="rId1"/>
          <a:srcRect l="-29" r="-29" t="0" b="0"/>
          <a:stretch/>
        </p:blipFill>
        <p:spPr>
          <a:xfrm>
            <a:off x="5289550" y="2023114"/>
            <a:ext cx="4432300" cy="2768600"/>
          </a:xfrm>
          <a:prstGeom prst="roundRect">
            <a:avLst>
              <a:gd name="adj" fmla="val 4358"/>
            </a:avLst>
          </a:prstGeom>
        </p:spPr>
      </p:pic>
      <p:sp>
        <p:nvSpPr>
          <p:cNvPr id="13" name="Shape 10"/>
          <p:cNvSpPr/>
          <p:nvPr/>
        </p:nvSpPr>
        <p:spPr>
          <a:xfrm>
            <a:off x="5286375" y="2019939"/>
            <a:ext cx="4438650" cy="2774950"/>
          </a:xfrm>
          <a:prstGeom prst="roundRect">
            <a:avLst>
              <a:gd name="adj" fmla="val 4462"/>
            </a:avLst>
          </a:prstGeom>
          <a:noFill/>
          <a:ln w="6350">
            <a:solidFill>
              <a:srgbClr val="2A2E3D"/>
            </a:solidFill>
            <a:prstDash val="solid"/>
          </a:ln>
        </p:spPr>
      </p:sp>
      <p:sp>
        <p:nvSpPr>
          <p:cNvPr id="14" name="Shape 11"/>
          <p:cNvSpPr/>
          <p:nvPr/>
        </p:nvSpPr>
        <p:spPr>
          <a:xfrm>
            <a:off x="5283200" y="3997964"/>
            <a:ext cx="2921000" cy="1828800"/>
          </a:xfrm>
          <a:prstGeom prst="roundRect">
            <a:avLst>
              <a:gd name="adj" fmla="val 5556"/>
            </a:avLst>
          </a:prstGeom>
          <a:solidFill>
            <a:srgbClr val="07080D"/>
          </a:solidFill>
          <a:ln/>
          <a:effectLst>
            <a:outerShdw sx="100000" sy="100000" kx="0" ky="0" algn="bl" rotWithShape="0" blurRad="406400" dist="152400" dir="5400000">
              <a:srgbClr val="000000">
                <a:alpha val="70000"/>
              </a:srgbClr>
            </a:outerShdw>
          </a:effectLst>
        </p:spPr>
      </p:sp>
      <p:pic>
        <p:nvPicPr>
          <p:cNvPr id="15" name="Image 1" descr="Admin analytics: funding class across recommendations and outcomes">    </p:cNvPr>
          <p:cNvPicPr>
            <a:picLocks noChangeAspect="1"/>
          </p:cNvPicPr>
          <p:nvPr/>
        </p:nvPicPr>
        <p:blipFill>
          <a:blip r:embed="rId2"/>
          <a:srcRect l="-176" r="-176" t="0" b="0"/>
          <a:stretch/>
        </p:blipFill>
        <p:spPr>
          <a:xfrm>
            <a:off x="5295900" y="4010664"/>
            <a:ext cx="2895600" cy="1803400"/>
          </a:xfrm>
          <a:prstGeom prst="roundRect">
            <a:avLst>
              <a:gd name="adj" fmla="val 4930"/>
            </a:avLst>
          </a:prstGeom>
        </p:spPr>
      </p:pic>
      <p:sp>
        <p:nvSpPr>
          <p:cNvPr id="16" name="Shape 12"/>
          <p:cNvSpPr/>
          <p:nvPr/>
        </p:nvSpPr>
        <p:spPr>
          <a:xfrm>
            <a:off x="5289550" y="4004314"/>
            <a:ext cx="2908300" cy="1816100"/>
          </a:xfrm>
          <a:prstGeom prst="roundRect">
            <a:avLst>
              <a:gd name="adj" fmla="val 5245"/>
            </a:avLst>
          </a:prstGeom>
          <a:noFill/>
          <a:ln w="12700">
            <a:solidFill>
              <a:srgbClr val="3A3F55"/>
            </a:solidFill>
            <a:prstDash val="solid"/>
          </a:ln>
        </p:spPr>
      </p:sp>
      <p:pic>
        <p:nvPicPr>
          <p:cNvPr id="17" name="Image 2" descr="Results on a phone screen">    </p:cNvPr>
          <p:cNvPicPr>
            <a:picLocks noChangeAspect="1"/>
          </p:cNvPicPr>
          <p:nvPr/>
        </p:nvPicPr>
        <p:blipFill>
          <a:blip r:embed="rId3"/>
          <a:srcRect l="2157" r="2157" t="0" b="0"/>
          <a:stretch/>
        </p:blipFill>
        <p:spPr>
          <a:xfrm>
            <a:off x="9969500" y="2321564"/>
            <a:ext cx="1358900" cy="3073400"/>
          </a:xfrm>
          <a:prstGeom prst="roundRect">
            <a:avLst>
              <a:gd name="adj" fmla="val 13084"/>
            </a:avLst>
          </a:prstGeom>
          <a:effectLst>
            <a:outerShdw sx="100000" sy="100000" kx="0" ky="0" algn="bl" rotWithShape="0" blurRad="406400" dist="152400" dir="5400000">
              <a:srgbClr val="000000">
                <a:alpha val="70000"/>
              </a:srgbClr>
            </a:outerShdw>
          </a:effectLst>
        </p:spPr>
      </p:pic>
      <p:sp>
        <p:nvSpPr>
          <p:cNvPr id="18" name="Shape 13"/>
          <p:cNvSpPr/>
          <p:nvPr/>
        </p:nvSpPr>
        <p:spPr>
          <a:xfrm>
            <a:off x="9944100" y="2296164"/>
            <a:ext cx="1409700" cy="3124200"/>
          </a:xfrm>
          <a:prstGeom prst="roundRect">
            <a:avLst>
              <a:gd name="adj" fmla="val 14414"/>
            </a:avLst>
          </a:prstGeom>
          <a:noFill/>
          <a:ln w="50800">
            <a:solidFill>
              <a:srgbClr val="2A2E3D"/>
            </a:solidFill>
            <a:prstDash val="solid"/>
          </a:ln>
        </p:spPr>
      </p:sp>
      <p:sp>
        <p:nvSpPr>
          <p:cNvPr id="19" name="Text 1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UNDER THE HOOD</a:t>
            </a:r>
            <a:endParaRPr lang="en-US" sz="1200" dirty="0"/>
          </a:p>
        </p:txBody>
      </p:sp>
      <p:sp>
        <p:nvSpPr>
          <p:cNvPr id="4" name="Text 2"/>
          <p:cNvSpPr/>
          <p:nvPr>
            <p:ph type="title"/>
          </p:nvPr>
        </p:nvSpPr>
        <p:spPr>
          <a:xfrm>
            <a:off x="812800" y="9245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A working, tested product, not a mock-up</a:t>
            </a:r>
            <a:endParaRPr lang="en-US" sz="3000" dirty="0"/>
          </a:p>
        </p:txBody>
      </p:sp>
      <p:sp>
        <p:nvSpPr>
          <p:cNvPr id="5" name="Shape 3"/>
          <p:cNvSpPr/>
          <p:nvPr/>
        </p:nvSpPr>
        <p:spPr>
          <a:xfrm>
            <a:off x="815975" y="1626239"/>
            <a:ext cx="3075464" cy="895350"/>
          </a:xfrm>
          <a:prstGeom prst="roundRect">
            <a:avLst>
              <a:gd name="adj" fmla="val 13830"/>
            </a:avLst>
          </a:prstGeom>
          <a:solidFill>
            <a:srgbClr val="121521"/>
          </a:solidFill>
          <a:ln w="6350">
            <a:solidFill>
              <a:srgbClr val="3B8BFF"/>
            </a:solidFill>
            <a:prstDash val="solid"/>
          </a:ln>
        </p:spPr>
      </p:sp>
      <p:sp>
        <p:nvSpPr>
          <p:cNvPr id="6" name="Text 4"/>
          <p:cNvSpPr/>
          <p:nvPr/>
        </p:nvSpPr>
        <p:spPr>
          <a:xfrm>
            <a:off x="1021080" y="1805942"/>
            <a:ext cx="274521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3F8"/>
                </a:solidFill>
                <a:latin typeface="DM Sans" pitchFamily="34" charset="0"/>
                <a:ea typeface="DM Sans" pitchFamily="34" charset="-122"/>
                <a:cs typeface="DM Sans" pitchFamily="34" charset="-120"/>
              </a:rPr>
              <a:t>React app</a:t>
            </a:r>
            <a:endParaRPr lang="en-US" sz="1600" dirty="0"/>
          </a:p>
        </p:txBody>
      </p:sp>
      <p:sp>
        <p:nvSpPr>
          <p:cNvPr id="7" name="Text 5"/>
          <p:cNvSpPr/>
          <p:nvPr/>
        </p:nvSpPr>
        <p:spPr>
          <a:xfrm>
            <a:off x="1021080" y="2128521"/>
            <a:ext cx="27452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Vercel · TypeScript, Tailwind</a:t>
            </a:r>
            <a:endParaRPr lang="en-US" sz="1200" dirty="0"/>
          </a:p>
        </p:txBody>
      </p:sp>
      <p:pic>
        <p:nvPicPr>
          <p:cNvPr id="8" name="Image 0" descr="connector">    </p:cNvPr>
          <p:cNvPicPr>
            <a:picLocks noChangeAspect="1"/>
          </p:cNvPicPr>
          <p:nvPr/>
        </p:nvPicPr>
        <p:blipFill>
          <a:blip r:embed="rId1"/>
          <a:srcRect l="0" r="0" t="0" b="0"/>
          <a:stretch/>
        </p:blipFill>
        <p:spPr>
          <a:xfrm>
            <a:off x="3996214" y="2035814"/>
            <a:ext cx="457200" cy="76200"/>
          </a:xfrm>
          <a:prstGeom prst="rect">
            <a:avLst/>
          </a:prstGeom>
        </p:spPr>
      </p:pic>
      <p:sp>
        <p:nvSpPr>
          <p:cNvPr id="9" name="Shape 6"/>
          <p:cNvSpPr/>
          <p:nvPr/>
        </p:nvSpPr>
        <p:spPr>
          <a:xfrm>
            <a:off x="4558189" y="1626239"/>
            <a:ext cx="3075543" cy="895350"/>
          </a:xfrm>
          <a:prstGeom prst="roundRect">
            <a:avLst>
              <a:gd name="adj" fmla="val 13830"/>
            </a:avLst>
          </a:prstGeom>
          <a:solidFill>
            <a:srgbClr val="121521"/>
          </a:solidFill>
          <a:ln w="6350">
            <a:solidFill>
              <a:srgbClr val="7C6CFF"/>
            </a:solidFill>
            <a:prstDash val="solid"/>
          </a:ln>
        </p:spPr>
      </p:sp>
      <p:sp>
        <p:nvSpPr>
          <p:cNvPr id="10" name="Text 7"/>
          <p:cNvSpPr/>
          <p:nvPr/>
        </p:nvSpPr>
        <p:spPr>
          <a:xfrm>
            <a:off x="4763294" y="1805942"/>
            <a:ext cx="27452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3F8"/>
                </a:solidFill>
                <a:latin typeface="DM Sans" pitchFamily="34" charset="0"/>
                <a:ea typeface="DM Sans" pitchFamily="34" charset="-122"/>
                <a:cs typeface="DM Sans" pitchFamily="34" charset="-120"/>
              </a:rPr>
              <a:t>FastAPI service</a:t>
            </a:r>
            <a:endParaRPr lang="en-US" sz="1600" dirty="0"/>
          </a:p>
        </p:txBody>
      </p:sp>
      <p:sp>
        <p:nvSpPr>
          <p:cNvPr id="11" name="Text 8"/>
          <p:cNvSpPr/>
          <p:nvPr/>
        </p:nvSpPr>
        <p:spPr>
          <a:xfrm>
            <a:off x="4763294" y="2128521"/>
            <a:ext cx="27452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Render · JWT sign-in, roles</a:t>
            </a:r>
            <a:endParaRPr lang="en-US" sz="1200" dirty="0"/>
          </a:p>
        </p:txBody>
      </p:sp>
      <p:pic>
        <p:nvPicPr>
          <p:cNvPr id="12" name="Image 1" descr="connector">    </p:cNvPr>
          <p:cNvPicPr>
            <a:picLocks noChangeAspect="1"/>
          </p:cNvPicPr>
          <p:nvPr/>
        </p:nvPicPr>
        <p:blipFill>
          <a:blip r:embed="rId2"/>
          <a:srcRect l="0" r="0" t="0" b="0"/>
          <a:stretch/>
        </p:blipFill>
        <p:spPr>
          <a:xfrm>
            <a:off x="7738507" y="2035814"/>
            <a:ext cx="457200" cy="76200"/>
          </a:xfrm>
          <a:prstGeom prst="rect">
            <a:avLst/>
          </a:prstGeom>
        </p:spPr>
      </p:pic>
      <p:sp>
        <p:nvSpPr>
          <p:cNvPr id="13" name="Shape 9"/>
          <p:cNvSpPr/>
          <p:nvPr/>
        </p:nvSpPr>
        <p:spPr>
          <a:xfrm>
            <a:off x="8300482" y="1626239"/>
            <a:ext cx="3075543" cy="895350"/>
          </a:xfrm>
          <a:prstGeom prst="roundRect">
            <a:avLst>
              <a:gd name="adj" fmla="val 13830"/>
            </a:avLst>
          </a:prstGeom>
          <a:solidFill>
            <a:srgbClr val="121521"/>
          </a:solidFill>
          <a:ln w="6350">
            <a:solidFill>
              <a:srgbClr val="14B8A6"/>
            </a:solidFill>
            <a:prstDash val="solid"/>
          </a:ln>
        </p:spPr>
      </p:sp>
      <p:sp>
        <p:nvSpPr>
          <p:cNvPr id="14" name="Text 10"/>
          <p:cNvSpPr/>
          <p:nvPr/>
        </p:nvSpPr>
        <p:spPr>
          <a:xfrm>
            <a:off x="8505587" y="1805942"/>
            <a:ext cx="286726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3F8"/>
                </a:solidFill>
                <a:latin typeface="DM Sans" pitchFamily="34" charset="0"/>
                <a:ea typeface="DM Sans" pitchFamily="34" charset="-122"/>
                <a:cs typeface="DM Sans" pitchFamily="34" charset="-120"/>
              </a:rPr>
              <a:t>Scoring engine + database</a:t>
            </a:r>
            <a:endParaRPr lang="en-US" sz="1600" dirty="0"/>
          </a:p>
        </p:txBody>
      </p:sp>
      <p:sp>
        <p:nvSpPr>
          <p:cNvPr id="15" name="Text 11"/>
          <p:cNvSpPr/>
          <p:nvPr/>
        </p:nvSpPr>
        <p:spPr>
          <a:xfrm>
            <a:off x="8505587" y="2128521"/>
            <a:ext cx="27452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DM Sans" pitchFamily="34" charset="0"/>
                <a:ea typeface="DM Sans" pitchFamily="34" charset="-122"/>
                <a:cs typeface="DM Sans" pitchFamily="34" charset="-120"/>
              </a:rPr>
              <a:t>Pure functions · PostgreSQL</a:t>
            </a:r>
            <a:endParaRPr lang="en-US" sz="1200" dirty="0"/>
          </a:p>
        </p:txBody>
      </p:sp>
      <p:sp>
        <p:nvSpPr>
          <p:cNvPr id="16" name="Text 12"/>
          <p:cNvSpPr/>
          <p:nvPr/>
        </p:nvSpPr>
        <p:spPr>
          <a:xfrm>
            <a:off x="815975" y="2654939"/>
            <a:ext cx="4103450" cy="369570"/>
          </a:xfrm>
          <a:prstGeom prst="roundRect">
            <a:avLst>
              <a:gd name="adj" fmla="val 50000"/>
            </a:avLst>
          </a:prstGeom>
          <a:solidFill>
            <a:srgbClr val="121521"/>
          </a:solidFill>
          <a:ln w="6350">
            <a:solidFill>
              <a:srgbClr val="3A3F55"/>
            </a:solidFill>
            <a:prstDash val="dash"/>
          </a:ln>
        </p:spPr>
        <p:txBody>
          <a:bodyPr wrap="none" lIns="0" tIns="0" rIns="0" bIns="0" rtlCol="0" anchor="ctr">
            <a:normAutofit/>
          </a:bodyPr>
          <a:lstStyle/>
          <a:p>
            <a:pPr algn="ctr" indent="0" marL="0">
              <a:lnSpc>
                <a:spcPts val="1680"/>
              </a:lnSpc>
              <a:buNone/>
            </a:pPr>
            <a:r>
              <a:rPr lang="en-US" sz="1200" dirty="0">
                <a:solidFill>
                  <a:srgbClr val="B8BDD0"/>
                </a:solidFill>
                <a:latin typeface="DM Sans" pitchFamily="34" charset="0"/>
                <a:ea typeface="DM Sans" pitchFamily="34" charset="-122"/>
                <a:cs typeface="DM Sans" pitchFamily="34" charset="-120"/>
              </a:rPr>
              <a:t>+ Live job-postings feed (Adzuna), with offline import</a:t>
            </a:r>
            <a:endParaRPr lang="en-US" sz="1200" dirty="0"/>
          </a:p>
        </p:txBody>
      </p:sp>
      <p:sp>
        <p:nvSpPr>
          <p:cNvPr id="17" name="Text 13"/>
          <p:cNvSpPr/>
          <p:nvPr/>
        </p:nvSpPr>
        <p:spPr>
          <a:xfrm>
            <a:off x="5027375" y="2654939"/>
            <a:ext cx="3437334" cy="369570"/>
          </a:xfrm>
          <a:prstGeom prst="roundRect">
            <a:avLst>
              <a:gd name="adj" fmla="val 50000"/>
            </a:avLst>
          </a:prstGeom>
          <a:solidFill>
            <a:srgbClr val="121521"/>
          </a:solidFill>
          <a:ln w="6350">
            <a:solidFill>
              <a:srgbClr val="3A3F55"/>
            </a:solidFill>
            <a:prstDash val="dash"/>
          </a:ln>
        </p:spPr>
        <p:txBody>
          <a:bodyPr wrap="none" lIns="0" tIns="0" rIns="0" bIns="0" rtlCol="0" anchor="ctr">
            <a:normAutofit/>
          </a:bodyPr>
          <a:lstStyle/>
          <a:p>
            <a:pPr algn="ctr" indent="0" marL="0">
              <a:lnSpc>
                <a:spcPts val="1680"/>
              </a:lnSpc>
              <a:buNone/>
            </a:pPr>
            <a:r>
              <a:rPr lang="en-US" sz="1200" dirty="0">
                <a:solidFill>
                  <a:srgbClr val="B8BDD0"/>
                </a:solidFill>
                <a:latin typeface="DM Sans" pitchFamily="34" charset="0"/>
                <a:ea typeface="DM Sans" pitchFamily="34" charset="-122"/>
                <a:cs typeface="DM Sans" pitchFamily="34" charset="-120"/>
              </a:rPr>
              <a:t>+ Optional AI summary writer, fact-checked</a:t>
            </a:r>
            <a:endParaRPr lang="en-US" sz="1200" dirty="0"/>
          </a:p>
        </p:txBody>
      </p:sp>
      <p:sp>
        <p:nvSpPr>
          <p:cNvPr id="18" name="Shape 14"/>
          <p:cNvSpPr/>
          <p:nvPr/>
        </p:nvSpPr>
        <p:spPr>
          <a:xfrm>
            <a:off x="812800" y="3307079"/>
            <a:ext cx="1422400" cy="1137920"/>
          </a:xfrm>
          <a:prstGeom prst="roundRect">
            <a:avLst>
              <a:gd name="adj" fmla="val 8929"/>
            </a:avLst>
          </a:prstGeom>
          <a:solidFill>
            <a:srgbClr val="121521"/>
          </a:solidFill>
          <a:ln/>
        </p:spPr>
      </p:sp>
      <p:sp>
        <p:nvSpPr>
          <p:cNvPr id="19" name="Text 15"/>
          <p:cNvSpPr/>
          <p:nvPr/>
        </p:nvSpPr>
        <p:spPr>
          <a:xfrm>
            <a:off x="939800" y="345947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9D90FF"/>
                </a:solidFill>
                <a:latin typeface="Space Grotesk" pitchFamily="34" charset="0"/>
                <a:ea typeface="Space Grotesk" pitchFamily="34" charset="-122"/>
                <a:cs typeface="Space Grotesk" pitchFamily="34" charset="-120"/>
              </a:rPr>
              <a:t>51</a:t>
            </a:r>
            <a:endParaRPr lang="en-US" sz="3000" dirty="0"/>
          </a:p>
        </p:txBody>
      </p:sp>
      <p:sp>
        <p:nvSpPr>
          <p:cNvPr id="20" name="Text 16"/>
          <p:cNvSpPr/>
          <p:nvPr/>
        </p:nvSpPr>
        <p:spPr>
          <a:xfrm>
            <a:off x="939800" y="3865879"/>
            <a:ext cx="121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careers</a:t>
            </a:r>
            <a:endParaRPr lang="en-US" sz="1200" dirty="0"/>
          </a:p>
        </p:txBody>
      </p:sp>
      <p:sp>
        <p:nvSpPr>
          <p:cNvPr id="21" name="Shape 17"/>
          <p:cNvSpPr/>
          <p:nvPr/>
        </p:nvSpPr>
        <p:spPr>
          <a:xfrm>
            <a:off x="2336800" y="3307079"/>
            <a:ext cx="1422400" cy="1137920"/>
          </a:xfrm>
          <a:prstGeom prst="roundRect">
            <a:avLst>
              <a:gd name="adj" fmla="val 8929"/>
            </a:avLst>
          </a:prstGeom>
          <a:solidFill>
            <a:srgbClr val="121521"/>
          </a:solidFill>
          <a:ln/>
        </p:spPr>
      </p:sp>
      <p:sp>
        <p:nvSpPr>
          <p:cNvPr id="22" name="Text 18"/>
          <p:cNvSpPr/>
          <p:nvPr/>
        </p:nvSpPr>
        <p:spPr>
          <a:xfrm>
            <a:off x="2463800" y="345947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6FA8FF"/>
                </a:solidFill>
                <a:latin typeface="Space Grotesk" pitchFamily="34" charset="0"/>
                <a:ea typeface="Space Grotesk" pitchFamily="34" charset="-122"/>
                <a:cs typeface="Space Grotesk" pitchFamily="34" charset="-120"/>
              </a:rPr>
              <a:t>101</a:t>
            </a:r>
            <a:endParaRPr lang="en-US" sz="3000" dirty="0"/>
          </a:p>
        </p:txBody>
      </p:sp>
      <p:sp>
        <p:nvSpPr>
          <p:cNvPr id="23" name="Text 19"/>
          <p:cNvSpPr/>
          <p:nvPr/>
        </p:nvSpPr>
        <p:spPr>
          <a:xfrm>
            <a:off x="2463800" y="3865879"/>
            <a:ext cx="121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study pathways</a:t>
            </a:r>
            <a:endParaRPr lang="en-US" sz="1200" dirty="0"/>
          </a:p>
        </p:txBody>
      </p:sp>
      <p:sp>
        <p:nvSpPr>
          <p:cNvPr id="24" name="Shape 20"/>
          <p:cNvSpPr/>
          <p:nvPr/>
        </p:nvSpPr>
        <p:spPr>
          <a:xfrm>
            <a:off x="3860800" y="3307079"/>
            <a:ext cx="1422400" cy="1137920"/>
          </a:xfrm>
          <a:prstGeom prst="roundRect">
            <a:avLst>
              <a:gd name="adj" fmla="val 8929"/>
            </a:avLst>
          </a:prstGeom>
          <a:solidFill>
            <a:srgbClr val="121521"/>
          </a:solidFill>
          <a:ln/>
        </p:spPr>
      </p:sp>
      <p:sp>
        <p:nvSpPr>
          <p:cNvPr id="25" name="Text 21"/>
          <p:cNvSpPr/>
          <p:nvPr/>
        </p:nvSpPr>
        <p:spPr>
          <a:xfrm>
            <a:off x="3987800" y="345947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2DD4BF"/>
                </a:solidFill>
                <a:latin typeface="Space Grotesk" pitchFamily="34" charset="0"/>
                <a:ea typeface="Space Grotesk" pitchFamily="34" charset="-122"/>
                <a:cs typeface="Space Grotesk" pitchFamily="34" charset="-120"/>
              </a:rPr>
              <a:t>41</a:t>
            </a:r>
            <a:endParaRPr lang="en-US" sz="3000" dirty="0"/>
          </a:p>
        </p:txBody>
      </p:sp>
      <p:sp>
        <p:nvSpPr>
          <p:cNvPr id="26" name="Text 22"/>
          <p:cNvSpPr/>
          <p:nvPr/>
        </p:nvSpPr>
        <p:spPr>
          <a:xfrm>
            <a:off x="3987800" y="3865879"/>
            <a:ext cx="121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institutions</a:t>
            </a:r>
            <a:endParaRPr lang="en-US" sz="1200" dirty="0"/>
          </a:p>
        </p:txBody>
      </p:sp>
      <p:sp>
        <p:nvSpPr>
          <p:cNvPr id="27" name="Shape 23"/>
          <p:cNvSpPr/>
          <p:nvPr/>
        </p:nvSpPr>
        <p:spPr>
          <a:xfrm>
            <a:off x="5384800" y="3307079"/>
            <a:ext cx="1422400" cy="1137920"/>
          </a:xfrm>
          <a:prstGeom prst="roundRect">
            <a:avLst>
              <a:gd name="adj" fmla="val 8929"/>
            </a:avLst>
          </a:prstGeom>
          <a:solidFill>
            <a:srgbClr val="121521"/>
          </a:solidFill>
          <a:ln/>
        </p:spPr>
      </p:sp>
      <p:sp>
        <p:nvSpPr>
          <p:cNvPr id="28" name="Text 24"/>
          <p:cNvSpPr/>
          <p:nvPr/>
        </p:nvSpPr>
        <p:spPr>
          <a:xfrm>
            <a:off x="5511800" y="345947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7FD34E"/>
                </a:solidFill>
                <a:latin typeface="Space Grotesk" pitchFamily="34" charset="0"/>
                <a:ea typeface="Space Grotesk" pitchFamily="34" charset="-122"/>
                <a:cs typeface="Space Grotesk" pitchFamily="34" charset="-120"/>
              </a:rPr>
              <a:t>42</a:t>
            </a:r>
            <a:endParaRPr lang="en-US" sz="3000" dirty="0"/>
          </a:p>
        </p:txBody>
      </p:sp>
      <p:sp>
        <p:nvSpPr>
          <p:cNvPr id="29" name="Text 25"/>
          <p:cNvSpPr/>
          <p:nvPr/>
        </p:nvSpPr>
        <p:spPr>
          <a:xfrm>
            <a:off x="5511800" y="3865879"/>
            <a:ext cx="121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scholarships</a:t>
            </a:r>
            <a:endParaRPr lang="en-US" sz="1200" dirty="0"/>
          </a:p>
        </p:txBody>
      </p:sp>
      <p:sp>
        <p:nvSpPr>
          <p:cNvPr id="30" name="Shape 26"/>
          <p:cNvSpPr/>
          <p:nvPr/>
        </p:nvSpPr>
        <p:spPr>
          <a:xfrm>
            <a:off x="6908800" y="3307079"/>
            <a:ext cx="1422400" cy="1137920"/>
          </a:xfrm>
          <a:prstGeom prst="roundRect">
            <a:avLst>
              <a:gd name="adj" fmla="val 8929"/>
            </a:avLst>
          </a:prstGeom>
          <a:solidFill>
            <a:srgbClr val="121521"/>
          </a:solidFill>
          <a:ln/>
        </p:spPr>
      </p:sp>
      <p:sp>
        <p:nvSpPr>
          <p:cNvPr id="31" name="Text 27"/>
          <p:cNvSpPr/>
          <p:nvPr/>
        </p:nvSpPr>
        <p:spPr>
          <a:xfrm>
            <a:off x="7035800" y="345947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F2B01E"/>
                </a:solidFill>
                <a:latin typeface="Space Grotesk" pitchFamily="34" charset="0"/>
                <a:ea typeface="Space Grotesk" pitchFamily="34" charset="-122"/>
                <a:cs typeface="Space Grotesk" pitchFamily="34" charset="-120"/>
              </a:rPr>
              <a:t>33</a:t>
            </a:r>
            <a:endParaRPr lang="en-US" sz="3000" dirty="0"/>
          </a:p>
        </p:txBody>
      </p:sp>
      <p:sp>
        <p:nvSpPr>
          <p:cNvPr id="32" name="Text 28"/>
          <p:cNvSpPr/>
          <p:nvPr/>
        </p:nvSpPr>
        <p:spPr>
          <a:xfrm>
            <a:off x="7035800" y="3865879"/>
            <a:ext cx="121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entrance exams</a:t>
            </a:r>
            <a:endParaRPr lang="en-US" sz="1200" dirty="0"/>
          </a:p>
        </p:txBody>
      </p:sp>
      <p:sp>
        <p:nvSpPr>
          <p:cNvPr id="33" name="Shape 29"/>
          <p:cNvSpPr/>
          <p:nvPr/>
        </p:nvSpPr>
        <p:spPr>
          <a:xfrm>
            <a:off x="8432800" y="3307079"/>
            <a:ext cx="1422400" cy="1137920"/>
          </a:xfrm>
          <a:prstGeom prst="roundRect">
            <a:avLst>
              <a:gd name="adj" fmla="val 8929"/>
            </a:avLst>
          </a:prstGeom>
          <a:solidFill>
            <a:srgbClr val="121521"/>
          </a:solidFill>
          <a:ln/>
        </p:spPr>
      </p:sp>
      <p:sp>
        <p:nvSpPr>
          <p:cNvPr id="34" name="Text 30"/>
          <p:cNvSpPr/>
          <p:nvPr/>
        </p:nvSpPr>
        <p:spPr>
          <a:xfrm>
            <a:off x="8559800" y="345947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FF7A75"/>
                </a:solidFill>
                <a:latin typeface="Space Grotesk" pitchFamily="34" charset="0"/>
                <a:ea typeface="Space Grotesk" pitchFamily="34" charset="-122"/>
                <a:cs typeface="Space Grotesk" pitchFamily="34" charset="-120"/>
              </a:rPr>
              <a:t>20</a:t>
            </a:r>
            <a:endParaRPr lang="en-US" sz="3000" dirty="0"/>
          </a:p>
        </p:txBody>
      </p:sp>
      <p:sp>
        <p:nvSpPr>
          <p:cNvPr id="35" name="Text 31"/>
          <p:cNvSpPr/>
          <p:nvPr/>
        </p:nvSpPr>
        <p:spPr>
          <a:xfrm>
            <a:off x="8559800" y="3865879"/>
            <a:ext cx="121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local problems</a:t>
            </a:r>
            <a:endParaRPr lang="en-US" sz="1200" dirty="0"/>
          </a:p>
        </p:txBody>
      </p:sp>
      <p:sp>
        <p:nvSpPr>
          <p:cNvPr id="36" name="Shape 32"/>
          <p:cNvSpPr/>
          <p:nvPr/>
        </p:nvSpPr>
        <p:spPr>
          <a:xfrm>
            <a:off x="9956800" y="3307079"/>
            <a:ext cx="1422400" cy="1137920"/>
          </a:xfrm>
          <a:prstGeom prst="roundRect">
            <a:avLst>
              <a:gd name="adj" fmla="val 8929"/>
            </a:avLst>
          </a:prstGeom>
          <a:solidFill>
            <a:srgbClr val="121521"/>
          </a:solidFill>
          <a:ln/>
        </p:spPr>
      </p:sp>
      <p:sp>
        <p:nvSpPr>
          <p:cNvPr id="37" name="Text 33"/>
          <p:cNvSpPr/>
          <p:nvPr/>
        </p:nvSpPr>
        <p:spPr>
          <a:xfrm>
            <a:off x="10083800" y="345947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F2F3F8"/>
                </a:solidFill>
                <a:latin typeface="Space Grotesk" pitchFamily="34" charset="0"/>
                <a:ea typeface="Space Grotesk" pitchFamily="34" charset="-122"/>
                <a:cs typeface="Space Grotesk" pitchFamily="34" charset="-120"/>
              </a:rPr>
              <a:t>120</a:t>
            </a:r>
            <a:endParaRPr lang="en-US" sz="3000" dirty="0"/>
          </a:p>
        </p:txBody>
      </p:sp>
      <p:sp>
        <p:nvSpPr>
          <p:cNvPr id="38" name="Text 34"/>
          <p:cNvSpPr/>
          <p:nvPr/>
        </p:nvSpPr>
        <p:spPr>
          <a:xfrm>
            <a:off x="10083800" y="3865879"/>
            <a:ext cx="1219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DD0"/>
                </a:solidFill>
                <a:latin typeface="DM Sans" pitchFamily="34" charset="0"/>
                <a:ea typeface="DM Sans" pitchFamily="34" charset="-122"/>
                <a:cs typeface="DM Sans" pitchFamily="34" charset="-120"/>
              </a:rPr>
              <a:t>automated tests</a:t>
            </a:r>
            <a:endParaRPr lang="en-US" sz="1200" dirty="0"/>
          </a:p>
        </p:txBody>
      </p:sp>
      <p:sp>
        <p:nvSpPr>
          <p:cNvPr id="39" name="Text 35"/>
          <p:cNvSpPr/>
          <p:nvPr/>
        </p:nvSpPr>
        <p:spPr>
          <a:xfrm>
            <a:off x="812800" y="47244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90A6"/>
                </a:solidFill>
                <a:latin typeface="DM Sans" pitchFamily="34" charset="0"/>
                <a:ea typeface="DM Sans" pitchFamily="34" charset="-122"/>
                <a:cs typeface="DM Sans" pitchFamily="34" charset="-120"/>
              </a:rPr>
              <a:t>React · TypeScript · Tailwind · FastAPI · SQLAlchemy · PostgreSQL · JWT</a:t>
            </a:r>
            <a:endParaRPr lang="en-US" sz="1400" dirty="0"/>
          </a:p>
        </p:txBody>
      </p:sp>
      <p:sp>
        <p:nvSpPr>
          <p:cNvPr id="40" name="Text 3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80D"/>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gradFill rotWithShape="1">
            <a:gsLst>
              <a:gs pos="0">
                <a:srgbClr val="7C6CFF"/>
              </a:gs>
              <a:gs pos="20000">
                <a:srgbClr val="3B8BFF"/>
              </a:gs>
              <a:gs pos="40000">
                <a:srgbClr val="14B8A6"/>
              </a:gs>
              <a:gs pos="60000">
                <a:srgbClr val="65C23A"/>
              </a:gs>
              <a:gs pos="80000">
                <a:srgbClr val="F2B01E"/>
              </a:gs>
              <a:gs pos="100000">
                <a:srgbClr val="F0544F"/>
              </a:gs>
            </a:gsLst>
            <a:lin ang="0" scaled="0"/>
          </a:gradFill>
          <a:ln/>
        </p:spPr>
      </p:sp>
      <p:sp>
        <p:nvSpPr>
          <p:cNvPr id="3" name="Text 1"/>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2D3EE"/>
                </a:solidFill>
                <a:latin typeface="DM Sans" pitchFamily="34" charset="0"/>
                <a:ea typeface="DM Sans" pitchFamily="34" charset="-122"/>
                <a:cs typeface="DM Sans" pitchFamily="34" charset="-120"/>
              </a:rPr>
              <a:t>IMPACT AND NEXT STEPS</a:t>
            </a:r>
            <a:endParaRPr lang="en-US" sz="1200" dirty="0"/>
          </a:p>
        </p:txBody>
      </p:sp>
      <p:sp>
        <p:nvSpPr>
          <p:cNvPr id="4" name="Text 2"/>
          <p:cNvSpPr/>
          <p:nvPr>
            <p:ph type="title"/>
          </p:nvPr>
        </p:nvSpPr>
        <p:spPr>
          <a:xfrm>
            <a:off x="812800" y="924564"/>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2F3F8"/>
                </a:solidFill>
                <a:latin typeface="Space Grotesk" pitchFamily="34" charset="0"/>
                <a:ea typeface="Space Grotesk" pitchFamily="34" charset="-122"/>
                <a:cs typeface="Space Grotesk" pitchFamily="34" charset="-120"/>
              </a:rPr>
              <a:t>From a ranking on a screen to a decision a family makes together</a:t>
            </a:r>
            <a:endParaRPr lang="en-US" sz="3000" dirty="0"/>
          </a:p>
        </p:txBody>
      </p:sp>
      <p:sp>
        <p:nvSpPr>
          <p:cNvPr id="5" name="Shape 3"/>
          <p:cNvSpPr/>
          <p:nvPr/>
        </p:nvSpPr>
        <p:spPr>
          <a:xfrm>
            <a:off x="815975" y="2045333"/>
            <a:ext cx="5175250" cy="2040890"/>
          </a:xfrm>
          <a:prstGeom prst="roundRect">
            <a:avLst>
              <a:gd name="adj" fmla="val 7312"/>
            </a:avLst>
          </a:prstGeom>
          <a:solidFill>
            <a:srgbClr val="121521"/>
          </a:solidFill>
          <a:ln w="6350">
            <a:solidFill>
              <a:srgbClr val="262A3B"/>
            </a:solidFill>
            <a:prstDash val="solid"/>
          </a:ln>
        </p:spPr>
      </p:sp>
      <p:sp>
        <p:nvSpPr>
          <p:cNvPr id="6" name="Text 4"/>
          <p:cNvSpPr/>
          <p:nvPr/>
        </p:nvSpPr>
        <p:spPr>
          <a:xfrm>
            <a:off x="1097280" y="2301242"/>
            <a:ext cx="475101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Impact</a:t>
            </a:r>
            <a:endParaRPr lang="en-US" sz="2200" dirty="0"/>
          </a:p>
        </p:txBody>
      </p:sp>
      <p:sp>
        <p:nvSpPr>
          <p:cNvPr id="7" name="Text 5"/>
          <p:cNvSpPr/>
          <p:nvPr/>
        </p:nvSpPr>
        <p:spPr>
          <a:xfrm>
            <a:off x="1181862" y="2763527"/>
            <a:ext cx="4658817"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B8BDD0"/>
                </a:solidFill>
                <a:latin typeface="DM Sans" pitchFamily="34" charset="0"/>
                <a:ea typeface="DM Sans" pitchFamily="34" charset="-122"/>
                <a:cs typeface="DM Sans" pitchFamily="34" charset="-120"/>
              </a:rPr>
              <a:t>Students choose with evidence, not hearsay</a:t>
            </a:r>
            <a:endParaRPr lang="en-US" sz="1400" dirty="0"/>
          </a:p>
          <a:p>
            <a:pPr algn="l" marL="169418" indent="-169418">
              <a:lnSpc>
                <a:spcPts val="2100"/>
              </a:lnSpc>
              <a:buSzPct val="100000"/>
              <a:buChar char="•"/>
            </a:pPr>
            <a:r>
              <a:rPr lang="en-US" sz="1400" dirty="0">
                <a:solidFill>
                  <a:srgbClr val="B8BDD0"/>
                </a:solidFill>
                <a:latin typeface="DM Sans" pitchFamily="34" charset="0"/>
                <a:ea typeface="DM Sans" pitchFamily="34" charset="-122"/>
                <a:cs typeface="DM Sans" pitchFamily="34" charset="-120"/>
              </a:rPr>
              <a:t>Parents are heard, and see the real cost</a:t>
            </a:r>
            <a:endParaRPr lang="en-US" sz="1400" dirty="0"/>
          </a:p>
          <a:p>
            <a:pPr algn="l" marL="169418" indent="-169418">
              <a:lnSpc>
                <a:spcPts val="2100"/>
              </a:lnSpc>
              <a:buSzPct val="100000"/>
              <a:buChar char="•"/>
            </a:pPr>
            <a:r>
              <a:rPr lang="en-US" sz="1400" dirty="0">
                <a:solidFill>
                  <a:srgbClr val="B8BDD0"/>
                </a:solidFill>
                <a:latin typeface="DM Sans" pitchFamily="34" charset="0"/>
                <a:ea typeface="DM Sans" pitchFamily="34" charset="-122"/>
                <a:cs typeface="DM Sans" pitchFamily="34" charset="-120"/>
              </a:rPr>
              <a:t>Counsellors spend time where it is needed</a:t>
            </a:r>
            <a:endParaRPr lang="en-US" sz="1400" dirty="0"/>
          </a:p>
          <a:p>
            <a:pPr algn="l" marL="169418" indent="-169418">
              <a:lnSpc>
                <a:spcPts val="2100"/>
              </a:lnSpc>
              <a:buSzPct val="100000"/>
              <a:buChar char="•"/>
            </a:pPr>
            <a:r>
              <a:rPr lang="en-US" sz="1400" dirty="0">
                <a:solidFill>
                  <a:srgbClr val="B8BDD0"/>
                </a:solidFill>
                <a:latin typeface="DM Sans" pitchFamily="34" charset="0"/>
                <a:ea typeface="DM Sans" pitchFamily="34" charset="-122"/>
                <a:cs typeface="DM Sans" pitchFamily="34" charset="-120"/>
              </a:rPr>
              <a:t>Rural students find STEAM work near home</a:t>
            </a:r>
            <a:endParaRPr lang="en-US" sz="1400" dirty="0"/>
          </a:p>
        </p:txBody>
      </p:sp>
      <p:sp>
        <p:nvSpPr>
          <p:cNvPr id="8" name="Shape 6"/>
          <p:cNvSpPr/>
          <p:nvPr/>
        </p:nvSpPr>
        <p:spPr>
          <a:xfrm>
            <a:off x="6200775" y="2045333"/>
            <a:ext cx="5175250" cy="2040890"/>
          </a:xfrm>
          <a:prstGeom prst="roundRect">
            <a:avLst>
              <a:gd name="adj" fmla="val 7312"/>
            </a:avLst>
          </a:prstGeom>
          <a:solidFill>
            <a:srgbClr val="121521"/>
          </a:solidFill>
          <a:ln w="6350">
            <a:solidFill>
              <a:srgbClr val="262A3B"/>
            </a:solidFill>
            <a:prstDash val="solid"/>
          </a:ln>
        </p:spPr>
      </p:sp>
      <p:sp>
        <p:nvSpPr>
          <p:cNvPr id="9" name="Text 7"/>
          <p:cNvSpPr/>
          <p:nvPr/>
        </p:nvSpPr>
        <p:spPr>
          <a:xfrm>
            <a:off x="6482080" y="2301242"/>
            <a:ext cx="475101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F3F8"/>
                </a:solidFill>
                <a:latin typeface="Space Grotesk" pitchFamily="34" charset="0"/>
                <a:ea typeface="Space Grotesk" pitchFamily="34" charset="-122"/>
                <a:cs typeface="Space Grotesk" pitchFamily="34" charset="-120"/>
              </a:rPr>
              <a:t>Next</a:t>
            </a:r>
            <a:endParaRPr lang="en-US" sz="2200" dirty="0"/>
          </a:p>
        </p:txBody>
      </p:sp>
      <p:sp>
        <p:nvSpPr>
          <p:cNvPr id="10" name="Text 8"/>
          <p:cNvSpPr/>
          <p:nvPr/>
        </p:nvSpPr>
        <p:spPr>
          <a:xfrm>
            <a:off x="6566662" y="2763527"/>
            <a:ext cx="4658817"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B8BDD0"/>
                </a:solidFill>
                <a:latin typeface="DM Sans" pitchFamily="34" charset="0"/>
                <a:ea typeface="DM Sans" pitchFamily="34" charset="-122"/>
                <a:cs typeface="DM Sans" pitchFamily="34" charset="-120"/>
              </a:rPr>
              <a:t>Pilot the questionnaire with real schools</a:t>
            </a:r>
            <a:endParaRPr lang="en-US" sz="1400" dirty="0"/>
          </a:p>
          <a:p>
            <a:pPr algn="l" marL="169418" indent="-169418">
              <a:lnSpc>
                <a:spcPts val="2100"/>
              </a:lnSpc>
              <a:buSzPct val="100000"/>
              <a:buChar char="•"/>
            </a:pPr>
            <a:r>
              <a:rPr lang="en-US" sz="1400" dirty="0">
                <a:solidFill>
                  <a:srgbClr val="B8BDD0"/>
                </a:solidFill>
                <a:latin typeface="DM Sans" pitchFamily="34" charset="0"/>
                <a:ea typeface="DM Sans" pitchFamily="34" charset="-122"/>
                <a:cs typeface="DM Sans" pitchFamily="34" charset="-120"/>
              </a:rPr>
              <a:t>SMS and WhatsApp deadline reminders</a:t>
            </a:r>
            <a:endParaRPr lang="en-US" sz="1400" dirty="0"/>
          </a:p>
          <a:p>
            <a:pPr algn="l" marL="169418" indent="-169418">
              <a:lnSpc>
                <a:spcPts val="2100"/>
              </a:lnSpc>
              <a:buSzPct val="100000"/>
              <a:buChar char="•"/>
            </a:pPr>
            <a:r>
              <a:rPr lang="en-US" sz="1400" dirty="0">
                <a:solidFill>
                  <a:srgbClr val="B8BDD0"/>
                </a:solidFill>
                <a:latin typeface="DM Sans" pitchFamily="34" charset="0"/>
                <a:ea typeface="DM Sans" pitchFamily="34" charset="-122"/>
                <a:cs typeface="DM Sans" pitchFamily="34" charset="-120"/>
              </a:rPr>
              <a:t>Atal Tinkering Lab partners for local problems</a:t>
            </a:r>
            <a:endParaRPr lang="en-US" sz="1400" dirty="0"/>
          </a:p>
          <a:p>
            <a:pPr algn="l" marL="169418" indent="-169418">
              <a:lnSpc>
                <a:spcPts val="2100"/>
              </a:lnSpc>
              <a:buSzPct val="100000"/>
              <a:buChar char="•"/>
            </a:pPr>
            <a:r>
              <a:rPr lang="en-US" sz="1400" dirty="0">
                <a:solidFill>
                  <a:srgbClr val="B8BDD0"/>
                </a:solidFill>
                <a:latin typeface="DM Sans" pitchFamily="34" charset="0"/>
                <a:ea typeface="DM Sans" pitchFamily="34" charset="-122"/>
                <a:cs typeface="DM Sans" pitchFamily="34" charset="-120"/>
              </a:rPr>
              <a:t>6–12 month outcome follow-up</a:t>
            </a:r>
            <a:endParaRPr lang="en-US" sz="1400" dirty="0"/>
          </a:p>
        </p:txBody>
      </p:sp>
      <p:sp>
        <p:nvSpPr>
          <p:cNvPr id="11" name="Text 9"/>
          <p:cNvSpPr/>
          <p:nvPr/>
        </p:nvSpPr>
        <p:spPr>
          <a:xfrm>
            <a:off x="812800" y="4391658"/>
            <a:ext cx="6398895"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F3F8"/>
                </a:solidFill>
                <a:latin typeface="Space Grotesk" pitchFamily="34" charset="0"/>
                <a:ea typeface="Space Grotesk" pitchFamily="34" charset="-122"/>
                <a:cs typeface="Space Grotesk" pitchFamily="34" charset="-120"/>
              </a:rPr>
              <a:t>See every path. </a:t>
            </a:r>
            <a:r>
              <a:rPr lang="en-US" sz="2200" b="1" dirty="0">
                <a:solidFill>
                  <a:srgbClr val="F2B01E"/>
                </a:solidFill>
                <a:latin typeface="Space Grotesk" pitchFamily="34" charset="0"/>
                <a:ea typeface="Space Grotesk" pitchFamily="34" charset="-122"/>
                <a:cs typeface="Space Grotesk" pitchFamily="34" charset="-120"/>
              </a:rPr>
              <a:t>Choose yours together.</a:t>
            </a:r>
            <a:endParaRPr lang="en-US" sz="2200" dirty="0"/>
          </a:p>
        </p:txBody>
      </p:sp>
      <p:sp>
        <p:nvSpPr>
          <p:cNvPr id="12" name="Text 10"/>
          <p:cNvSpPr/>
          <p:nvPr/>
        </p:nvSpPr>
        <p:spPr>
          <a:xfrm>
            <a:off x="7408625" y="4371975"/>
            <a:ext cx="3967401" cy="430530"/>
          </a:xfrm>
          <a:prstGeom prst="roundRect">
            <a:avLst>
              <a:gd name="adj" fmla="val 50000"/>
            </a:avLst>
          </a:prstGeom>
          <a:solidFill>
            <a:srgbClr val="121521"/>
          </a:solidFill>
          <a:ln w="6350">
            <a:solidFill>
              <a:srgbClr val="22D3EE"/>
            </a:solidFill>
            <a:prstDash val="solid"/>
          </a:ln>
        </p:spPr>
        <p:txBody>
          <a:bodyPr wrap="none" lIns="0" tIns="0" rIns="0" bIns="0" rtlCol="0" anchor="ctr">
            <a:normAutofit/>
          </a:bodyPr>
          <a:lstStyle/>
          <a:p>
            <a:pPr algn="ctr" indent="0" marL="0">
              <a:lnSpc>
                <a:spcPts val="1960"/>
              </a:lnSpc>
              <a:buNone/>
            </a:pPr>
            <a:r>
              <a:rPr lang="en-US" sz="1400" dirty="0">
                <a:solidFill>
                  <a:srgbClr val="22D3EE"/>
                </a:solidFill>
                <a:latin typeface="DM Sans" pitchFamily="34" charset="0"/>
                <a:ea typeface="DM Sans" pitchFamily="34" charset="-122"/>
                <a:cs typeface="DM Sans" pitchFamily="34" charset="-120"/>
              </a:rPr>
              <a:t>Try it: </a:t>
            </a:r>
            <a:r>
              <a:rPr lang="en-US" sz="1400" u="sng" dirty="0">
                <a:solidFill>
                  <a:srgbClr val="22D3EE"/>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dataquest-frontend-theta.vercel.app</a:t>
            </a:r>
            <a:endParaRPr lang="en-US" sz="1400" dirty="0"/>
          </a:p>
        </p:txBody>
      </p:sp>
      <p:sp>
        <p:nvSpPr>
          <p:cNvPr id="13" name="Text 1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6"/>
                </a:solidFill>
                <a:latin typeface="DM Sans" pitchFamily="34" charset="0"/>
                <a:ea typeface="DM Sans" pitchFamily="34" charset="-122"/>
                <a:cs typeface="DM Sans" pitchFamily="34" charset="-120"/>
              </a:rPr>
              <a:t>PRISM · DataQuest 3.0 · 16</a:t>
            </a:r>
            <a:endParaRPr lang="en-US" sz="1200" dirty="0"/>
          </a:p>
        </p:txBody>
      </p:sp>
    </p:spTree>
  </p:cSld>
  <p:clrMapOvr>
    <a:masterClrMapping/>
  </p:clrMapOvr>
</p:sld>
</file>

<file path=ppt/theme/theme1.xml><?xml version="1.0" encoding="utf-8"?>
<a:theme xmlns:a="http://schemas.openxmlformats.org/drawingml/2006/main" name="PRISM — DataQuest 3.0">
  <a:themeElements>
    <a:clrScheme name="PRISM — DataQuest 3.0">
      <a:dk1>
        <a:srgbClr val="07080D"/>
      </a:dk1>
      <a:lt1>
        <a:srgbClr val="F2F3F8"/>
      </a:lt1>
      <a:dk2>
        <a:srgbClr val="1F2025"/>
      </a:dk2>
      <a:lt2>
        <a:srgbClr val="B7B8BD"/>
      </a:lt2>
      <a:accent1>
        <a:srgbClr val="F2B01E"/>
      </a:accent1>
      <a:accent2>
        <a:srgbClr val="65C23A"/>
      </a:accent2>
      <a:accent3>
        <a:srgbClr val="7C6CFF"/>
      </a:accent3>
      <a:accent4>
        <a:srgbClr val="3B8BFF"/>
      </a:accent4>
      <a:accent5>
        <a:srgbClr val="14B8A6"/>
      </a:accent5>
      <a:accent6>
        <a:srgbClr val="F0544F"/>
      </a:accent6>
      <a:hlink>
        <a:srgbClr val="0563C1"/>
      </a:hlink>
      <a:folHlink>
        <a:srgbClr val="954F72"/>
      </a:folHlink>
    </a:clrScheme>
    <a:fontScheme name="PRISM — DataQuest 3.0">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 DataQuest 3.0</dc:title>
  <dc:subject/>
  <dc:creator/>
  <cp:lastModifiedBy/>
  <cp:revision>1</cp:revision>
  <dcterms:created xsi:type="dcterms:W3CDTF">2026-10-07T22:25:49Z</dcterms:created>
  <dcterms:modified xsi:type="dcterms:W3CDTF">2026-10-07T22:25:49Z</dcterms:modified>
</cp:coreProperties>
</file>